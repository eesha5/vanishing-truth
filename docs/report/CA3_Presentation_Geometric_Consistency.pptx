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1"/>
  </p:sldMasterIdLst>
  <p:notesMasterIdLst>
    <p:notesMasterId r:id="rId12"/>
  </p:notesMasterIdLst>
  <p:sldIdLst>
    <p:sldId id="256" r:id="rId2"/>
    <p:sldId id="267" r:id="rId16"/>
    <p:sldId id="268" r:id="rId15"/>
    <p:sldId id="269" r:id="rId14"/>
    <p:sldId id="270" r:id="rId13"/>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 roundtripDataSignature="AMtx7mj25NZd51IjdRbfkn9i7hLzxdMkM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52108C0-F26C-423F-91A2-4CEDFFE9ED8A}">
  <a:tblStyle styleId="{252108C0-F26C-423F-91A2-4CEDFFE9ED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slide" Target="slides/slide14.xml"/><Relationship Id="rId14" Type="http://schemas.openxmlformats.org/officeDocument/2006/relationships/slide" Target="slides/slide13.xml"/><Relationship Id="rId15" Type="http://schemas.openxmlformats.org/officeDocument/2006/relationships/slide" Target="slides/slide12.xml"/><Relationship Id="rId16" Type="http://schemas.openxmlformats.org/officeDocument/2006/relationships/slide" Target="slides/slide11.xml"/><Relationship Id="rId17" Type="http://customschemas.google.com/relationships/presentationmetadata" Target="metadata"/><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Open with the one-line idea: a real photo is made by one camera, an AI image is not, and that difference can be measured in degrees and pixels. Code and data: github.com/shmizi/perspective-can-t-lie</a:t>
            </a: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figure is the whole project in one picture. Lines are coloured by direction. In the real photo two directions give 649 and 713 px against a true focal length of 675 px. In the ChatGPT image the directions disagree, so no single camera could have taken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Sarkar et al. is the paper we extend: from detection to diagnosis. Full list of 26 references in the report.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Gap 4 turned out to change the results the most: see Results 2.</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report lists seven detailed objectives; they group into these three. 1: O1, O2, O4, O6. 2: O3, O5. 3: O7.</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column is one objective, read top to bottom. The pipeline built for objective 1 is reused unchanged by objectives 2 and 3, which is why the app and the report always agree.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Key design decision: the vanishing-point finder is never told to look for right angles. The camera test asks whether the directions are at right angles, so building that in would make the test meaningless.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diamond is the applicability rule: an image without lines in three directions gets no score instead of a guess. Calibration turns the vote into a probability, re-based so that real and AI were equally likely before looking.</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slide to defend. Bootstrap intervals, 2000 resamples; Wilson intervals for proportions; Mann-Whitney test. SD 1.5 to SDXL improves orientation (2.93 to 1.94 deg) but not camera coherence (p = 0.55).</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Gemini and ChatGPT images were made in September 2026 from the first prompt set, so they are compared with the SD and SDXL images from that same set.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algorithms: logistic regression, decision tree, SVM, random forest, naive Bayes, kNN; five-fold cross-validation. Other classifiers on the app's features score 0.77 to 0.78. Then switch to the app: python -m streamlit run app/streamlit_app.py, localhost:8501/?examples=all.</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Dates follow the project's commit history. Adjust week 1 if the literature review started earlier.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5"/>
        <p:cNvGrpSpPr/>
        <p:nvPr/>
      </p:nvGrpSpPr>
      <p:grpSpPr>
        <a:xfrm>
          <a:off x="0" y="0"/>
          <a:ext cx="0" cy="0"/>
          <a:chOff x="0" y="0"/>
          <a:chExt cx="0" cy="0"/>
        </a:xfrm>
      </p:grpSpPr>
      <p:sp>
        <p:nvSpPr>
          <p:cNvPr id="16" name="Google Shape;16;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 name="Google Shape;18;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1"/>
        <p:cNvGrpSpPr/>
        <p:nvPr/>
      </p:nvGrpSpPr>
      <p:grpSpPr>
        <a:xfrm>
          <a:off x="0" y="0"/>
          <a:ext cx="0" cy="0"/>
          <a:chOff x="0" y="0"/>
          <a:chExt cx="0" cy="0"/>
        </a:xfrm>
      </p:grpSpPr>
      <p:sp>
        <p:nvSpPr>
          <p:cNvPr id="22" name="Google Shape;22;p6"/>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6"/>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4" name="Google Shape;24;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1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11"/>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11"/>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2"/>
          <p:cNvSpPr>
            <a:spLocks noGrp="1"/>
          </p:cNvSpPr>
          <p:nvPr>
            <p:ph type="pic" idx="2"/>
          </p:nvPr>
        </p:nvSpPr>
        <p:spPr>
          <a:xfrm>
            <a:off x="5183188" y="987425"/>
            <a:ext cx="6172200" cy="4873625"/>
          </a:xfrm>
          <a:prstGeom prst="rect">
            <a:avLst/>
          </a:prstGeom>
          <a:noFill/>
          <a:ln>
            <a:noFill/>
          </a:ln>
        </p:spPr>
      </p:sp>
      <p:sp>
        <p:nvSpPr>
          <p:cNvPr id="64" name="Google Shape;64;p12"/>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3"/>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4"/>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4"/>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
          <p:cNvSpPr txBox="1"/>
          <p:nvPr/>
        </p:nvSpPr>
        <p:spPr>
          <a:xfrm>
            <a:off x="2154374" y="263713"/>
            <a:ext cx="8463570" cy="523180"/>
          </a:xfrm>
          <a:prstGeom prst="rect">
            <a:avLst/>
          </a:prstGeom>
          <a:noFill/>
          <a:ln>
            <a:noFill/>
          </a:ln>
        </p:spPr>
        <p:txBody>
          <a:bodyPr spcFirstLastPara="1" wrap="square" lIns="91425" tIns="45700" rIns="91425" bIns="45700" anchor="t" anchorCtr="0">
            <a:spAutoFit/>
          </a:bodyPr>
          <a:lstStyle/>
          <a:p>
            <a:pPr lvl="0" algn="ctr"/>
            <a:r>
              <a:rPr lang="en-IN" sz="2800" b="1" dirty="0">
                <a:latin typeface="Cambria" panose="02040503050406030204" pitchFamily="18" charset="0"/>
                <a:ea typeface="Cambria" panose="02040503050406030204" pitchFamily="18" charset="0"/>
              </a:rPr>
              <a:t>CA-3: Vision-Based Application Task </a:t>
            </a:r>
            <a:r>
              <a:rPr lang="en-US" sz="2800" b="1" i="0" u="none" strike="noStrike" cap="none" dirty="0">
                <a:solidFill>
                  <a:schemeClr val="dk1"/>
                </a:solidFill>
                <a:latin typeface="Cambria" panose="02040503050406030204" pitchFamily="18" charset="0"/>
                <a:ea typeface="Cambria" panose="02040503050406030204" pitchFamily="18" charset="0"/>
                <a:cs typeface="Cambria"/>
                <a:sym typeface="Cambria"/>
              </a:rPr>
              <a:t>Presentation</a:t>
            </a:r>
            <a:endParaRPr sz="2800" b="1" i="0" u="none" strike="noStrike" cap="none" dirty="0">
              <a:solidFill>
                <a:schemeClr val="dk1"/>
              </a:solidFill>
              <a:latin typeface="Cambria" panose="02040503050406030204" pitchFamily="18" charset="0"/>
              <a:ea typeface="Cambria" panose="02040503050406030204" pitchFamily="18" charset="0"/>
              <a:cs typeface="Cambria"/>
              <a:sym typeface="Cambria"/>
            </a:endParaRPr>
          </a:p>
        </p:txBody>
      </p:sp>
      <p:sp>
        <p:nvSpPr>
          <p:cNvPr id="86" name="Google Shape;86;p1"/>
          <p:cNvSpPr txBox="1"/>
          <p:nvPr/>
        </p:nvSpPr>
        <p:spPr>
          <a:xfrm>
            <a:off x="3352794" y="1202125"/>
            <a:ext cx="5140036" cy="1015622"/>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000" b="1" i="0" u="none" strike="noStrike" cap="none" dirty="0">
                <a:solidFill>
                  <a:schemeClr val="dk1"/>
                </a:solidFill>
                <a:latin typeface="Cambria"/>
                <a:ea typeface="Cambria"/>
                <a:cs typeface="Cambria"/>
                <a:sym typeface="Cambria"/>
              </a:rPr>
              <a:t>Bachelor of Technology</a:t>
            </a:r>
            <a:endParaRPr sz="1200" dirty="0"/>
          </a:p>
          <a:p>
            <a:pPr marL="0" marR="0" lvl="0" indent="0" algn="ctr" rtl="0">
              <a:spcBef>
                <a:spcPts val="0"/>
              </a:spcBef>
              <a:spcAft>
                <a:spcPts val="0"/>
              </a:spcAft>
              <a:buNone/>
            </a:pPr>
            <a:r>
              <a:rPr lang="en-US" sz="2000" b="0" i="0" u="none" strike="noStrike" cap="none" dirty="0">
                <a:solidFill>
                  <a:schemeClr val="dk1"/>
                </a:solidFill>
                <a:latin typeface="Cambria"/>
                <a:ea typeface="Cambria"/>
                <a:cs typeface="Cambria"/>
                <a:sym typeface="Cambria"/>
              </a:rPr>
              <a:t>in</a:t>
            </a:r>
            <a:endParaRPr sz="1200" dirty="0"/>
          </a:p>
          <a:p>
            <a:pPr marL="0" marR="0" lvl="0" indent="0" algn="ctr" rtl="0">
              <a:spcBef>
                <a:spcPts val="0"/>
              </a:spcBef>
              <a:spcAft>
                <a:spcPts val="0"/>
              </a:spcAft>
              <a:buNone/>
            </a:pPr>
            <a:r>
              <a:rPr lang="en-US" sz="2000" b="1" i="0" u="none" strike="noStrike" cap="none" dirty="0">
                <a:solidFill>
                  <a:schemeClr val="dk1"/>
                </a:solidFill>
                <a:latin typeface="Cambria"/>
                <a:ea typeface="Cambria"/>
                <a:cs typeface="Cambria"/>
                <a:sym typeface="Cambria"/>
              </a:rPr>
              <a:t>Robotics and Automation</a:t>
            </a:r>
            <a:endParaRPr sz="2000" b="1" i="0" u="none" strike="noStrike" cap="none" dirty="0">
              <a:solidFill>
                <a:schemeClr val="dk1"/>
              </a:solidFill>
              <a:latin typeface="Cambria"/>
              <a:ea typeface="Cambria"/>
              <a:cs typeface="Cambria"/>
              <a:sym typeface="Cambria"/>
            </a:endParaRPr>
          </a:p>
        </p:txBody>
      </p:sp>
      <p:sp>
        <p:nvSpPr>
          <p:cNvPr id="87" name="Google Shape;87;p1"/>
          <p:cNvSpPr txBox="1"/>
          <p:nvPr/>
        </p:nvSpPr>
        <p:spPr>
          <a:xfrm>
            <a:off x="822960" y="2240280"/>
            <a:ext cx="10543032" cy="1143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i="0" u="none" strike="noStrike" cap="none" dirty="0">
                <a:solidFill>
                  <a:schemeClr val="dk1"/>
                </a:solidFill>
                <a:latin typeface="Cambria"/>
                <a:ea typeface="Cambria"/>
                <a:cs typeface="Cambria"/>
                <a:sym typeface="Cambria"/>
              </a:rPr>
              <a:t>Geometric Consistency Analysis for Detection of Synthetic Imagery</a:t>
            </a:r>
            <a:endParaRPr sz="3800" b="1" i="0" u="none" strike="noStrike" cap="none" dirty="0">
              <a:solidFill>
                <a:schemeClr val="dk1"/>
              </a:solidFill>
              <a:latin typeface="Cambria"/>
              <a:ea typeface="Cambria"/>
              <a:cs typeface="Cambria"/>
              <a:sym typeface="Cambria"/>
            </a:endParaRPr>
          </a:p>
        </p:txBody>
      </p:sp>
      <p:pic>
        <p:nvPicPr>
          <p:cNvPr id="88" name="Google Shape;88;p1"/>
          <p:cNvPicPr preferRelativeResize="0"/>
          <p:nvPr/>
        </p:nvPicPr>
        <p:blipFill rotWithShape="1">
          <a:blip r:embed="rId3">
            <a:alphaModFix/>
          </a:blip>
          <a:srcRect/>
          <a:stretch/>
        </p:blipFill>
        <p:spPr>
          <a:xfrm>
            <a:off x="504021" y="191693"/>
            <a:ext cx="805815" cy="960120"/>
          </a:xfrm>
          <a:prstGeom prst="rect">
            <a:avLst/>
          </a:prstGeom>
          <a:noFill/>
          <a:ln>
            <a:noFill/>
          </a:ln>
        </p:spPr>
      </p:pic>
      <p:sp>
        <p:nvSpPr>
          <p:cNvPr id="89" name="Google Shape;89;p1"/>
          <p:cNvSpPr txBox="1"/>
          <p:nvPr/>
        </p:nvSpPr>
        <p:spPr>
          <a:xfrm>
            <a:off x="822960" y="3611880"/>
            <a:ext cx="5486400" cy="21031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i="0" u="none" strike="noStrike" cap="none" dirty="0">
                <a:solidFill>
                  <a:schemeClr val="dk1"/>
                </a:solidFill>
                <a:latin typeface="Cambria"/>
                <a:ea typeface="Cambria"/>
                <a:cs typeface="Cambria"/>
                <a:sym typeface="Cambria"/>
              </a:rPr>
              <a:t>Name of Students (PRN)</a:t>
            </a:r>
            <a:endParaRPr sz="2400" b="1" i="0" u="none" strike="noStrike" cap="none" dirty="0">
              <a:solidFill>
                <a:schemeClr val="dk1"/>
              </a:solidFill>
              <a:latin typeface="Cambria"/>
              <a:ea typeface="Cambria"/>
              <a:cs typeface="Cambria"/>
              <a:sym typeface="Cambria"/>
            </a:endParaRPr>
          </a:p>
          <a:p>
            <a:pPr algn="l"/>
            <a:r>
              <a:rPr sz="1700" b="0" i="0">
                <a:solidFill>
                  <a:srgbClr val="000000"/>
                </a:solidFill>
                <a:latin typeface="Cambria"/>
              </a:rPr>
              <a:t>Aarushi Rudra (24070127001)</a:t>
            </a:r>
          </a:p>
          <a:p>
            <a:pPr algn="l"/>
            <a:r>
              <a:rPr sz="1700" b="0" i="0">
                <a:solidFill>
                  <a:srgbClr val="000000"/>
                </a:solidFill>
                <a:latin typeface="Cambria"/>
              </a:rPr>
              <a:t>Ankur Saxena (24070127019)</a:t>
            </a:r>
          </a:p>
          <a:p>
            <a:pPr algn="l"/>
            <a:r>
              <a:rPr sz="1700" b="0" i="0">
                <a:solidFill>
                  <a:srgbClr val="000000"/>
                </a:solidFill>
                <a:latin typeface="Cambria"/>
              </a:rPr>
              <a:t>Arnav Vadhera (240701270125)</a:t>
            </a:r>
          </a:p>
          <a:p>
            <a:pPr algn="l"/>
            <a:r>
              <a:rPr sz="1700" b="0" i="0">
                <a:solidFill>
                  <a:srgbClr val="000000"/>
                </a:solidFill>
                <a:latin typeface="Cambria"/>
              </a:rPr>
              <a:t>Eesha Masand (24070127043)</a:t>
            </a:r>
          </a:p>
        </p:txBody>
      </p:sp>
      <p:sp>
        <p:nvSpPr>
          <p:cNvPr id="91" name="Google Shape;91;p1"/>
          <p:cNvSpPr txBox="1"/>
          <p:nvPr/>
        </p:nvSpPr>
        <p:spPr>
          <a:xfrm>
            <a:off x="2154374" y="6031910"/>
            <a:ext cx="7536873" cy="83099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i="0" u="none" strike="noStrike" cap="none" dirty="0">
                <a:solidFill>
                  <a:schemeClr val="dk1"/>
                </a:solidFill>
                <a:latin typeface="Cambria"/>
                <a:ea typeface="Cambria"/>
                <a:cs typeface="Cambria"/>
                <a:sym typeface="Cambria"/>
              </a:rPr>
              <a:t>Symbiosis Institute of Technology, Pune </a:t>
            </a:r>
            <a:endParaRPr dirty="0"/>
          </a:p>
          <a:p>
            <a:pPr marL="0" marR="0" lvl="0" indent="0" algn="ctr" rtl="0">
              <a:spcBef>
                <a:spcPts val="0"/>
              </a:spcBef>
              <a:spcAft>
                <a:spcPts val="0"/>
              </a:spcAft>
              <a:buNone/>
            </a:pPr>
            <a:r>
              <a:rPr lang="en-US" sz="2400" b="1" i="0" u="none" strike="noStrike" cap="none" dirty="0">
                <a:solidFill>
                  <a:schemeClr val="dk1"/>
                </a:solidFill>
                <a:latin typeface="Cambria"/>
                <a:ea typeface="Cambria"/>
                <a:cs typeface="Cambria"/>
                <a:sym typeface="Cambria"/>
              </a:rPr>
              <a:t>2026-27</a:t>
            </a:r>
            <a:endParaRPr sz="2400" b="1" i="0" u="none" strike="noStrike" cap="none" dirty="0">
              <a:solidFill>
                <a:schemeClr val="dk1"/>
              </a:solidFill>
              <a:latin typeface="Cambria"/>
              <a:ea typeface="Cambria"/>
              <a:cs typeface="Cambria"/>
              <a:sym typeface="Cambria"/>
            </a:endParaRPr>
          </a:p>
        </p:txBody>
      </p:sp>
      <p:sp>
        <p:nvSpPr>
          <p:cNvPr id="9" name="Google Shape;89;p1"/>
          <p:cNvSpPr txBox="1"/>
          <p:nvPr/>
        </p:nvSpPr>
        <p:spPr>
          <a:xfrm>
            <a:off x="6766560" y="3611880"/>
            <a:ext cx="4754880" cy="146304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Cambria"/>
                <a:ea typeface="Cambria"/>
                <a:cs typeface="Cambria"/>
                <a:sym typeface="Cambria"/>
              </a:rPr>
              <a:t>Name and Designation of Guide</a:t>
            </a:r>
            <a:endParaRPr sz="2400" b="1" i="0" u="none" strike="noStrike" cap="none" dirty="0">
              <a:solidFill>
                <a:schemeClr val="dk1"/>
              </a:solidFill>
              <a:latin typeface="Cambria"/>
              <a:ea typeface="Cambria"/>
              <a:cs typeface="Cambria"/>
              <a:sym typeface="Cambria"/>
            </a:endParaRPr>
          </a:p>
          <a:p>
            <a:pPr algn="l"/>
            <a:r>
              <a:rPr sz="1700" b="0" i="0">
                <a:solidFill>
                  <a:srgbClr val="B01E23"/>
                </a:solidFill>
                <a:latin typeface="Cambria"/>
              </a:rPr>
              <a:t>&lt;Name of guide&gt;</a:t>
            </a:r>
          </a:p>
          <a:p>
            <a:pPr algn="l"/>
            <a:r>
              <a:rPr sz="1700" b="0" i="0">
                <a:solidFill>
                  <a:srgbClr val="B01E23"/>
                </a:solidFill>
                <a:latin typeface="Cambria"/>
              </a:rPr>
              <a:t>&lt;Designation&gt;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Content of Presentation</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sp>
        <p:nvSpPr>
          <p:cNvPr id="99" name="TextBox 98"/>
          <p:cNvSpPr txBox="1"/>
          <p:nvPr/>
        </p:nvSpPr>
        <p:spPr>
          <a:xfrm>
            <a:off x="914400" y="1280160"/>
            <a:ext cx="10332720" cy="4937760"/>
          </a:xfrm>
          <a:prstGeom prst="rect">
            <a:avLst/>
          </a:prstGeom>
          <a:noFill/>
        </p:spPr>
        <p:txBody>
          <a:bodyPr wrap="square" lIns="0" rIns="0" tIns="0" bIns="0">
            <a:spAutoFit/>
          </a:bodyPr>
          <a:lstStyle/>
          <a:p>
            <a:pPr>
              <a:spcAft>
                <a:spcPts val="700"/>
              </a:spcAft>
            </a:pPr>
            <a:r>
              <a:rPr sz="2000" b="1" i="0">
                <a:solidFill>
                  <a:srgbClr val="000000"/>
                </a:solidFill>
                <a:latin typeface="Cambria"/>
              </a:rPr>
              <a:t>•  Introduction</a:t>
            </a:r>
          </a:p>
          <a:p>
            <a:pPr>
              <a:spcAft>
                <a:spcPts val="700"/>
              </a:spcAft>
            </a:pPr>
            <a:r>
              <a:rPr sz="2000" b="1" i="0">
                <a:solidFill>
                  <a:srgbClr val="000000"/>
                </a:solidFill>
                <a:latin typeface="Cambria"/>
              </a:rPr>
              <a:t>•  Review of Literature</a:t>
            </a:r>
          </a:p>
          <a:p>
            <a:pPr>
              <a:spcAft>
                <a:spcPts val="700"/>
              </a:spcAft>
            </a:pPr>
            <a:r>
              <a:rPr sz="2000" b="1" i="0">
                <a:solidFill>
                  <a:srgbClr val="000000"/>
                </a:solidFill>
                <a:latin typeface="Cambria"/>
              </a:rPr>
              <a:t>•  Research Gap</a:t>
            </a:r>
          </a:p>
          <a:p>
            <a:pPr>
              <a:spcAft>
                <a:spcPts val="700"/>
              </a:spcAft>
            </a:pPr>
            <a:r>
              <a:rPr sz="2000" b="1" i="0">
                <a:solidFill>
                  <a:srgbClr val="000000"/>
                </a:solidFill>
                <a:latin typeface="Cambria"/>
              </a:rPr>
              <a:t>•  Statement of the Problem</a:t>
            </a:r>
          </a:p>
          <a:p>
            <a:pPr>
              <a:spcAft>
                <a:spcPts val="700"/>
              </a:spcAft>
            </a:pPr>
            <a:r>
              <a:rPr sz="2000" b="1" i="0">
                <a:solidFill>
                  <a:srgbClr val="000000"/>
                </a:solidFill>
                <a:latin typeface="Cambria"/>
              </a:rPr>
              <a:t>•  Objectives of the Study</a:t>
            </a:r>
          </a:p>
          <a:p>
            <a:pPr>
              <a:spcAft>
                <a:spcPts val="700"/>
              </a:spcAft>
            </a:pPr>
            <a:r>
              <a:rPr sz="2000" b="1" i="0">
                <a:solidFill>
                  <a:srgbClr val="000000"/>
                </a:solidFill>
                <a:latin typeface="Cambria"/>
              </a:rPr>
              <a:t>•  Methodology, Tools and Techniques</a:t>
            </a:r>
          </a:p>
          <a:p>
            <a:pPr>
              <a:spcAft>
                <a:spcPts val="700"/>
              </a:spcAft>
            </a:pPr>
            <a:r>
              <a:rPr sz="2000" b="1" i="0">
                <a:solidFill>
                  <a:srgbClr val="000000"/>
                </a:solidFill>
                <a:latin typeface="Cambria"/>
              </a:rPr>
              <a:t>•  Results and Discussion</a:t>
            </a:r>
          </a:p>
          <a:p>
            <a:pPr>
              <a:spcAft>
                <a:spcPts val="700"/>
              </a:spcAft>
            </a:pPr>
            <a:r>
              <a:rPr sz="2000" b="1" i="0">
                <a:solidFill>
                  <a:srgbClr val="000000"/>
                </a:solidFill>
                <a:latin typeface="Cambria"/>
              </a:rPr>
              <a:t>•  Conclusion and Future Scope</a:t>
            </a:r>
          </a:p>
          <a:p>
            <a:pPr>
              <a:spcAft>
                <a:spcPts val="700"/>
              </a:spcAft>
            </a:pPr>
            <a:r>
              <a:rPr sz="2000" b="1" i="0">
                <a:solidFill>
                  <a:srgbClr val="000000"/>
                </a:solidFill>
                <a:latin typeface="Cambria"/>
              </a:rPr>
              <a:t>•  Schedule of the Work</a:t>
            </a:r>
          </a:p>
          <a:p>
            <a:pPr>
              <a:spcAft>
                <a:spcPts val="700"/>
              </a:spcAft>
            </a:pPr>
            <a:r>
              <a:rPr sz="2000" b="1" i="0">
                <a:solidFill>
                  <a:srgbClr val="000000"/>
                </a:solidFill>
                <a:latin typeface="Cambria"/>
              </a:rPr>
              <a:t>•  References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Introduction: Background and Rationale</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sp>
        <p:nvSpPr>
          <p:cNvPr id="99" name="TextBox 98"/>
          <p:cNvSpPr txBox="1"/>
          <p:nvPr/>
        </p:nvSpPr>
        <p:spPr>
          <a:xfrm>
            <a:off x="841248" y="1188720"/>
            <a:ext cx="10515600" cy="2194560"/>
          </a:xfrm>
          <a:prstGeom prst="rect">
            <a:avLst/>
          </a:prstGeom>
          <a:noFill/>
        </p:spPr>
        <p:txBody>
          <a:bodyPr wrap="square" lIns="0" rIns="0" tIns="0" bIns="0">
            <a:spAutoFit/>
          </a:bodyPr>
          <a:lstStyle/>
          <a:p>
            <a:pPr>
              <a:spcAft>
                <a:spcPts val="700"/>
              </a:spcAft>
            </a:pPr>
            <a:r>
              <a:rPr sz="1600" b="0" i="0">
                <a:solidFill>
                  <a:srgbClr val="000000"/>
                </a:solidFill>
                <a:latin typeface="Cambria"/>
              </a:rPr>
              <a:t>•  A real photo is made by ONE camera: light passes through one optical centre onto a flat sensor (the pinhole camera model).</a:t>
            </a:r>
          </a:p>
          <a:p>
            <a:pPr>
              <a:spcAft>
                <a:spcPts val="700"/>
              </a:spcAft>
            </a:pPr>
            <a:r>
              <a:rPr sz="1600" b="0" i="0">
                <a:solidFill>
                  <a:srgbClr val="000000"/>
                </a:solidFill>
                <a:latin typeface="Cambria"/>
              </a:rPr>
              <a:t>•  So lines that are parallel in the world meet at one vanishing point, and every direction in the image implies the same focal length and lens centre.</a:t>
            </a:r>
          </a:p>
          <a:p>
            <a:pPr>
              <a:spcAft>
                <a:spcPts val="700"/>
              </a:spcAft>
            </a:pPr>
            <a:r>
              <a:rPr sz="1600" b="0" i="0">
                <a:solidFill>
                  <a:srgbClr val="000000"/>
                </a:solidFill>
                <a:latin typeface="Cambria"/>
              </a:rPr>
              <a:t>•  AI image generators have no camera inside them. They learn what photos look like, not how a camera forms them. Do their images still obey the camera rules?</a:t>
            </a:r>
          </a:p>
        </p:txBody>
      </p:sp>
      <p:pic>
        <p:nvPicPr>
          <p:cNvPr id="100" name="Picture 99" descr="explain_example.png"/>
          <p:cNvPicPr>
            <a:picLocks noChangeAspect="1"/>
          </p:cNvPicPr>
          <p:nvPr/>
        </p:nvPicPr>
        <p:blipFill>
          <a:blip r:embed="rId2"/>
          <a:stretch>
            <a:fillRect/>
          </a:stretch>
        </p:blipFill>
        <p:spPr>
          <a:xfrm>
            <a:off x="2350008" y="3291840"/>
            <a:ext cx="7498079" cy="31355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Introduction: Significance and Current Trends</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sp>
        <p:nvSpPr>
          <p:cNvPr id="99" name="Rectangle 98"/>
          <p:cNvSpPr/>
          <p:nvPr/>
        </p:nvSpPr>
        <p:spPr>
          <a:xfrm>
            <a:off x="841248" y="1234440"/>
            <a:ext cx="5120640" cy="4572000"/>
          </a:xfrm>
          <a:prstGeom prst="rect">
            <a:avLst/>
          </a:prstGeom>
          <a:solidFill>
            <a:srgbClr val="FFFFFF"/>
          </a:solidFill>
          <a:ln w="1587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051560" y="1371600"/>
            <a:ext cx="4663440" cy="365760"/>
          </a:xfrm>
          <a:prstGeom prst="rect">
            <a:avLst/>
          </a:prstGeom>
          <a:noFill/>
        </p:spPr>
        <p:txBody>
          <a:bodyPr wrap="square" lIns="0" rIns="0" tIns="0" bIns="0" anchor="t">
            <a:spAutoFit/>
          </a:bodyPr>
          <a:lstStyle/>
          <a:p>
            <a:pPr algn="l">
              <a:spcAft>
                <a:spcPts val="600"/>
              </a:spcAft>
            </a:pPr>
            <a:r>
              <a:rPr sz="1500" b="1" i="0">
                <a:solidFill>
                  <a:srgbClr val="B01E23"/>
                </a:solidFill>
                <a:latin typeface="Cambria"/>
              </a:rPr>
              <a:t>SIGNIFICANCE OF THE STUDY</a:t>
            </a:r>
          </a:p>
        </p:txBody>
      </p:sp>
      <p:sp>
        <p:nvSpPr>
          <p:cNvPr id="101" name="TextBox 100"/>
          <p:cNvSpPr txBox="1"/>
          <p:nvPr/>
        </p:nvSpPr>
        <p:spPr>
          <a:xfrm>
            <a:off x="1051560" y="1828800"/>
            <a:ext cx="4709160" cy="3931920"/>
          </a:xfrm>
          <a:prstGeom prst="rect">
            <a:avLst/>
          </a:prstGeom>
          <a:noFill/>
        </p:spPr>
        <p:txBody>
          <a:bodyPr wrap="square" lIns="0" rIns="0" tIns="0" bIns="0">
            <a:spAutoFit/>
          </a:bodyPr>
          <a:lstStyle/>
          <a:p>
            <a:pPr>
              <a:spcAft>
                <a:spcPts val="1200"/>
              </a:spcAft>
            </a:pPr>
            <a:r>
              <a:rPr sz="1600" b="1" i="0">
                <a:solidFill>
                  <a:srgbClr val="000000"/>
                </a:solidFill>
                <a:latin typeface="Cambria"/>
              </a:rPr>
              <a:t>•  Forensics. </a:t>
            </a:r>
            <a:r>
              <a:rPr sz="1600" b="0" i="0">
                <a:solidFill>
                  <a:srgbClr val="000000"/>
                </a:solidFill>
                <a:latin typeface="Cambria"/>
              </a:rPr>
              <a:t>Pixel and frequency detectors weaken as generators improve. A broken geometry rule stays broken however good the texture is.</a:t>
            </a:r>
          </a:p>
          <a:p>
            <a:pPr>
              <a:spcAft>
                <a:spcPts val="1200"/>
              </a:spcAft>
            </a:pPr>
            <a:r>
              <a:rPr sz="1600" b="1" i="0">
                <a:solidFill>
                  <a:srgbClr val="000000"/>
                </a:solidFill>
                <a:latin typeface="Cambria"/>
              </a:rPr>
              <a:t>•  Interpretable. </a:t>
            </a:r>
            <a:r>
              <a:rPr sz="1600" b="0" i="0">
                <a:solidFill>
                  <a:srgbClr val="000000"/>
                </a:solidFill>
                <a:latin typeface="Cambria"/>
              </a:rPr>
              <a:t>Says which rule failed and by how much, in degrees and ratios, not just “fake”.</a:t>
            </a:r>
          </a:p>
          <a:p>
            <a:pPr>
              <a:spcAft>
                <a:spcPts val="1200"/>
              </a:spcAft>
            </a:pPr>
            <a:r>
              <a:rPr sz="1600" b="1" i="0">
                <a:solidFill>
                  <a:srgbClr val="000000"/>
                </a:solidFill>
                <a:latin typeface="Cambria"/>
              </a:rPr>
              <a:t>•  Robotics. </a:t>
            </a:r>
            <a:r>
              <a:rPr sz="1600" b="0" i="0">
                <a:solidFill>
                  <a:srgbClr val="000000"/>
                </a:solidFill>
                <a:latin typeface="Cambria"/>
              </a:rPr>
              <a:t>Navigation, visual servoing and structure from motion assume projective geometry. Synthetic training images must obey it.</a:t>
            </a:r>
          </a:p>
        </p:txBody>
      </p:sp>
      <p:sp>
        <p:nvSpPr>
          <p:cNvPr id="102" name="Rectangle 101"/>
          <p:cNvSpPr/>
          <p:nvPr/>
        </p:nvSpPr>
        <p:spPr>
          <a:xfrm>
            <a:off x="6263640" y="1234440"/>
            <a:ext cx="5120640" cy="4572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6492240" y="1371600"/>
            <a:ext cx="4663440" cy="365760"/>
          </a:xfrm>
          <a:prstGeom prst="rect">
            <a:avLst/>
          </a:prstGeom>
          <a:noFill/>
        </p:spPr>
        <p:txBody>
          <a:bodyPr wrap="square" lIns="0" rIns="0" tIns="0" bIns="0" anchor="t">
            <a:spAutoFit/>
          </a:bodyPr>
          <a:lstStyle/>
          <a:p>
            <a:pPr algn="l">
              <a:spcAft>
                <a:spcPts val="600"/>
              </a:spcAft>
            </a:pPr>
            <a:r>
              <a:rPr sz="1500" b="1" i="0">
                <a:solidFill>
                  <a:srgbClr val="B01E23"/>
                </a:solidFill>
                <a:latin typeface="Cambria"/>
              </a:rPr>
              <a:t>CURRENT TRENDS</a:t>
            </a:r>
          </a:p>
        </p:txBody>
      </p:sp>
      <p:sp>
        <p:nvSpPr>
          <p:cNvPr id="104" name="TextBox 103"/>
          <p:cNvSpPr txBox="1"/>
          <p:nvPr/>
        </p:nvSpPr>
        <p:spPr>
          <a:xfrm>
            <a:off x="6492240" y="1828800"/>
            <a:ext cx="4663440" cy="4206240"/>
          </a:xfrm>
          <a:prstGeom prst="rect">
            <a:avLst/>
          </a:prstGeom>
          <a:noFill/>
        </p:spPr>
        <p:txBody>
          <a:bodyPr wrap="square" lIns="0" rIns="0" tIns="0" bIns="0">
            <a:spAutoFit/>
          </a:bodyPr>
          <a:lstStyle/>
          <a:p>
            <a:pPr>
              <a:spcAft>
                <a:spcPts val="1000"/>
              </a:spcAft>
            </a:pPr>
            <a:r>
              <a:rPr sz="1550" b="0" i="0">
                <a:solidFill>
                  <a:srgbClr val="000000"/>
                </a:solidFill>
                <a:latin typeface="Cambria"/>
              </a:rPr>
              <a:t>•  Sarkar et al. (CVPR 2024): classifiers on geometric features alone detect generated images (AUC 0.88 to 0.94).</a:t>
            </a:r>
          </a:p>
          <a:p>
            <a:pPr>
              <a:spcAft>
                <a:spcPts val="1000"/>
              </a:spcAft>
            </a:pPr>
            <a:r>
              <a:rPr sz="1550" b="0" i="0">
                <a:solidFill>
                  <a:srgbClr val="000000"/>
                </a:solidFill>
                <a:latin typeface="Cambria"/>
              </a:rPr>
              <a:t>•  Probing studies: generators store depth and surface normals locally, yet the global camera can still be wrong.</a:t>
            </a:r>
          </a:p>
          <a:p>
            <a:pPr>
              <a:spcAft>
                <a:spcPts val="1000"/>
              </a:spcAft>
            </a:pPr>
            <a:r>
              <a:rPr sz="1550" b="0" i="0">
                <a:solidFill>
                  <a:srgbClr val="000000"/>
                </a:solidFill>
                <a:latin typeface="Cambria"/>
              </a:rPr>
              <a:t>•  New generation methods force vanishing points to agree, so perspective errors are a known weakness.</a:t>
            </a:r>
          </a:p>
          <a:p>
            <a:pPr>
              <a:spcAft>
                <a:spcPts val="1000"/>
              </a:spcAft>
            </a:pPr>
            <a:r>
              <a:rPr sz="1550" b="0" i="0">
                <a:solidFill>
                  <a:srgbClr val="000000"/>
                </a:solidFill>
                <a:latin typeface="Cambria"/>
              </a:rPr>
              <a:t>•  2026: claims that the newest models have fixed geometry. Nobody had tested this. We test it on Gemini and ChatGPT.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Review of Literature (1/2)</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graphicFrame>
        <p:nvGraphicFramePr>
          <p:cNvPr id="99" name="Table 98"/>
          <p:cNvGraphicFramePr>
            <a:graphicFrameLocks noGrp="1"/>
          </p:cNvGraphicFramePr>
          <p:nvPr/>
        </p:nvGraphicFramePr>
        <p:xfrm>
          <a:off x="566928" y="1188720"/>
          <a:ext cx="11055096" cy="4572000"/>
        </p:xfrm>
        <a:graphic>
          <a:graphicData uri="http://schemas.openxmlformats.org/drawingml/2006/table">
            <a:tbl>
              <a:tblPr firstRow="1" bandRow="1">
                <a:tableStyleId>{252108C0-F26C-423F-91A2-4CEDFFE9ED8A}</a:tableStyleId>
              </a:tblPr>
              <a:tblGrid>
                <a:gridCol w="566928"/>
                <a:gridCol w="1691640"/>
                <a:gridCol w="2697480"/>
                <a:gridCol w="1463040"/>
                <a:gridCol w="2240280"/>
                <a:gridCol w="2395728"/>
              </a:tblGrid>
              <a:tr h="914400">
                <a:tc>
                  <a:txBody>
                    <a:bodyPr/>
                    <a:lstStyle/>
                    <a:p>
                      <a:pPr algn="ctr"/>
                      <a:r>
                        <a:rPr sz="1200" b="1" i="0">
                          <a:solidFill>
                            <a:srgbClr val="000000"/>
                          </a:solidFill>
                          <a:latin typeface="Cambria"/>
                        </a:rPr>
                        <a:t>Sr. No</a:t>
                      </a:r>
                    </a:p>
                  </a:txBody>
                  <a:tcPr anchor="ctr" marL="54864" marR="54864"/>
                </a:tc>
                <a:tc>
                  <a:txBody>
                    <a:bodyPr/>
                    <a:lstStyle/>
                    <a:p>
                      <a:pPr algn="ctr"/>
                      <a:r>
                        <a:rPr sz="1200" b="1" i="0">
                          <a:solidFill>
                            <a:srgbClr val="000000"/>
                          </a:solidFill>
                          <a:latin typeface="Cambria"/>
                        </a:rPr>
                        <a:t>Author Name</a:t>
                      </a:r>
                    </a:p>
                  </a:txBody>
                  <a:tcPr anchor="ctr" marL="54864" marR="54864"/>
                </a:tc>
                <a:tc>
                  <a:txBody>
                    <a:bodyPr/>
                    <a:lstStyle/>
                    <a:p>
                      <a:pPr algn="ctr"/>
                      <a:r>
                        <a:rPr sz="1200" b="1" i="0">
                          <a:solidFill>
                            <a:srgbClr val="000000"/>
                          </a:solidFill>
                          <a:latin typeface="Cambria"/>
                        </a:rPr>
                        <a:t>Paper Title</a:t>
                      </a:r>
                    </a:p>
                  </a:txBody>
                  <a:tcPr anchor="ctr" marL="54864" marR="54864"/>
                </a:tc>
                <a:tc>
                  <a:txBody>
                    <a:bodyPr/>
                    <a:lstStyle/>
                    <a:p>
                      <a:pPr algn="ctr"/>
                      <a:r>
                        <a:rPr sz="1200" b="1" i="0">
                          <a:solidFill>
                            <a:srgbClr val="000000"/>
                          </a:solidFill>
                          <a:latin typeface="Cambria"/>
                        </a:rPr>
                        <a:t>Journal Name</a:t>
                      </a:r>
                    </a:p>
                  </a:txBody>
                  <a:tcPr anchor="ctr" marL="54864" marR="54864"/>
                </a:tc>
                <a:tc>
                  <a:txBody>
                    <a:bodyPr/>
                    <a:lstStyle/>
                    <a:p>
                      <a:pPr algn="ctr"/>
                      <a:r>
                        <a:rPr sz="1200" b="1" i="0">
                          <a:solidFill>
                            <a:srgbClr val="000000"/>
                          </a:solidFill>
                          <a:latin typeface="Cambria"/>
                        </a:rPr>
                        <a:t>Methodology</a:t>
                      </a:r>
                    </a:p>
                  </a:txBody>
                  <a:tcPr anchor="ctr" marL="54864" marR="54864"/>
                </a:tc>
                <a:tc>
                  <a:txBody>
                    <a:bodyPr/>
                    <a:lstStyle/>
                    <a:p>
                      <a:pPr algn="ctr"/>
                      <a:r>
                        <a:rPr sz="1200" b="1" i="0">
                          <a:solidFill>
                            <a:srgbClr val="000000"/>
                          </a:solidFill>
                          <a:latin typeface="Cambria"/>
                        </a:rPr>
                        <a:t>Remarks (Research Gaps)</a:t>
                      </a:r>
                    </a:p>
                  </a:txBody>
                  <a:tcPr anchor="ctr" marL="54864" marR="54864"/>
                </a:tc>
              </a:tr>
              <a:tr h="914400">
                <a:tc>
                  <a:txBody>
                    <a:bodyPr/>
                    <a:lstStyle/>
                    <a:p>
                      <a:pPr algn="l"/>
                      <a:r>
                        <a:rPr sz="1200" b="0" i="0">
                          <a:solidFill>
                            <a:srgbClr val="000000"/>
                          </a:solidFill>
                          <a:latin typeface="Cambria"/>
                        </a:rPr>
                        <a:t>1</a:t>
                      </a:r>
                    </a:p>
                  </a:txBody>
                  <a:tcPr anchor="ctr" marL="54864" marR="54864"/>
                </a:tc>
                <a:tc>
                  <a:txBody>
                    <a:bodyPr/>
                    <a:lstStyle/>
                    <a:p>
                      <a:pPr algn="l"/>
                      <a:r>
                        <a:rPr sz="1200" b="0" i="0">
                          <a:solidFill>
                            <a:srgbClr val="000000"/>
                          </a:solidFill>
                          <a:latin typeface="Cambria"/>
                        </a:rPr>
                        <a:t>A. Sarkar, H. Mai, A. Mahapatra, S. Lazebnik, D. A. Forsyth, A. Bhattad</a:t>
                      </a:r>
                    </a:p>
                  </a:txBody>
                  <a:tcPr anchor="ctr" marL="54864" marR="54864"/>
                </a:tc>
                <a:tc>
                  <a:txBody>
                    <a:bodyPr/>
                    <a:lstStyle/>
                    <a:p>
                      <a:pPr algn="l"/>
                      <a:r>
                        <a:rPr sz="1200" b="0" i="0">
                          <a:solidFill>
                            <a:srgbClr val="000000"/>
                          </a:solidFill>
                          <a:latin typeface="Cambria"/>
                        </a:rPr>
                        <a:t>Shadows Don't Lie and Lines Can't Bend! Generative Models don't know Projective Geometry...for now</a:t>
                      </a:r>
                    </a:p>
                  </a:txBody>
                  <a:tcPr anchor="ctr" marL="54864" marR="54864"/>
                </a:tc>
                <a:tc>
                  <a:txBody>
                    <a:bodyPr/>
                    <a:lstStyle/>
                    <a:p>
                      <a:pPr algn="l"/>
                      <a:r>
                        <a:rPr sz="1200" b="0" i="0">
                          <a:solidFill>
                            <a:srgbClr val="000000"/>
                          </a:solidFill>
                          <a:latin typeface="Cambria"/>
                        </a:rPr>
                        <a:t>CVPR, 2024</a:t>
                      </a:r>
                    </a:p>
                  </a:txBody>
                  <a:tcPr anchor="ctr" marL="54864" marR="54864"/>
                </a:tc>
                <a:tc>
                  <a:txBody>
                    <a:bodyPr/>
                    <a:lstStyle/>
                    <a:p>
                      <a:pPr algn="l"/>
                      <a:r>
                        <a:rPr sz="1200" b="0" i="0">
                          <a:solidFill>
                            <a:srgbClr val="000000"/>
                          </a:solidFill>
                          <a:latin typeface="Cambria"/>
                        </a:rPr>
                        <a:t>Classifiers on line segments, perspective fields and object-shadow pairs</a:t>
                      </a:r>
                    </a:p>
                  </a:txBody>
                  <a:tcPr anchor="ctr" marL="54864" marR="54864"/>
                </a:tc>
                <a:tc>
                  <a:txBody>
                    <a:bodyPr/>
                    <a:lstStyle/>
                    <a:p>
                      <a:pPr algn="l"/>
                      <a:r>
                        <a:rPr sz="1200" b="0" i="0">
                          <a:solidFill>
                            <a:srgbClr val="000000"/>
                          </a:solidFill>
                          <a:latin typeface="Cambria"/>
                        </a:rPr>
                        <a:t>Detects that geometry is wrong (AUC 0.88 to 0.94) but not which rule fails or by how much</a:t>
                      </a:r>
                    </a:p>
                  </a:txBody>
                  <a:tcPr anchor="ctr" marL="54864" marR="54864"/>
                </a:tc>
              </a:tr>
              <a:tr h="914400">
                <a:tc>
                  <a:txBody>
                    <a:bodyPr/>
                    <a:lstStyle/>
                    <a:p>
                      <a:pPr algn="l"/>
                      <a:r>
                        <a:rPr sz="1200" b="0" i="0">
                          <a:solidFill>
                            <a:srgbClr val="000000"/>
                          </a:solidFill>
                          <a:latin typeface="Cambria"/>
                        </a:rPr>
                        <a:t>2</a:t>
                      </a:r>
                    </a:p>
                  </a:txBody>
                  <a:tcPr anchor="ctr" marL="54864" marR="54864"/>
                </a:tc>
                <a:tc>
                  <a:txBody>
                    <a:bodyPr/>
                    <a:lstStyle/>
                    <a:p>
                      <a:pPr algn="l"/>
                      <a:r>
                        <a:rPr sz="1200" b="0" i="0">
                          <a:solidFill>
                            <a:srgbClr val="000000"/>
                          </a:solidFill>
                          <a:latin typeface="Cambria"/>
                        </a:rPr>
                        <a:t>E. Kee, J. F. O'Brien, H. Farid</a:t>
                      </a:r>
                    </a:p>
                  </a:txBody>
                  <a:tcPr anchor="ctr" marL="54864" marR="54864"/>
                </a:tc>
                <a:tc>
                  <a:txBody>
                    <a:bodyPr/>
                    <a:lstStyle/>
                    <a:p>
                      <a:pPr algn="l"/>
                      <a:r>
                        <a:rPr sz="1200" b="0" i="0">
                          <a:solidFill>
                            <a:srgbClr val="000000"/>
                          </a:solidFill>
                          <a:latin typeface="Cambria"/>
                        </a:rPr>
                        <a:t>Exposing photo manipulation with inconsistent shadows</a:t>
                      </a:r>
                    </a:p>
                  </a:txBody>
                  <a:tcPr anchor="ctr" marL="54864" marR="54864"/>
                </a:tc>
                <a:tc>
                  <a:txBody>
                    <a:bodyPr/>
                    <a:lstStyle/>
                    <a:p>
                      <a:pPr algn="l"/>
                      <a:r>
                        <a:rPr sz="1200" b="0" i="0">
                          <a:solidFill>
                            <a:srgbClr val="000000"/>
                          </a:solidFill>
                          <a:latin typeface="Cambria"/>
                        </a:rPr>
                        <a:t>ACM Trans. on Graphics, 2013</a:t>
                      </a:r>
                    </a:p>
                  </a:txBody>
                  <a:tcPr anchor="ctr" marL="54864" marR="54864"/>
                </a:tc>
                <a:tc>
                  <a:txBody>
                    <a:bodyPr/>
                    <a:lstStyle/>
                    <a:p>
                      <a:pPr algn="l"/>
                      <a:r>
                        <a:rPr sz="1200" b="0" i="0">
                          <a:solidFill>
                            <a:srgbClr val="000000"/>
                          </a:solidFill>
                          <a:latin typeface="Cambria"/>
                        </a:rPr>
                        <a:t>Shadow-object wedge constraints solved as a linear program</a:t>
                      </a:r>
                    </a:p>
                  </a:txBody>
                  <a:tcPr anchor="ctr" marL="54864" marR="54864"/>
                </a:tc>
                <a:tc>
                  <a:txBody>
                    <a:bodyPr/>
                    <a:lstStyle/>
                    <a:p>
                      <a:pPr algn="l"/>
                      <a:r>
                        <a:rPr sz="1200" b="0" i="0">
                          <a:solidFill>
                            <a:srgbClr val="000000"/>
                          </a:solidFill>
                          <a:latin typeface="Cambria"/>
                        </a:rPr>
                        <a:t>Shadow-object pairs marked by hand; not applied to AI images at scale</a:t>
                      </a:r>
                    </a:p>
                  </a:txBody>
                  <a:tcPr anchor="ctr" marL="54864" marR="54864"/>
                </a:tc>
              </a:tr>
              <a:tr h="914400">
                <a:tc>
                  <a:txBody>
                    <a:bodyPr/>
                    <a:lstStyle/>
                    <a:p>
                      <a:pPr algn="l"/>
                      <a:r>
                        <a:rPr sz="1200" b="0" i="0">
                          <a:solidFill>
                            <a:srgbClr val="000000"/>
                          </a:solidFill>
                          <a:latin typeface="Cambria"/>
                        </a:rPr>
                        <a:t>3</a:t>
                      </a:r>
                    </a:p>
                  </a:txBody>
                  <a:tcPr anchor="ctr" marL="54864" marR="54864"/>
                </a:tc>
                <a:tc>
                  <a:txBody>
                    <a:bodyPr/>
                    <a:lstStyle/>
                    <a:p>
                      <a:pPr algn="l"/>
                      <a:r>
                        <a:rPr sz="1200" b="0" i="0">
                          <a:solidFill>
                            <a:srgbClr val="000000"/>
                          </a:solidFill>
                          <a:latin typeface="Cambria"/>
                        </a:rPr>
                        <a:t>H. Farid</a:t>
                      </a:r>
                    </a:p>
                  </a:txBody>
                  <a:tcPr anchor="ctr" marL="54864" marR="54864"/>
                </a:tc>
                <a:tc>
                  <a:txBody>
                    <a:bodyPr/>
                    <a:lstStyle/>
                    <a:p>
                      <a:pPr algn="l"/>
                      <a:r>
                        <a:rPr sz="1200" b="0" i="0">
                          <a:solidFill>
                            <a:srgbClr val="000000"/>
                          </a:solidFill>
                          <a:latin typeface="Cambria"/>
                        </a:rPr>
                        <a:t>Perspective (in)consistency of paint by text</a:t>
                      </a:r>
                    </a:p>
                  </a:txBody>
                  <a:tcPr anchor="ctr" marL="54864" marR="54864"/>
                </a:tc>
                <a:tc>
                  <a:txBody>
                    <a:bodyPr/>
                    <a:lstStyle/>
                    <a:p>
                      <a:pPr algn="l"/>
                      <a:r>
                        <a:rPr sz="1200" b="0" i="0">
                          <a:solidFill>
                            <a:srgbClr val="000000"/>
                          </a:solidFill>
                          <a:latin typeface="Cambria"/>
                        </a:rPr>
                        <a:t>arXiv, 2022</a:t>
                      </a:r>
                    </a:p>
                  </a:txBody>
                  <a:tcPr anchor="ctr" marL="54864" marR="54864"/>
                </a:tc>
                <a:tc>
                  <a:txBody>
                    <a:bodyPr/>
                    <a:lstStyle/>
                    <a:p>
                      <a:pPr algn="l"/>
                      <a:r>
                        <a:rPr sz="1200" b="0" i="0">
                          <a:solidFill>
                            <a:srgbClr val="000000"/>
                          </a:solidFill>
                          <a:latin typeface="Cambria"/>
                        </a:rPr>
                        <a:t>Manual vanishing-point analysis of early text-to-image outputs</a:t>
                      </a:r>
                    </a:p>
                  </a:txBody>
                  <a:tcPr anchor="ctr" marL="54864" marR="54864"/>
                </a:tc>
                <a:tc>
                  <a:txBody>
                    <a:bodyPr/>
                    <a:lstStyle/>
                    <a:p>
                      <a:pPr algn="l"/>
                      <a:r>
                        <a:rPr sz="1200" b="0" i="0">
                          <a:solidFill>
                            <a:srgbClr val="000000"/>
                          </a:solidFill>
                          <a:latin typeface="Cambria"/>
                        </a:rPr>
                        <a:t>Small hand-checked sample; no statistics against many real photos</a:t>
                      </a:r>
                    </a:p>
                  </a:txBody>
                  <a:tcPr anchor="ctr" marL="54864" marR="54864"/>
                </a:tc>
              </a:tr>
              <a:tr h="914400">
                <a:tc>
                  <a:txBody>
                    <a:bodyPr/>
                    <a:lstStyle/>
                    <a:p>
                      <a:pPr algn="l"/>
                      <a:r>
                        <a:rPr sz="1200" b="0" i="0">
                          <a:solidFill>
                            <a:srgbClr val="000000"/>
                          </a:solidFill>
                          <a:latin typeface="Cambria"/>
                        </a:rPr>
                        <a:t>4</a:t>
                      </a:r>
                    </a:p>
                  </a:txBody>
                  <a:tcPr anchor="ctr" marL="54864" marR="54864"/>
                </a:tc>
                <a:tc>
                  <a:txBody>
                    <a:bodyPr/>
                    <a:lstStyle/>
                    <a:p>
                      <a:pPr algn="l"/>
                      <a:r>
                        <a:rPr sz="1200" b="0" i="0">
                          <a:solidFill>
                            <a:srgbClr val="000000"/>
                          </a:solidFill>
                          <a:latin typeface="Cambria"/>
                        </a:rPr>
                        <a:t>A. Criminisi, I. Reid, A. Zisserman</a:t>
                      </a:r>
                    </a:p>
                  </a:txBody>
                  <a:tcPr anchor="ctr" marL="54864" marR="54864"/>
                </a:tc>
                <a:tc>
                  <a:txBody>
                    <a:bodyPr/>
                    <a:lstStyle/>
                    <a:p>
                      <a:pPr algn="l"/>
                      <a:r>
                        <a:rPr sz="1200" b="0" i="0">
                          <a:solidFill>
                            <a:srgbClr val="000000"/>
                          </a:solidFill>
                          <a:latin typeface="Cambria"/>
                        </a:rPr>
                        <a:t>Single view metrology</a:t>
                      </a:r>
                    </a:p>
                  </a:txBody>
                  <a:tcPr anchor="ctr" marL="54864" marR="54864"/>
                </a:tc>
                <a:tc>
                  <a:txBody>
                    <a:bodyPr/>
                    <a:lstStyle/>
                    <a:p>
                      <a:pPr algn="l"/>
                      <a:r>
                        <a:rPr sz="1200" b="0" i="0">
                          <a:solidFill>
                            <a:srgbClr val="000000"/>
                          </a:solidFill>
                          <a:latin typeface="Cambria"/>
                        </a:rPr>
                        <a:t>IJCV, 2000</a:t>
                      </a:r>
                    </a:p>
                  </a:txBody>
                  <a:tcPr anchor="ctr" marL="54864" marR="54864"/>
                </a:tc>
                <a:tc>
                  <a:txBody>
                    <a:bodyPr/>
                    <a:lstStyle/>
                    <a:p>
                      <a:pPr algn="l"/>
                      <a:r>
                        <a:rPr sz="1200" b="0" i="0">
                          <a:solidFill>
                            <a:srgbClr val="000000"/>
                          </a:solidFill>
                          <a:latin typeface="Cambria"/>
                        </a:rPr>
                        <a:t>Measurement from vanishing points and the vanishing line</a:t>
                      </a:r>
                    </a:p>
                  </a:txBody>
                  <a:tcPr anchor="ctr" marL="54864" marR="54864"/>
                </a:tc>
                <a:tc>
                  <a:txBody>
                    <a:bodyPr/>
                    <a:lstStyle/>
                    <a:p>
                      <a:pPr algn="l"/>
                      <a:r>
                        <a:rPr sz="1200" b="0" i="0">
                          <a:solidFill>
                            <a:srgbClr val="000000"/>
                          </a:solidFill>
                          <a:latin typeface="Cambria"/>
                        </a:rPr>
                        <a:t>Assumes a real camera; the basis of our test, not a detector</a:t>
                      </a:r>
                    </a:p>
                  </a:txBody>
                  <a:tcPr anchor="ctr" marL="54864" marR="54864"/>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Review of Literature (2/2)</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graphicFrame>
        <p:nvGraphicFramePr>
          <p:cNvPr id="99" name="Table 98"/>
          <p:cNvGraphicFramePr>
            <a:graphicFrameLocks noGrp="1"/>
          </p:cNvGraphicFramePr>
          <p:nvPr/>
        </p:nvGraphicFramePr>
        <p:xfrm>
          <a:off x="566928" y="1188720"/>
          <a:ext cx="11055096" cy="4206240"/>
        </p:xfrm>
        <a:graphic>
          <a:graphicData uri="http://schemas.openxmlformats.org/drawingml/2006/table">
            <a:tbl>
              <a:tblPr firstRow="1" bandRow="1">
                <a:tableStyleId>{252108C0-F26C-423F-91A2-4CEDFFE9ED8A}</a:tableStyleId>
              </a:tblPr>
              <a:tblGrid>
                <a:gridCol w="566928"/>
                <a:gridCol w="1691640"/>
                <a:gridCol w="2697480"/>
                <a:gridCol w="1463040"/>
                <a:gridCol w="2240280"/>
                <a:gridCol w="2395728"/>
              </a:tblGrid>
              <a:tr h="841248">
                <a:tc>
                  <a:txBody>
                    <a:bodyPr/>
                    <a:lstStyle/>
                    <a:p>
                      <a:pPr algn="ctr"/>
                      <a:r>
                        <a:rPr sz="1200" b="1" i="0">
                          <a:solidFill>
                            <a:srgbClr val="000000"/>
                          </a:solidFill>
                          <a:latin typeface="Cambria"/>
                        </a:rPr>
                        <a:t>Sr. No</a:t>
                      </a:r>
                    </a:p>
                  </a:txBody>
                  <a:tcPr anchor="ctr" marL="54864" marR="54864"/>
                </a:tc>
                <a:tc>
                  <a:txBody>
                    <a:bodyPr/>
                    <a:lstStyle/>
                    <a:p>
                      <a:pPr algn="ctr"/>
                      <a:r>
                        <a:rPr sz="1200" b="1" i="0">
                          <a:solidFill>
                            <a:srgbClr val="000000"/>
                          </a:solidFill>
                          <a:latin typeface="Cambria"/>
                        </a:rPr>
                        <a:t>Author Name</a:t>
                      </a:r>
                    </a:p>
                  </a:txBody>
                  <a:tcPr anchor="ctr" marL="54864" marR="54864"/>
                </a:tc>
                <a:tc>
                  <a:txBody>
                    <a:bodyPr/>
                    <a:lstStyle/>
                    <a:p>
                      <a:pPr algn="ctr"/>
                      <a:r>
                        <a:rPr sz="1200" b="1" i="0">
                          <a:solidFill>
                            <a:srgbClr val="000000"/>
                          </a:solidFill>
                          <a:latin typeface="Cambria"/>
                        </a:rPr>
                        <a:t>Paper Title</a:t>
                      </a:r>
                    </a:p>
                  </a:txBody>
                  <a:tcPr anchor="ctr" marL="54864" marR="54864"/>
                </a:tc>
                <a:tc>
                  <a:txBody>
                    <a:bodyPr/>
                    <a:lstStyle/>
                    <a:p>
                      <a:pPr algn="ctr"/>
                      <a:r>
                        <a:rPr sz="1200" b="1" i="0">
                          <a:solidFill>
                            <a:srgbClr val="000000"/>
                          </a:solidFill>
                          <a:latin typeface="Cambria"/>
                        </a:rPr>
                        <a:t>Journal Name</a:t>
                      </a:r>
                    </a:p>
                  </a:txBody>
                  <a:tcPr anchor="ctr" marL="54864" marR="54864"/>
                </a:tc>
                <a:tc>
                  <a:txBody>
                    <a:bodyPr/>
                    <a:lstStyle/>
                    <a:p>
                      <a:pPr algn="ctr"/>
                      <a:r>
                        <a:rPr sz="1200" b="1" i="0">
                          <a:solidFill>
                            <a:srgbClr val="000000"/>
                          </a:solidFill>
                          <a:latin typeface="Cambria"/>
                        </a:rPr>
                        <a:t>Methodology</a:t>
                      </a:r>
                    </a:p>
                  </a:txBody>
                  <a:tcPr anchor="ctr" marL="54864" marR="54864"/>
                </a:tc>
                <a:tc>
                  <a:txBody>
                    <a:bodyPr/>
                    <a:lstStyle/>
                    <a:p>
                      <a:pPr algn="ctr"/>
                      <a:r>
                        <a:rPr sz="1200" b="1" i="0">
                          <a:solidFill>
                            <a:srgbClr val="000000"/>
                          </a:solidFill>
                          <a:latin typeface="Cambria"/>
                        </a:rPr>
                        <a:t>Remarks (Research Gaps)</a:t>
                      </a:r>
                    </a:p>
                  </a:txBody>
                  <a:tcPr anchor="ctr" marL="54864" marR="54864"/>
                </a:tc>
              </a:tr>
              <a:tr h="841248">
                <a:tc>
                  <a:txBody>
                    <a:bodyPr/>
                    <a:lstStyle/>
                    <a:p>
                      <a:pPr algn="l"/>
                      <a:r>
                        <a:rPr sz="1200" b="0" i="0">
                          <a:solidFill>
                            <a:srgbClr val="000000"/>
                          </a:solidFill>
                          <a:latin typeface="Cambria"/>
                        </a:rPr>
                        <a:t>5</a:t>
                      </a:r>
                    </a:p>
                  </a:txBody>
                  <a:tcPr anchor="ctr" marL="54864" marR="54864"/>
                </a:tc>
                <a:tc>
                  <a:txBody>
                    <a:bodyPr/>
                    <a:lstStyle/>
                    <a:p>
                      <a:pPr algn="l"/>
                      <a:r>
                        <a:rPr sz="1200" b="0" i="0">
                          <a:solidFill>
                            <a:srgbClr val="000000"/>
                          </a:solidFill>
                          <a:latin typeface="Cambria"/>
                        </a:rPr>
                        <a:t>J. M. Coughlan, A. L. Yuille</a:t>
                      </a:r>
                    </a:p>
                  </a:txBody>
                  <a:tcPr anchor="ctr" marL="54864" marR="54864"/>
                </a:tc>
                <a:tc>
                  <a:txBody>
                    <a:bodyPr/>
                    <a:lstStyle/>
                    <a:p>
                      <a:pPr algn="l"/>
                      <a:r>
                        <a:rPr sz="1200" b="0" i="0">
                          <a:solidFill>
                            <a:srgbClr val="000000"/>
                          </a:solidFill>
                          <a:latin typeface="Cambria"/>
                        </a:rPr>
                        <a:t>Manhattan world: compass direction from a single image by Bayesian inference</a:t>
                      </a:r>
                    </a:p>
                  </a:txBody>
                  <a:tcPr anchor="ctr" marL="54864" marR="54864"/>
                </a:tc>
                <a:tc>
                  <a:txBody>
                    <a:bodyPr/>
                    <a:lstStyle/>
                    <a:p>
                      <a:pPr algn="l"/>
                      <a:r>
                        <a:rPr sz="1200" b="0" i="0">
                          <a:solidFill>
                            <a:srgbClr val="000000"/>
                          </a:solidFill>
                          <a:latin typeface="Cambria"/>
                        </a:rPr>
                        <a:t>ICCV, 1999</a:t>
                      </a:r>
                    </a:p>
                  </a:txBody>
                  <a:tcPr anchor="ctr" marL="54864" marR="54864"/>
                </a:tc>
                <a:tc>
                  <a:txBody>
                    <a:bodyPr/>
                    <a:lstStyle/>
                    <a:p>
                      <a:pPr algn="l"/>
                      <a:r>
                        <a:rPr sz="1200" b="0" i="0">
                          <a:solidFill>
                            <a:srgbClr val="000000"/>
                          </a:solidFill>
                          <a:latin typeface="Cambria"/>
                        </a:rPr>
                        <a:t>Bayesian estimate of three directions at right angles</a:t>
                      </a:r>
                    </a:p>
                  </a:txBody>
                  <a:tcPr anchor="ctr" marL="54864" marR="54864"/>
                </a:tc>
                <a:tc>
                  <a:txBody>
                    <a:bodyPr/>
                    <a:lstStyle/>
                    <a:p>
                      <a:pPr algn="l"/>
                      <a:r>
                        <a:rPr sz="1200" b="0" i="0">
                          <a:solidFill>
                            <a:srgbClr val="000000"/>
                          </a:solidFill>
                          <a:latin typeface="Cambria"/>
                        </a:rPr>
                        <a:t>The right-angle assumption fails on angled streets</a:t>
                      </a:r>
                    </a:p>
                  </a:txBody>
                  <a:tcPr anchor="ctr" marL="54864" marR="54864"/>
                </a:tc>
              </a:tr>
              <a:tr h="841248">
                <a:tc>
                  <a:txBody>
                    <a:bodyPr/>
                    <a:lstStyle/>
                    <a:p>
                      <a:pPr algn="l"/>
                      <a:r>
                        <a:rPr sz="1200" b="0" i="0">
                          <a:solidFill>
                            <a:srgbClr val="000000"/>
                          </a:solidFill>
                          <a:latin typeface="Cambria"/>
                        </a:rPr>
                        <a:t>6</a:t>
                      </a:r>
                    </a:p>
                  </a:txBody>
                  <a:tcPr anchor="ctr" marL="54864" marR="54864"/>
                </a:tc>
                <a:tc>
                  <a:txBody>
                    <a:bodyPr/>
                    <a:lstStyle/>
                    <a:p>
                      <a:pPr algn="l"/>
                      <a:r>
                        <a:rPr sz="1200" b="0" i="0">
                          <a:solidFill>
                            <a:srgbClr val="000000"/>
                          </a:solidFill>
                          <a:latin typeface="Cambria"/>
                        </a:rPr>
                        <a:t>G. Schindler, F. Dellaert</a:t>
                      </a:r>
                    </a:p>
                  </a:txBody>
                  <a:tcPr anchor="ctr" marL="54864" marR="54864"/>
                </a:tc>
                <a:tc>
                  <a:txBody>
                    <a:bodyPr/>
                    <a:lstStyle/>
                    <a:p>
                      <a:pPr algn="l"/>
                      <a:r>
                        <a:rPr sz="1200" b="0" i="0">
                          <a:solidFill>
                            <a:srgbClr val="000000"/>
                          </a:solidFill>
                          <a:latin typeface="Cambria"/>
                        </a:rPr>
                        <a:t>Atlanta world: an EM framework for simultaneous low-level edge grouping and camera calibration</a:t>
                      </a:r>
                    </a:p>
                  </a:txBody>
                  <a:tcPr anchor="ctr" marL="54864" marR="54864"/>
                </a:tc>
                <a:tc>
                  <a:txBody>
                    <a:bodyPr/>
                    <a:lstStyle/>
                    <a:p>
                      <a:pPr algn="l"/>
                      <a:r>
                        <a:rPr sz="1200" b="0" i="0">
                          <a:solidFill>
                            <a:srgbClr val="000000"/>
                          </a:solidFill>
                          <a:latin typeface="Cambria"/>
                        </a:rPr>
                        <a:t>CVPR, 2004</a:t>
                      </a:r>
                    </a:p>
                  </a:txBody>
                  <a:tcPr anchor="ctr" marL="54864" marR="54864"/>
                </a:tc>
                <a:tc>
                  <a:txBody>
                    <a:bodyPr/>
                    <a:lstStyle/>
                    <a:p>
                      <a:pPr algn="l"/>
                      <a:r>
                        <a:rPr sz="1200" b="0" i="0">
                          <a:solidFill>
                            <a:srgbClr val="000000"/>
                          </a:solidFill>
                          <a:latin typeface="Cambria"/>
                        </a:rPr>
                        <a:t>One vertical and several horizontal directions, fitted by EM</a:t>
                      </a:r>
                    </a:p>
                  </a:txBody>
                  <a:tcPr anchor="ctr" marL="54864" marR="54864"/>
                </a:tc>
                <a:tc>
                  <a:txBody>
                    <a:bodyPr/>
                    <a:lstStyle/>
                    <a:p>
                      <a:pPr algn="l"/>
                      <a:r>
                        <a:rPr sz="1200" b="0" i="0">
                          <a:solidFill>
                            <a:srgbClr val="000000"/>
                          </a:solidFill>
                          <a:latin typeface="Cambria"/>
                        </a:rPr>
                        <a:t>Used for calibration; never used to test whether an image has one camera</a:t>
                      </a:r>
                    </a:p>
                  </a:txBody>
                  <a:tcPr anchor="ctr" marL="54864" marR="54864"/>
                </a:tc>
              </a:tr>
              <a:tr h="841248">
                <a:tc>
                  <a:txBody>
                    <a:bodyPr/>
                    <a:lstStyle/>
                    <a:p>
                      <a:pPr algn="l"/>
                      <a:r>
                        <a:rPr sz="1200" b="0" i="0">
                          <a:solidFill>
                            <a:srgbClr val="000000"/>
                          </a:solidFill>
                          <a:latin typeface="Cambria"/>
                        </a:rPr>
                        <a:t>7</a:t>
                      </a:r>
                    </a:p>
                  </a:txBody>
                  <a:tcPr anchor="ctr" marL="54864" marR="54864"/>
                </a:tc>
                <a:tc>
                  <a:txBody>
                    <a:bodyPr/>
                    <a:lstStyle/>
                    <a:p>
                      <a:pPr algn="l"/>
                      <a:r>
                        <a:rPr sz="1200" b="0" i="0">
                          <a:solidFill>
                            <a:srgbClr val="000000"/>
                          </a:solidFill>
                          <a:latin typeface="Cambria"/>
                        </a:rPr>
                        <a:t>P. Denis, J. H. Elder, F. J. Estrada</a:t>
                      </a:r>
                    </a:p>
                  </a:txBody>
                  <a:tcPr anchor="ctr" marL="54864" marR="54864"/>
                </a:tc>
                <a:tc>
                  <a:txBody>
                    <a:bodyPr/>
                    <a:lstStyle/>
                    <a:p>
                      <a:pPr algn="l"/>
                      <a:r>
                        <a:rPr sz="1200" b="0" i="0">
                          <a:solidFill>
                            <a:srgbClr val="000000"/>
                          </a:solidFill>
                          <a:latin typeface="Cambria"/>
                        </a:rPr>
                        <a:t>Efficient edge-based methods for estimating Manhattan frames in urban imagery</a:t>
                      </a:r>
                    </a:p>
                  </a:txBody>
                  <a:tcPr anchor="ctr" marL="54864" marR="54864"/>
                </a:tc>
                <a:tc>
                  <a:txBody>
                    <a:bodyPr/>
                    <a:lstStyle/>
                    <a:p>
                      <a:pPr algn="l"/>
                      <a:r>
                        <a:rPr sz="1200" b="0" i="0">
                          <a:solidFill>
                            <a:srgbClr val="000000"/>
                          </a:solidFill>
                          <a:latin typeface="Cambria"/>
                        </a:rPr>
                        <a:t>ECCV, 2008</a:t>
                      </a:r>
                    </a:p>
                  </a:txBody>
                  <a:tcPr anchor="ctr" marL="54864" marR="54864"/>
                </a:tc>
                <a:tc>
                  <a:txBody>
                    <a:bodyPr/>
                    <a:lstStyle/>
                    <a:p>
                      <a:pPr algn="l"/>
                      <a:r>
                        <a:rPr sz="1200" b="0" i="0">
                          <a:solidFill>
                            <a:srgbClr val="000000"/>
                          </a:solidFill>
                          <a:latin typeface="Cambria"/>
                        </a:rPr>
                        <a:t>York Urban Database: 102 calibrated photos with true vanishing points</a:t>
                      </a:r>
                    </a:p>
                  </a:txBody>
                  <a:tcPr anchor="ctr" marL="54864" marR="54864"/>
                </a:tc>
                <a:tc>
                  <a:txBody>
                    <a:bodyPr/>
                    <a:lstStyle/>
                    <a:p>
                      <a:pPr algn="l"/>
                      <a:r>
                        <a:rPr sz="1200" b="0" i="0">
                          <a:solidFill>
                            <a:srgbClr val="000000"/>
                          </a:solidFill>
                          <a:latin typeface="Cambria"/>
                        </a:rPr>
                        <a:t>One camera, hand-picked scenes; a single reference can bias conclusions</a:t>
                      </a:r>
                    </a:p>
                  </a:txBody>
                  <a:tcPr anchor="ctr" marL="54864" marR="54864"/>
                </a:tc>
              </a:tr>
              <a:tr h="841248">
                <a:tc>
                  <a:txBody>
                    <a:bodyPr/>
                    <a:lstStyle/>
                    <a:p>
                      <a:pPr algn="l"/>
                      <a:r>
                        <a:rPr sz="1200" b="0" i="0">
                          <a:solidFill>
                            <a:srgbClr val="000000"/>
                          </a:solidFill>
                          <a:latin typeface="Cambria"/>
                        </a:rPr>
                        <a:t>8</a:t>
                      </a:r>
                    </a:p>
                  </a:txBody>
                  <a:tcPr anchor="ctr" marL="54864" marR="54864"/>
                </a:tc>
                <a:tc>
                  <a:txBody>
                    <a:bodyPr/>
                    <a:lstStyle/>
                    <a:p>
                      <a:pPr algn="l"/>
                      <a:r>
                        <a:rPr sz="1200" b="0" i="0">
                          <a:solidFill>
                            <a:srgbClr val="000000"/>
                          </a:solidFill>
                          <a:latin typeface="Cambria"/>
                        </a:rPr>
                        <a:t>M. El Banani et al.</a:t>
                      </a:r>
                    </a:p>
                  </a:txBody>
                  <a:tcPr anchor="ctr" marL="54864" marR="54864"/>
                </a:tc>
                <a:tc>
                  <a:txBody>
                    <a:bodyPr/>
                    <a:lstStyle/>
                    <a:p>
                      <a:pPr algn="l"/>
                      <a:r>
                        <a:rPr sz="1200" b="0" i="0">
                          <a:solidFill>
                            <a:srgbClr val="000000"/>
                          </a:solidFill>
                          <a:latin typeface="Cambria"/>
                        </a:rPr>
                        <a:t>Probing the 3D awareness of visual foundation models</a:t>
                      </a:r>
                    </a:p>
                  </a:txBody>
                  <a:tcPr anchor="ctr" marL="54864" marR="54864"/>
                </a:tc>
                <a:tc>
                  <a:txBody>
                    <a:bodyPr/>
                    <a:lstStyle/>
                    <a:p>
                      <a:pPr algn="l"/>
                      <a:r>
                        <a:rPr sz="1200" b="0" i="0">
                          <a:solidFill>
                            <a:srgbClr val="000000"/>
                          </a:solidFill>
                          <a:latin typeface="Cambria"/>
                        </a:rPr>
                        <a:t>CVPR, 2024</a:t>
                      </a:r>
                    </a:p>
                  </a:txBody>
                  <a:tcPr anchor="ctr" marL="54864" marR="54864"/>
                </a:tc>
                <a:tc>
                  <a:txBody>
                    <a:bodyPr/>
                    <a:lstStyle/>
                    <a:p>
                      <a:pPr algn="l"/>
                      <a:r>
                        <a:rPr sz="1200" b="0" i="0">
                          <a:solidFill>
                            <a:srgbClr val="000000"/>
                          </a:solidFill>
                          <a:latin typeface="Cambria"/>
                        </a:rPr>
                        <a:t>Linear probes read depth and surface normals from model features</a:t>
                      </a:r>
                    </a:p>
                  </a:txBody>
                  <a:tcPr anchor="ctr" marL="54864" marR="54864"/>
                </a:tc>
                <a:tc>
                  <a:txBody>
                    <a:bodyPr/>
                    <a:lstStyle/>
                    <a:p>
                      <a:pPr algn="l"/>
                      <a:r>
                        <a:rPr sz="1200" b="0" i="0">
                          <a:solidFill>
                            <a:srgbClr val="000000"/>
                          </a:solidFill>
                          <a:latin typeface="Cambria"/>
                        </a:rPr>
                        <a:t>Local 3D only; global camera consistency untested</a:t>
                      </a:r>
                    </a:p>
                  </a:txBody>
                  <a:tcPr anchor="ctr" marL="54864" marR="54864"/>
                </a:tc>
              </a:tr>
            </a:tbl>
          </a:graphicData>
        </a:graphic>
      </p:graphicFrame>
      <p:sp>
        <p:nvSpPr>
          <p:cNvPr id="100" name="TextBox 99"/>
          <p:cNvSpPr txBox="1"/>
          <p:nvPr/>
        </p:nvSpPr>
        <p:spPr>
          <a:xfrm>
            <a:off x="566928" y="5623560"/>
            <a:ext cx="11064240" cy="548640"/>
          </a:xfrm>
          <a:prstGeom prst="rect">
            <a:avLst/>
          </a:prstGeom>
          <a:noFill/>
        </p:spPr>
        <p:txBody>
          <a:bodyPr wrap="square" lIns="0" rIns="0" tIns="0" bIns="0" anchor="t">
            <a:spAutoFit/>
          </a:bodyPr>
          <a:lstStyle/>
          <a:p>
            <a:pPr algn="l">
              <a:spcAft>
                <a:spcPts val="600"/>
              </a:spcAft>
            </a:pPr>
            <a:r>
              <a:rPr sz="1500" b="0" i="1">
                <a:solidFill>
                  <a:srgbClr val="B01E23"/>
                </a:solidFill>
                <a:latin typeface="Cambria"/>
              </a:rPr>
              <a:t>Summary: generated images break projective geometry. Open: which rule, by how much, and measured against which real photographs.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Research Gap</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sp>
        <p:nvSpPr>
          <p:cNvPr id="99" name="Rectangle 98"/>
          <p:cNvSpPr/>
          <p:nvPr/>
        </p:nvSpPr>
        <p:spPr>
          <a:xfrm>
            <a:off x="841248" y="1280160"/>
            <a:ext cx="5120640" cy="2011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069848" y="1463039"/>
            <a:ext cx="548640" cy="548640"/>
          </a:xfrm>
          <a:prstGeom prst="rect">
            <a:avLst/>
          </a:prstGeom>
          <a:noFill/>
        </p:spPr>
        <p:txBody>
          <a:bodyPr wrap="square" lIns="0" rIns="0" tIns="0" bIns="0" anchor="t">
            <a:spAutoFit/>
          </a:bodyPr>
          <a:lstStyle/>
          <a:p>
            <a:pPr algn="l">
              <a:spcAft>
                <a:spcPts val="600"/>
              </a:spcAft>
            </a:pPr>
            <a:r>
              <a:rPr sz="3000" b="1" i="0">
                <a:solidFill>
                  <a:srgbClr val="B01E23"/>
                </a:solidFill>
                <a:latin typeface="Cambria"/>
              </a:rPr>
              <a:t>1</a:t>
            </a:r>
          </a:p>
        </p:txBody>
      </p:sp>
      <p:sp>
        <p:nvSpPr>
          <p:cNvPr id="101" name="TextBox 100"/>
          <p:cNvSpPr txBox="1"/>
          <p:nvPr/>
        </p:nvSpPr>
        <p:spPr>
          <a:xfrm>
            <a:off x="1664208" y="1527048"/>
            <a:ext cx="4114800" cy="457200"/>
          </a:xfrm>
          <a:prstGeom prst="rect">
            <a:avLst/>
          </a:prstGeom>
          <a:noFill/>
        </p:spPr>
        <p:txBody>
          <a:bodyPr wrap="square" lIns="0" rIns="0" tIns="0" bIns="0" anchor="t">
            <a:spAutoFit/>
          </a:bodyPr>
          <a:lstStyle/>
          <a:p>
            <a:pPr algn="l">
              <a:spcAft>
                <a:spcPts val="600"/>
              </a:spcAft>
            </a:pPr>
            <a:r>
              <a:rPr sz="1700" b="1" i="0">
                <a:solidFill>
                  <a:srgbClr val="000000"/>
                </a:solidFill>
                <a:latin typeface="Cambria"/>
              </a:rPr>
              <a:t>Detection, not diagnosis</a:t>
            </a:r>
          </a:p>
        </p:txBody>
      </p:sp>
      <p:sp>
        <p:nvSpPr>
          <p:cNvPr id="102" name="TextBox 101"/>
          <p:cNvSpPr txBox="1"/>
          <p:nvPr/>
        </p:nvSpPr>
        <p:spPr>
          <a:xfrm>
            <a:off x="1664208" y="2057400"/>
            <a:ext cx="4114800" cy="1143000"/>
          </a:xfrm>
          <a:prstGeom prst="rect">
            <a:avLst/>
          </a:prstGeom>
          <a:noFill/>
        </p:spPr>
        <p:txBody>
          <a:bodyPr wrap="square" lIns="0" rIns="0" tIns="0" bIns="0" anchor="t">
            <a:spAutoFit/>
          </a:bodyPr>
          <a:lstStyle/>
          <a:p>
            <a:pPr algn="l">
              <a:spcAft>
                <a:spcPts val="600"/>
              </a:spcAft>
            </a:pPr>
            <a:r>
              <a:rPr sz="1500" b="0" i="0">
                <a:solidFill>
                  <a:srgbClr val="555555"/>
                </a:solidFill>
                <a:latin typeface="Cambria"/>
              </a:rPr>
              <a:t>Learned classifiers say a violation exists, not which rule failed or by how much.</a:t>
            </a:r>
          </a:p>
        </p:txBody>
      </p:sp>
      <p:sp>
        <p:nvSpPr>
          <p:cNvPr id="103" name="Rectangle 102"/>
          <p:cNvSpPr/>
          <p:nvPr/>
        </p:nvSpPr>
        <p:spPr>
          <a:xfrm>
            <a:off x="6190488" y="1280160"/>
            <a:ext cx="5120640" cy="2011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6419088" y="1463039"/>
            <a:ext cx="548640" cy="548640"/>
          </a:xfrm>
          <a:prstGeom prst="rect">
            <a:avLst/>
          </a:prstGeom>
          <a:noFill/>
        </p:spPr>
        <p:txBody>
          <a:bodyPr wrap="square" lIns="0" rIns="0" tIns="0" bIns="0" anchor="t">
            <a:spAutoFit/>
          </a:bodyPr>
          <a:lstStyle/>
          <a:p>
            <a:pPr algn="l">
              <a:spcAft>
                <a:spcPts val="600"/>
              </a:spcAft>
            </a:pPr>
            <a:r>
              <a:rPr sz="3000" b="1" i="0">
                <a:solidFill>
                  <a:srgbClr val="B01E23"/>
                </a:solidFill>
                <a:latin typeface="Cambria"/>
              </a:rPr>
              <a:t>2</a:t>
            </a:r>
          </a:p>
        </p:txBody>
      </p:sp>
      <p:sp>
        <p:nvSpPr>
          <p:cNvPr id="105" name="TextBox 104"/>
          <p:cNvSpPr txBox="1"/>
          <p:nvPr/>
        </p:nvSpPr>
        <p:spPr>
          <a:xfrm>
            <a:off x="7013448" y="1527048"/>
            <a:ext cx="4114800" cy="457200"/>
          </a:xfrm>
          <a:prstGeom prst="rect">
            <a:avLst/>
          </a:prstGeom>
          <a:noFill/>
        </p:spPr>
        <p:txBody>
          <a:bodyPr wrap="square" lIns="0" rIns="0" tIns="0" bIns="0" anchor="t">
            <a:spAutoFit/>
          </a:bodyPr>
          <a:lstStyle/>
          <a:p>
            <a:pPr algn="l">
              <a:spcAft>
                <a:spcPts val="600"/>
              </a:spcAft>
            </a:pPr>
            <a:r>
              <a:rPr sz="1700" b="1" i="0">
                <a:solidFill>
                  <a:srgbClr val="000000"/>
                </a:solidFill>
                <a:latin typeface="Cambria"/>
              </a:rPr>
              <a:t>One real reference</a:t>
            </a:r>
          </a:p>
        </p:txBody>
      </p:sp>
      <p:sp>
        <p:nvSpPr>
          <p:cNvPr id="106" name="TextBox 105"/>
          <p:cNvSpPr txBox="1"/>
          <p:nvPr/>
        </p:nvSpPr>
        <p:spPr>
          <a:xfrm>
            <a:off x="7013448" y="2057400"/>
            <a:ext cx="4114800" cy="1143000"/>
          </a:xfrm>
          <a:prstGeom prst="rect">
            <a:avLst/>
          </a:prstGeom>
          <a:noFill/>
        </p:spPr>
        <p:txBody>
          <a:bodyPr wrap="square" lIns="0" rIns="0" tIns="0" bIns="0" anchor="t">
            <a:spAutoFit/>
          </a:bodyPr>
          <a:lstStyle/>
          <a:p>
            <a:pPr algn="l">
              <a:spcAft>
                <a:spcPts val="600"/>
              </a:spcAft>
            </a:pPr>
            <a:r>
              <a:rPr sz="1500" b="0" i="0">
                <a:solidFill>
                  <a:srgbClr val="555555"/>
                </a:solidFill>
                <a:latin typeface="Cambria"/>
              </a:rPr>
              <a:t>Studies compare against one hand-picked dataset. Whether the conclusion depends on that choice is unexamined.</a:t>
            </a:r>
          </a:p>
        </p:txBody>
      </p:sp>
      <p:sp>
        <p:nvSpPr>
          <p:cNvPr id="107" name="Rectangle 106"/>
          <p:cNvSpPr/>
          <p:nvPr/>
        </p:nvSpPr>
        <p:spPr>
          <a:xfrm>
            <a:off x="841248" y="3520440"/>
            <a:ext cx="5120640" cy="2011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069848" y="3703320"/>
            <a:ext cx="548640" cy="548640"/>
          </a:xfrm>
          <a:prstGeom prst="rect">
            <a:avLst/>
          </a:prstGeom>
          <a:noFill/>
        </p:spPr>
        <p:txBody>
          <a:bodyPr wrap="square" lIns="0" rIns="0" tIns="0" bIns="0" anchor="t">
            <a:spAutoFit/>
          </a:bodyPr>
          <a:lstStyle/>
          <a:p>
            <a:pPr algn="l">
              <a:spcAft>
                <a:spcPts val="600"/>
              </a:spcAft>
            </a:pPr>
            <a:r>
              <a:rPr sz="3000" b="1" i="0">
                <a:solidFill>
                  <a:srgbClr val="B01E23"/>
                </a:solidFill>
                <a:latin typeface="Cambria"/>
              </a:rPr>
              <a:t>3</a:t>
            </a:r>
          </a:p>
        </p:txBody>
      </p:sp>
      <p:sp>
        <p:nvSpPr>
          <p:cNvPr id="109" name="TextBox 108"/>
          <p:cNvSpPr txBox="1"/>
          <p:nvPr/>
        </p:nvSpPr>
        <p:spPr>
          <a:xfrm>
            <a:off x="1664208" y="3767328"/>
            <a:ext cx="4114800" cy="457200"/>
          </a:xfrm>
          <a:prstGeom prst="rect">
            <a:avLst/>
          </a:prstGeom>
          <a:noFill/>
        </p:spPr>
        <p:txBody>
          <a:bodyPr wrap="square" lIns="0" rIns="0" tIns="0" bIns="0" anchor="t">
            <a:spAutoFit/>
          </a:bodyPr>
          <a:lstStyle/>
          <a:p>
            <a:pPr algn="l">
              <a:spcAft>
                <a:spcPts val="600"/>
              </a:spcAft>
            </a:pPr>
            <a:r>
              <a:rPr sz="1700" b="1" i="0">
                <a:solidFill>
                  <a:srgbClr val="000000"/>
                </a:solidFill>
                <a:latin typeface="Cambria"/>
              </a:rPr>
              <a:t>Orientation vs camera never separated</a:t>
            </a:r>
          </a:p>
        </p:txBody>
      </p:sp>
      <p:sp>
        <p:nvSpPr>
          <p:cNvPr id="110" name="TextBox 109"/>
          <p:cNvSpPr txBox="1"/>
          <p:nvPr/>
        </p:nvSpPr>
        <p:spPr>
          <a:xfrm>
            <a:off x="1664208" y="4297680"/>
            <a:ext cx="4114800" cy="1143000"/>
          </a:xfrm>
          <a:prstGeom prst="rect">
            <a:avLst/>
          </a:prstGeom>
          <a:noFill/>
        </p:spPr>
        <p:txBody>
          <a:bodyPr wrap="square" lIns="0" rIns="0" tIns="0" bIns="0" anchor="t">
            <a:spAutoFit/>
          </a:bodyPr>
          <a:lstStyle/>
          <a:p>
            <a:pPr algn="l">
              <a:spcAft>
                <a:spcPts val="600"/>
              </a:spcAft>
            </a:pPr>
            <a:r>
              <a:rPr sz="1500" b="0" i="0">
                <a:solidFill>
                  <a:srgbClr val="555555"/>
                </a:solidFill>
                <a:latin typeface="Cambria"/>
              </a:rPr>
              <a:t>No study separates getting the scene's directions wrong from getting the camera wrong.</a:t>
            </a:r>
          </a:p>
        </p:txBody>
      </p:sp>
      <p:sp>
        <p:nvSpPr>
          <p:cNvPr id="111" name="Rectangle 110"/>
          <p:cNvSpPr/>
          <p:nvPr/>
        </p:nvSpPr>
        <p:spPr>
          <a:xfrm>
            <a:off x="6190488" y="3520440"/>
            <a:ext cx="5120640" cy="2011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419088" y="3703320"/>
            <a:ext cx="548640" cy="548640"/>
          </a:xfrm>
          <a:prstGeom prst="rect">
            <a:avLst/>
          </a:prstGeom>
          <a:noFill/>
        </p:spPr>
        <p:txBody>
          <a:bodyPr wrap="square" lIns="0" rIns="0" tIns="0" bIns="0" anchor="t">
            <a:spAutoFit/>
          </a:bodyPr>
          <a:lstStyle/>
          <a:p>
            <a:pPr algn="l">
              <a:spcAft>
                <a:spcPts val="600"/>
              </a:spcAft>
            </a:pPr>
            <a:r>
              <a:rPr sz="3000" b="1" i="0">
                <a:solidFill>
                  <a:srgbClr val="B01E23"/>
                </a:solidFill>
                <a:latin typeface="Cambria"/>
              </a:rPr>
              <a:t>4</a:t>
            </a:r>
          </a:p>
        </p:txBody>
      </p:sp>
      <p:sp>
        <p:nvSpPr>
          <p:cNvPr id="113" name="TextBox 112"/>
          <p:cNvSpPr txBox="1"/>
          <p:nvPr/>
        </p:nvSpPr>
        <p:spPr>
          <a:xfrm>
            <a:off x="7013448" y="3767328"/>
            <a:ext cx="4114800" cy="457200"/>
          </a:xfrm>
          <a:prstGeom prst="rect">
            <a:avLst/>
          </a:prstGeom>
          <a:noFill/>
        </p:spPr>
        <p:txBody>
          <a:bodyPr wrap="square" lIns="0" rIns="0" tIns="0" bIns="0" anchor="t">
            <a:spAutoFit/>
          </a:bodyPr>
          <a:lstStyle/>
          <a:p>
            <a:pPr algn="l">
              <a:spcAft>
                <a:spcPts val="600"/>
              </a:spcAft>
            </a:pPr>
            <a:r>
              <a:rPr sz="1700" b="1" i="0">
                <a:solidFill>
                  <a:srgbClr val="000000"/>
                </a:solidFill>
                <a:latin typeface="Cambria"/>
              </a:rPr>
              <a:t>Applicability ignored</a:t>
            </a:r>
          </a:p>
        </p:txBody>
      </p:sp>
      <p:sp>
        <p:nvSpPr>
          <p:cNvPr id="114" name="TextBox 113"/>
          <p:cNvSpPr txBox="1"/>
          <p:nvPr/>
        </p:nvSpPr>
        <p:spPr>
          <a:xfrm>
            <a:off x="7013448" y="4297680"/>
            <a:ext cx="4114800" cy="1143000"/>
          </a:xfrm>
          <a:prstGeom prst="rect">
            <a:avLst/>
          </a:prstGeom>
          <a:noFill/>
        </p:spPr>
        <p:txBody>
          <a:bodyPr wrap="square" lIns="0" rIns="0" tIns="0" bIns="0" anchor="t">
            <a:spAutoFit/>
          </a:bodyPr>
          <a:lstStyle/>
          <a:p>
            <a:pPr algn="l">
              <a:spcAft>
                <a:spcPts val="600"/>
              </a:spcAft>
            </a:pPr>
            <a:r>
              <a:rPr sz="1500" b="0" i="0">
                <a:solidFill>
                  <a:srgbClr val="555555"/>
                </a:solidFill>
                <a:latin typeface="Cambria"/>
              </a:rPr>
              <a:t>The three-vanishing-point test does not apply to scenes that are not box-shaped, yet it is applied to them anyway.</a:t>
            </a:r>
          </a:p>
        </p:txBody>
      </p:sp>
      <p:sp>
        <p:nvSpPr>
          <p:cNvPr id="115" name="TextBox 114"/>
          <p:cNvSpPr txBox="1"/>
          <p:nvPr/>
        </p:nvSpPr>
        <p:spPr>
          <a:xfrm>
            <a:off x="841248" y="5852160"/>
            <a:ext cx="10515600" cy="411480"/>
          </a:xfrm>
          <a:prstGeom prst="rect">
            <a:avLst/>
          </a:prstGeom>
          <a:noFill/>
        </p:spPr>
        <p:txBody>
          <a:bodyPr wrap="square" lIns="0" rIns="0" tIns="0" bIns="0" anchor="t">
            <a:spAutoFit/>
          </a:bodyPr>
          <a:lstStyle/>
          <a:p>
            <a:pPr algn="l">
              <a:spcAft>
                <a:spcPts val="600"/>
              </a:spcAft>
            </a:pPr>
            <a:r>
              <a:rPr sz="1500" b="0" i="1">
                <a:solidFill>
                  <a:srgbClr val="B01E23"/>
                </a:solidFill>
                <a:latin typeface="Cambria"/>
              </a:rPr>
              <a:t>This project addresses gaps 1 to 3, and solves gap 4 as part of the method.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Statement of the Problem</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sp>
        <p:nvSpPr>
          <p:cNvPr id="99" name="Rectangle 98"/>
          <p:cNvSpPr/>
          <p:nvPr/>
        </p:nvSpPr>
        <p:spPr>
          <a:xfrm>
            <a:off x="841248" y="1280160"/>
            <a:ext cx="10515600" cy="1417320"/>
          </a:xfrm>
          <a:prstGeom prst="rect">
            <a:avLst/>
          </a:prstGeom>
          <a:solidFill>
            <a:srgbClr val="FFFFFF"/>
          </a:solidFill>
          <a:ln w="15875">
            <a:solidFill>
              <a:srgbClr val="B01E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097280" y="1417320"/>
            <a:ext cx="10012680" cy="1188720"/>
          </a:xfrm>
          <a:prstGeom prst="rect">
            <a:avLst/>
          </a:prstGeom>
          <a:noFill/>
        </p:spPr>
        <p:txBody>
          <a:bodyPr wrap="square" lIns="0" rIns="0" tIns="0" bIns="0" anchor="ctr">
            <a:spAutoFit/>
          </a:bodyPr>
          <a:lstStyle/>
          <a:p>
            <a:pPr algn="l">
              <a:spcAft>
                <a:spcPts val="600"/>
              </a:spcAft>
            </a:pPr>
            <a:r>
              <a:rPr sz="1800" b="0" i="0">
                <a:solidFill>
                  <a:srgbClr val="000000"/>
                </a:solidFill>
                <a:latin typeface="Cambria"/>
              </a:rPr>
              <a:t>Given a single image, decide whether its geometry fits ONE pinhole camera. Report any mismatch as a readable residual tied to a specific geometric rule, compare it with real photographs, and use the result to compare image generators.</a:t>
            </a:r>
          </a:p>
        </p:txBody>
      </p:sp>
      <p:sp>
        <p:nvSpPr>
          <p:cNvPr id="101" name="TextBox 100"/>
          <p:cNvSpPr txBox="1"/>
          <p:nvPr/>
        </p:nvSpPr>
        <p:spPr>
          <a:xfrm>
            <a:off x="841248" y="2971800"/>
            <a:ext cx="10515600" cy="365760"/>
          </a:xfrm>
          <a:prstGeom prst="rect">
            <a:avLst/>
          </a:prstGeom>
          <a:noFill/>
        </p:spPr>
        <p:txBody>
          <a:bodyPr wrap="square" lIns="0" rIns="0" tIns="0" bIns="0" anchor="t">
            <a:spAutoFit/>
          </a:bodyPr>
          <a:lstStyle/>
          <a:p>
            <a:pPr algn="l">
              <a:spcAft>
                <a:spcPts val="600"/>
              </a:spcAft>
            </a:pPr>
            <a:r>
              <a:rPr sz="1500" b="1" i="0">
                <a:solidFill>
                  <a:srgbClr val="B01E23"/>
                </a:solidFill>
                <a:latin typeface="Cambria"/>
              </a:rPr>
              <a:t>RESEARCH QUESTIONS</a:t>
            </a:r>
          </a:p>
        </p:txBody>
      </p:sp>
      <p:sp>
        <p:nvSpPr>
          <p:cNvPr id="102" name="TextBox 101"/>
          <p:cNvSpPr txBox="1"/>
          <p:nvPr/>
        </p:nvSpPr>
        <p:spPr>
          <a:xfrm>
            <a:off x="841248" y="3429000"/>
            <a:ext cx="10515600" cy="2743200"/>
          </a:xfrm>
          <a:prstGeom prst="rect">
            <a:avLst/>
          </a:prstGeom>
          <a:noFill/>
        </p:spPr>
        <p:txBody>
          <a:bodyPr wrap="square" lIns="0" rIns="0" tIns="0" bIns="0">
            <a:spAutoFit/>
          </a:bodyPr>
          <a:lstStyle/>
          <a:p>
            <a:pPr>
              <a:spcAft>
                <a:spcPts val="1200"/>
              </a:spcAft>
            </a:pPr>
            <a:r>
              <a:rPr sz="1800" b="0" i="0">
                <a:solidFill>
                  <a:srgbClr val="000000"/>
                </a:solidFill>
                <a:latin typeface="Cambria"/>
              </a:rPr>
              <a:t>Q1. Do images from current generators obey a single pinhole camera, compared with real photos of similar scenes?</a:t>
            </a:r>
          </a:p>
          <a:p>
            <a:pPr>
              <a:spcAft>
                <a:spcPts val="1200"/>
              </a:spcAft>
            </a:pPr>
            <a:r>
              <a:rPr sz="1800" b="0" i="0">
                <a:solidFill>
                  <a:srgbClr val="000000"/>
                </a:solidFill>
                <a:latin typeface="Cambria"/>
              </a:rPr>
              <a:t>Q2. If not, what fails: the right angles between directions, or the focal length and lens centre agreeing across the image?</a:t>
            </a:r>
          </a:p>
          <a:p>
            <a:pPr>
              <a:spcAft>
                <a:spcPts val="1200"/>
              </a:spcAft>
            </a:pPr>
            <a:r>
              <a:rPr sz="1800" b="0" i="0">
                <a:solidFill>
                  <a:srgbClr val="000000"/>
                </a:solidFill>
                <a:latin typeface="Cambria"/>
              </a:rPr>
              <a:t>Q3. Does the problem shrink as models get bigger, and do Gemini and ChatGPT still show it?</a:t>
            </a:r>
          </a:p>
          <a:p>
            <a:pPr>
              <a:spcAft>
                <a:spcPts val="1200"/>
              </a:spcAft>
            </a:pPr>
            <a:r>
              <a:rPr sz="1800" b="0" i="0">
                <a:solidFill>
                  <a:srgbClr val="000000"/>
                </a:solidFill>
                <a:latin typeface="Cambria"/>
              </a:rPr>
              <a:t>Q4. Can simple, readable residuals compete with learned classifiers at telling real from generated?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Objectives of the Study</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sp>
        <p:nvSpPr>
          <p:cNvPr id="99" name="TextBox 98"/>
          <p:cNvSpPr txBox="1"/>
          <p:nvPr/>
        </p:nvSpPr>
        <p:spPr>
          <a:xfrm>
            <a:off x="841248" y="1325880"/>
            <a:ext cx="731520" cy="731520"/>
          </a:xfrm>
          <a:prstGeom prst="rect">
            <a:avLst/>
          </a:prstGeom>
          <a:noFill/>
        </p:spPr>
        <p:txBody>
          <a:bodyPr wrap="square" lIns="0" rIns="0" tIns="0" bIns="0" anchor="t">
            <a:spAutoFit/>
          </a:bodyPr>
          <a:lstStyle/>
          <a:p>
            <a:pPr algn="l">
              <a:spcAft>
                <a:spcPts val="600"/>
              </a:spcAft>
            </a:pPr>
            <a:r>
              <a:rPr sz="4000" b="1" i="0">
                <a:solidFill>
                  <a:srgbClr val="B01E23"/>
                </a:solidFill>
                <a:latin typeface="Cambria"/>
              </a:rPr>
              <a:t>1</a:t>
            </a:r>
          </a:p>
        </p:txBody>
      </p:sp>
      <p:sp>
        <p:nvSpPr>
          <p:cNvPr id="100" name="TextBox 99"/>
          <p:cNvSpPr txBox="1"/>
          <p:nvPr/>
        </p:nvSpPr>
        <p:spPr>
          <a:xfrm>
            <a:off x="1691640" y="1435607"/>
            <a:ext cx="9646920" cy="1371600"/>
          </a:xfrm>
          <a:prstGeom prst="rect">
            <a:avLst/>
          </a:prstGeom>
          <a:noFill/>
        </p:spPr>
        <p:txBody>
          <a:bodyPr wrap="square" lIns="0" rIns="0" tIns="0" bIns="0" anchor="t">
            <a:spAutoFit/>
          </a:bodyPr>
          <a:lstStyle/>
          <a:p>
            <a:pPr algn="l">
              <a:spcAft>
                <a:spcPts val="600"/>
              </a:spcAft>
            </a:pPr>
            <a:r>
              <a:rPr sz="1900" b="0" i="0">
                <a:solidFill>
                  <a:srgbClr val="000000"/>
                </a:solidFill>
                <a:latin typeface="Cambria"/>
              </a:rPr>
              <a:t>To build and validate a measurement pipeline that tests whether an image's lines are consistent with a single pinhole camera, using synthetic scenes and real photographs with known cameras.</a:t>
            </a:r>
          </a:p>
        </p:txBody>
      </p:sp>
      <p:sp>
        <p:nvSpPr>
          <p:cNvPr id="101" name="TextBox 100"/>
          <p:cNvSpPr txBox="1"/>
          <p:nvPr/>
        </p:nvSpPr>
        <p:spPr>
          <a:xfrm>
            <a:off x="841248" y="2926080"/>
            <a:ext cx="731520" cy="731520"/>
          </a:xfrm>
          <a:prstGeom prst="rect">
            <a:avLst/>
          </a:prstGeom>
          <a:noFill/>
        </p:spPr>
        <p:txBody>
          <a:bodyPr wrap="square" lIns="0" rIns="0" tIns="0" bIns="0" anchor="t">
            <a:spAutoFit/>
          </a:bodyPr>
          <a:lstStyle/>
          <a:p>
            <a:pPr algn="l">
              <a:spcAft>
                <a:spcPts val="600"/>
              </a:spcAft>
            </a:pPr>
            <a:r>
              <a:rPr sz="4000" b="1" i="0">
                <a:solidFill>
                  <a:srgbClr val="B01E23"/>
                </a:solidFill>
                <a:latin typeface="Cambria"/>
              </a:rPr>
              <a:t>2</a:t>
            </a:r>
          </a:p>
        </p:txBody>
      </p:sp>
      <p:sp>
        <p:nvSpPr>
          <p:cNvPr id="102" name="TextBox 101"/>
          <p:cNvSpPr txBox="1"/>
          <p:nvPr/>
        </p:nvSpPr>
        <p:spPr>
          <a:xfrm>
            <a:off x="1691640" y="3035808"/>
            <a:ext cx="9646920" cy="1371600"/>
          </a:xfrm>
          <a:prstGeom prst="rect">
            <a:avLst/>
          </a:prstGeom>
          <a:noFill/>
        </p:spPr>
        <p:txBody>
          <a:bodyPr wrap="square" lIns="0" rIns="0" tIns="0" bIns="0" anchor="t">
            <a:spAutoFit/>
          </a:bodyPr>
          <a:lstStyle/>
          <a:p>
            <a:pPr algn="l">
              <a:spcAft>
                <a:spcPts val="600"/>
              </a:spcAft>
            </a:pPr>
            <a:r>
              <a:rPr sz="1900" b="0" i="0">
                <a:solidFill>
                  <a:srgbClr val="000000"/>
                </a:solidFill>
                <a:latin typeface="Cambria"/>
              </a:rPr>
              <a:t>To compare images from four generators (Stable Diffusion 1.5, SDXL, Gemini and ChatGPT) with two sets of real photographs under matched content, and find which camera rule they break and by how much.</a:t>
            </a:r>
          </a:p>
        </p:txBody>
      </p:sp>
      <p:sp>
        <p:nvSpPr>
          <p:cNvPr id="103" name="TextBox 102"/>
          <p:cNvSpPr txBox="1"/>
          <p:nvPr/>
        </p:nvSpPr>
        <p:spPr>
          <a:xfrm>
            <a:off x="841248" y="4526280"/>
            <a:ext cx="731520" cy="731520"/>
          </a:xfrm>
          <a:prstGeom prst="rect">
            <a:avLst/>
          </a:prstGeom>
          <a:noFill/>
        </p:spPr>
        <p:txBody>
          <a:bodyPr wrap="square" lIns="0" rIns="0" tIns="0" bIns="0" anchor="t">
            <a:spAutoFit/>
          </a:bodyPr>
          <a:lstStyle/>
          <a:p>
            <a:pPr algn="l">
              <a:spcAft>
                <a:spcPts val="600"/>
              </a:spcAft>
            </a:pPr>
            <a:r>
              <a:rPr sz="4000" b="1" i="0">
                <a:solidFill>
                  <a:srgbClr val="B01E23"/>
                </a:solidFill>
                <a:latin typeface="Cambria"/>
              </a:rPr>
              <a:t>3</a:t>
            </a:r>
          </a:p>
        </p:txBody>
      </p:sp>
      <p:sp>
        <p:nvSpPr>
          <p:cNvPr id="104" name="TextBox 103"/>
          <p:cNvSpPr txBox="1"/>
          <p:nvPr/>
        </p:nvSpPr>
        <p:spPr>
          <a:xfrm>
            <a:off x="1691640" y="4636008"/>
            <a:ext cx="9646920" cy="1371600"/>
          </a:xfrm>
          <a:prstGeom prst="rect">
            <a:avLst/>
          </a:prstGeom>
          <a:noFill/>
        </p:spPr>
        <p:txBody>
          <a:bodyPr wrap="square" lIns="0" rIns="0" tIns="0" bIns="0" anchor="t">
            <a:spAutoFit/>
          </a:bodyPr>
          <a:lstStyle/>
          <a:p>
            <a:pPr algn="l">
              <a:spcAft>
                <a:spcPts val="600"/>
              </a:spcAft>
            </a:pPr>
            <a:r>
              <a:rPr sz="1900" b="0" i="0">
                <a:solidFill>
                  <a:srgbClr val="000000"/>
                </a:solidFill>
                <a:latin typeface="Cambria"/>
              </a:rPr>
              <a:t>To build an interactive application that measures any uploaded image, explains the result and gives a calibrated likelihood that the image is AI-generated.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Methodology: Objective-wise Flowchart</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pic>
        <p:nvPicPr>
          <p:cNvPr id="99" name="Picture 98" descr="objective_flowchart.png"/>
          <p:cNvPicPr>
            <a:picLocks noChangeAspect="1"/>
          </p:cNvPicPr>
          <p:nvPr/>
        </p:nvPicPr>
        <p:blipFill>
          <a:blip r:embed="rId2"/>
          <a:stretch>
            <a:fillRect/>
          </a:stretch>
        </p:blipFill>
        <p:spPr>
          <a:xfrm>
            <a:off x="841248" y="1097280"/>
            <a:ext cx="10515600" cy="5214659"/>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Methodology: Techniques</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graphicFrame>
        <p:nvGraphicFramePr>
          <p:cNvPr id="99" name="Table 98"/>
          <p:cNvGraphicFramePr>
            <a:graphicFrameLocks noGrp="1"/>
          </p:cNvGraphicFramePr>
          <p:nvPr/>
        </p:nvGraphicFramePr>
        <p:xfrm>
          <a:off x="841248" y="1188720"/>
          <a:ext cx="10515600" cy="1965960"/>
        </p:xfrm>
        <a:graphic>
          <a:graphicData uri="http://schemas.openxmlformats.org/drawingml/2006/table">
            <a:tbl>
              <a:tblPr firstRow="1" bandRow="1">
                <a:tableStyleId>{252108C0-F26C-423F-91A2-4CEDFFE9ED8A}</a:tableStyleId>
              </a:tblPr>
              <a:tblGrid>
                <a:gridCol w="1554480"/>
                <a:gridCol w="5120640"/>
                <a:gridCol w="2194560"/>
                <a:gridCol w="1645920"/>
              </a:tblGrid>
              <a:tr h="393192">
                <a:tc>
                  <a:txBody>
                    <a:bodyPr/>
                    <a:lstStyle/>
                    <a:p>
                      <a:pPr algn="ctr"/>
                      <a:r>
                        <a:rPr sz="1300" b="1" i="0">
                          <a:solidFill>
                            <a:srgbClr val="000000"/>
                          </a:solidFill>
                          <a:latin typeface="Cambria"/>
                        </a:rPr>
                        <a:t>Level</a:t>
                      </a:r>
                    </a:p>
                  </a:txBody>
                  <a:tcPr anchor="ctr" marL="54864" marR="54864"/>
                </a:tc>
                <a:tc>
                  <a:txBody>
                    <a:bodyPr/>
                    <a:lstStyle/>
                    <a:p>
                      <a:pPr algn="ctr"/>
                      <a:r>
                        <a:rPr sz="1300" b="1" i="0">
                          <a:solidFill>
                            <a:srgbClr val="000000"/>
                          </a:solidFill>
                          <a:latin typeface="Cambria"/>
                        </a:rPr>
                        <a:t>Camera rule</a:t>
                      </a:r>
                    </a:p>
                  </a:txBody>
                  <a:tcPr anchor="ctr" marL="54864" marR="54864"/>
                </a:tc>
                <a:tc>
                  <a:txBody>
                    <a:bodyPr/>
                    <a:lstStyle/>
                    <a:p>
                      <a:pPr algn="ctr"/>
                      <a:r>
                        <a:rPr sz="1300" b="1" i="0">
                          <a:solidFill>
                            <a:srgbClr val="000000"/>
                          </a:solidFill>
                          <a:latin typeface="Cambria"/>
                        </a:rPr>
                        <a:t>Residual (units)</a:t>
                      </a:r>
                    </a:p>
                  </a:txBody>
                  <a:tcPr anchor="ctr" marL="54864" marR="54864"/>
                </a:tc>
                <a:tc>
                  <a:txBody>
                    <a:bodyPr/>
                    <a:lstStyle/>
                    <a:p>
                      <a:pPr algn="ctr"/>
                      <a:r>
                        <a:rPr sz="1300" b="1" i="0">
                          <a:solidFill>
                            <a:srgbClr val="000000"/>
                          </a:solidFill>
                          <a:latin typeface="Cambria"/>
                        </a:rPr>
                        <a:t>Role</a:t>
                      </a:r>
                    </a:p>
                  </a:txBody>
                  <a:tcPr anchor="ctr" marL="54864" marR="54864"/>
                </a:tc>
              </a:tr>
              <a:tr h="393192">
                <a:tc>
                  <a:txBody>
                    <a:bodyPr/>
                    <a:lstStyle/>
                    <a:p>
                      <a:pPr algn="l"/>
                      <a:r>
                        <a:rPr sz="1300" b="0" i="0">
                          <a:solidFill>
                            <a:srgbClr val="000000"/>
                          </a:solidFill>
                          <a:latin typeface="Cambria"/>
                        </a:rPr>
                        <a:t>L2</a:t>
                      </a:r>
                    </a:p>
                  </a:txBody>
                  <a:tcPr anchor="ctr" marL="54864" marR="54864"/>
                </a:tc>
                <a:tc>
                  <a:txBody>
                    <a:bodyPr/>
                    <a:lstStyle/>
                    <a:p>
                      <a:pPr algn="l"/>
                      <a:r>
                        <a:rPr sz="1300" b="0" i="0">
                          <a:solidFill>
                            <a:srgbClr val="000000"/>
                          </a:solidFill>
                          <a:latin typeface="Cambria"/>
                        </a:rPr>
                        <a:t>Lines parallel in 3D meet at one vanishing point</a:t>
                      </a:r>
                    </a:p>
                  </a:txBody>
                  <a:tcPr anchor="ctr" marL="54864" marR="54864"/>
                </a:tc>
                <a:tc>
                  <a:txBody>
                    <a:bodyPr/>
                    <a:lstStyle/>
                    <a:p>
                      <a:pPr algn="l"/>
                      <a:r>
                        <a:rPr sz="1300" b="0" i="0">
                          <a:solidFill>
                            <a:srgbClr val="000000"/>
                          </a:solidFill>
                          <a:latin typeface="Cambria"/>
                        </a:rPr>
                        <a:t>Angle (deg)</a:t>
                      </a:r>
                    </a:p>
                  </a:txBody>
                  <a:tcPr anchor="ctr" marL="54864" marR="54864"/>
                </a:tc>
                <a:tc>
                  <a:txBody>
                    <a:bodyPr/>
                    <a:lstStyle/>
                    <a:p>
                      <a:pPr algn="l"/>
                      <a:r>
                        <a:rPr sz="1300" b="0" i="0">
                          <a:solidFill>
                            <a:srgbClr val="000000"/>
                          </a:solidFill>
                          <a:latin typeface="Cambria"/>
                        </a:rPr>
                        <a:t>Built, validated</a:t>
                      </a:r>
                    </a:p>
                  </a:txBody>
                  <a:tcPr anchor="ctr" marL="54864" marR="54864"/>
                </a:tc>
              </a:tr>
              <a:tr h="393192">
                <a:tc>
                  <a:txBody>
                    <a:bodyPr/>
                    <a:lstStyle/>
                    <a:p>
                      <a:pPr algn="l"/>
                      <a:r>
                        <a:rPr sz="1300" b="0" i="0">
                          <a:solidFill>
                            <a:srgbClr val="000000"/>
                          </a:solidFill>
                          <a:latin typeface="Cambria"/>
                        </a:rPr>
                        <a:t>L3</a:t>
                      </a:r>
                    </a:p>
                  </a:txBody>
                  <a:tcPr anchor="ctr" marL="54864" marR="54864"/>
                </a:tc>
                <a:tc>
                  <a:txBody>
                    <a:bodyPr/>
                    <a:lstStyle/>
                    <a:p>
                      <a:pPr algn="l"/>
                      <a:r>
                        <a:rPr sz="1300" b="0" i="0">
                          <a:solidFill>
                            <a:srgbClr val="000000"/>
                          </a:solidFill>
                          <a:latin typeface="Cambria"/>
                        </a:rPr>
                        <a:t>Three directions at right angles give one focal length and lens centre</a:t>
                      </a:r>
                    </a:p>
                  </a:txBody>
                  <a:tcPr anchor="ctr" marL="54864" marR="54864"/>
                </a:tc>
                <a:tc>
                  <a:txBody>
                    <a:bodyPr/>
                    <a:lstStyle/>
                    <a:p>
                      <a:pPr algn="l"/>
                      <a:r>
                        <a:rPr sz="1300" b="0" i="0">
                          <a:solidFill>
                            <a:srgbClr val="000000"/>
                          </a:solidFill>
                          <a:latin typeface="Cambria"/>
                        </a:rPr>
                        <a:t>Deviation from 90 deg</a:t>
                      </a:r>
                    </a:p>
                  </a:txBody>
                  <a:tcPr anchor="ctr" marL="54864" marR="54864"/>
                </a:tc>
                <a:tc>
                  <a:txBody>
                    <a:bodyPr/>
                    <a:lstStyle/>
                    <a:p>
                      <a:pPr algn="l"/>
                      <a:r>
                        <a:rPr sz="1300" b="0" i="0">
                          <a:solidFill>
                            <a:srgbClr val="000000"/>
                          </a:solidFill>
                          <a:latin typeface="Cambria"/>
                        </a:rPr>
                        <a:t>Secondary</a:t>
                      </a:r>
                    </a:p>
                  </a:txBody>
                  <a:tcPr anchor="ctr" marL="54864" marR="54864"/>
                </a:tc>
              </a:tr>
              <a:tr h="393192">
                <a:tc>
                  <a:txBody>
                    <a:bodyPr/>
                    <a:lstStyle/>
                    <a:p>
                      <a:pPr algn="l"/>
                      <a:r>
                        <a:rPr sz="1300" b="0" i="0">
                          <a:solidFill>
                            <a:srgbClr val="000000"/>
                          </a:solidFill>
                          <a:latin typeface="Cambria"/>
                        </a:rPr>
                        <a:t>L3b (Atlanta)</a:t>
                      </a:r>
                    </a:p>
                  </a:txBody>
                  <a:tcPr anchor="ctr" marL="54864" marR="54864"/>
                </a:tc>
                <a:tc>
                  <a:txBody>
                    <a:bodyPr/>
                    <a:lstStyle/>
                    <a:p>
                      <a:pPr algn="l"/>
                      <a:r>
                        <a:rPr sz="1300" b="0" i="0">
                          <a:solidFill>
                            <a:srgbClr val="000000"/>
                          </a:solidFill>
                          <a:latin typeface="Cambria"/>
                        </a:rPr>
                        <a:t>Every horizontal direction gives the SAME focal length with the vertical</a:t>
                      </a:r>
                    </a:p>
                  </a:txBody>
                  <a:tcPr anchor="ctr" marL="54864" marR="54864"/>
                </a:tc>
                <a:tc>
                  <a:txBody>
                    <a:bodyPr/>
                    <a:lstStyle/>
                    <a:p>
                      <a:pPr algn="l"/>
                      <a:r>
                        <a:rPr sz="1300" b="0" i="0">
                          <a:solidFill>
                            <a:srgbClr val="000000"/>
                          </a:solidFill>
                          <a:latin typeface="Cambria"/>
                        </a:rPr>
                        <a:t>Spread of log focal length</a:t>
                      </a:r>
                    </a:p>
                  </a:txBody>
                  <a:tcPr anchor="ctr" marL="54864" marR="54864"/>
                </a:tc>
                <a:tc>
                  <a:txBody>
                    <a:bodyPr/>
                    <a:lstStyle/>
                    <a:p>
                      <a:pPr algn="l"/>
                      <a:r>
                        <a:rPr sz="1300" b="0" i="0">
                          <a:solidFill>
                            <a:srgbClr val="000000"/>
                          </a:solidFill>
                          <a:latin typeface="Cambria"/>
                        </a:rPr>
                        <a:t>PRIMARY measure</a:t>
                      </a:r>
                    </a:p>
                  </a:txBody>
                  <a:tcPr anchor="ctr" marL="54864" marR="54864"/>
                </a:tc>
              </a:tr>
              <a:tr h="393192">
                <a:tc>
                  <a:txBody>
                    <a:bodyPr/>
                    <a:lstStyle/>
                    <a:p>
                      <a:pPr algn="l"/>
                      <a:r>
                        <a:rPr sz="1300" b="0" i="0">
                          <a:solidFill>
                            <a:srgbClr val="000000"/>
                          </a:solidFill>
                          <a:latin typeface="Cambria"/>
                        </a:rPr>
                        <a:t>L7</a:t>
                      </a:r>
                    </a:p>
                  </a:txBody>
                  <a:tcPr anchor="ctr" marL="54864" marR="54864"/>
                </a:tc>
                <a:tc>
                  <a:txBody>
                    <a:bodyPr/>
                    <a:lstStyle/>
                    <a:p>
                      <a:pPr algn="l"/>
                      <a:r>
                        <a:rPr sz="1300" b="0" i="0">
                          <a:solidFill>
                            <a:srgbClr val="000000"/>
                          </a:solidFill>
                          <a:latin typeface="Cambria"/>
                        </a:rPr>
                        <a:t>All cast shadows agree with one light source</a:t>
                      </a:r>
                    </a:p>
                  </a:txBody>
                  <a:tcPr anchor="ctr" marL="54864" marR="54864"/>
                </a:tc>
                <a:tc>
                  <a:txBody>
                    <a:bodyPr/>
                    <a:lstStyle/>
                    <a:p>
                      <a:pPr algn="l"/>
                      <a:r>
                        <a:rPr sz="1300" b="0" i="0">
                          <a:solidFill>
                            <a:srgbClr val="000000"/>
                          </a:solidFill>
                          <a:latin typeface="Cambria"/>
                        </a:rPr>
                        <a:t>LP violation (px)</a:t>
                      </a:r>
                    </a:p>
                  </a:txBody>
                  <a:tcPr anchor="ctr" marL="54864" marR="54864"/>
                </a:tc>
                <a:tc>
                  <a:txBody>
                    <a:bodyPr/>
                    <a:lstStyle/>
                    <a:p>
                      <a:pPr algn="l"/>
                      <a:r>
                        <a:rPr sz="1300" b="0" i="0">
                          <a:solidFill>
                            <a:srgbClr val="000000"/>
                          </a:solidFill>
                          <a:latin typeface="Cambria"/>
                        </a:rPr>
                        <a:t>Synthetic validation</a:t>
                      </a:r>
                    </a:p>
                  </a:txBody>
                  <a:tcPr anchor="ctr" marL="54864" marR="54864"/>
                </a:tc>
              </a:tr>
            </a:tbl>
          </a:graphicData>
        </a:graphic>
      </p:graphicFrame>
      <p:sp>
        <p:nvSpPr>
          <p:cNvPr id="100" name="Rectangle 99"/>
          <p:cNvSpPr/>
          <p:nvPr/>
        </p:nvSpPr>
        <p:spPr>
          <a:xfrm>
            <a:off x="841248" y="3383280"/>
            <a:ext cx="5120640" cy="2788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051560" y="3520440"/>
            <a:ext cx="4754880" cy="365760"/>
          </a:xfrm>
          <a:prstGeom prst="rect">
            <a:avLst/>
          </a:prstGeom>
          <a:noFill/>
        </p:spPr>
        <p:txBody>
          <a:bodyPr wrap="square" lIns="0" rIns="0" tIns="0" bIns="0" anchor="t">
            <a:spAutoFit/>
          </a:bodyPr>
          <a:lstStyle/>
          <a:p>
            <a:pPr algn="l">
              <a:spcAft>
                <a:spcPts val="600"/>
              </a:spcAft>
            </a:pPr>
            <a:r>
              <a:rPr sz="1500" b="1" i="0">
                <a:solidFill>
                  <a:srgbClr val="B01E23"/>
                </a:solidFill>
                <a:latin typeface="Cambria"/>
              </a:rPr>
              <a:t>FOCAL LENGTH FROM TWO DIRECTIONS</a:t>
            </a:r>
          </a:p>
        </p:txBody>
      </p:sp>
      <p:sp>
        <p:nvSpPr>
          <p:cNvPr id="102" name="TextBox 101"/>
          <p:cNvSpPr txBox="1"/>
          <p:nvPr/>
        </p:nvSpPr>
        <p:spPr>
          <a:xfrm>
            <a:off x="1051560" y="3931920"/>
            <a:ext cx="4754880" cy="457200"/>
          </a:xfrm>
          <a:prstGeom prst="rect">
            <a:avLst/>
          </a:prstGeom>
          <a:noFill/>
        </p:spPr>
        <p:txBody>
          <a:bodyPr wrap="square" lIns="0" rIns="0" tIns="0" bIns="0" anchor="t">
            <a:spAutoFit/>
          </a:bodyPr>
          <a:lstStyle/>
          <a:p>
            <a:pPr algn="l">
              <a:spcAft>
                <a:spcPts val="600"/>
              </a:spcAft>
            </a:pPr>
            <a:r>
              <a:rPr sz="2200" b="1" i="0">
                <a:solidFill>
                  <a:srgbClr val="000000"/>
                </a:solidFill>
                <a:latin typeface="Cambria"/>
              </a:rPr>
              <a:t>f² = −(v₁ − p) · (v₂ − p)</a:t>
            </a:r>
          </a:p>
        </p:txBody>
      </p:sp>
      <p:sp>
        <p:nvSpPr>
          <p:cNvPr id="103" name="TextBox 102"/>
          <p:cNvSpPr txBox="1"/>
          <p:nvPr/>
        </p:nvSpPr>
        <p:spPr>
          <a:xfrm>
            <a:off x="1051560" y="4526280"/>
            <a:ext cx="4754880" cy="1600200"/>
          </a:xfrm>
          <a:prstGeom prst="rect">
            <a:avLst/>
          </a:prstGeom>
          <a:noFill/>
        </p:spPr>
        <p:txBody>
          <a:bodyPr wrap="square" lIns="0" rIns="0" tIns="0" bIns="0" anchor="t">
            <a:spAutoFit/>
          </a:bodyPr>
          <a:lstStyle/>
          <a:p>
            <a:pPr algn="l">
              <a:spcAft>
                <a:spcPts val="800"/>
              </a:spcAft>
            </a:pPr>
            <a:r>
              <a:rPr sz="1500" b="0" i="0">
                <a:solidFill>
                  <a:srgbClr val="000000"/>
                </a:solidFill>
                <a:latin typeface="Cambria"/>
              </a:rPr>
              <a:t>v₁, v₂: vanishing points of two perpendicular directions; p: the image centre.</a:t>
            </a:r>
          </a:p>
          <a:p>
            <a:pPr algn="l">
              <a:spcAft>
                <a:spcPts val="800"/>
              </a:spcAft>
            </a:pPr>
            <a:r>
              <a:rPr sz="1500" b="0" i="0">
                <a:solidFill>
                  <a:srgbClr val="000000"/>
                </a:solidFill>
                <a:latin typeface="Cambria"/>
              </a:rPr>
              <a:t>In a real photo every (vertical, horizontal) pair gives the same focal length. A pair with f² ≤ 0 is one no camera could produce.</a:t>
            </a:r>
          </a:p>
        </p:txBody>
      </p:sp>
      <p:sp>
        <p:nvSpPr>
          <p:cNvPr id="104" name="Rectangle 103"/>
          <p:cNvSpPr/>
          <p:nvPr/>
        </p:nvSpPr>
        <p:spPr>
          <a:xfrm>
            <a:off x="6236208" y="3383280"/>
            <a:ext cx="5120640" cy="2788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446520" y="3520440"/>
            <a:ext cx="4754880" cy="365760"/>
          </a:xfrm>
          <a:prstGeom prst="rect">
            <a:avLst/>
          </a:prstGeom>
          <a:noFill/>
        </p:spPr>
        <p:txBody>
          <a:bodyPr wrap="square" lIns="0" rIns="0" tIns="0" bIns="0" anchor="t">
            <a:spAutoFit/>
          </a:bodyPr>
          <a:lstStyle/>
          <a:p>
            <a:pPr algn="l">
              <a:spcAft>
                <a:spcPts val="600"/>
              </a:spcAft>
            </a:pPr>
            <a:r>
              <a:rPr sz="1500" b="1" i="0">
                <a:solidFill>
                  <a:srgbClr val="B01E23"/>
                </a:solidFill>
                <a:latin typeface="Cambria"/>
              </a:rPr>
              <a:t>APPLICABILITY RULE (EVIDENCE ONLY)</a:t>
            </a:r>
          </a:p>
        </p:txBody>
      </p:sp>
      <p:sp>
        <p:nvSpPr>
          <p:cNvPr id="106" name="TextBox 105"/>
          <p:cNvSpPr txBox="1"/>
          <p:nvPr/>
        </p:nvSpPr>
        <p:spPr>
          <a:xfrm>
            <a:off x="6446520" y="3977639"/>
            <a:ext cx="4754880" cy="2148840"/>
          </a:xfrm>
          <a:prstGeom prst="rect">
            <a:avLst/>
          </a:prstGeom>
          <a:noFill/>
        </p:spPr>
        <p:txBody>
          <a:bodyPr wrap="square" lIns="0" rIns="0" tIns="0" bIns="0">
            <a:spAutoFit/>
          </a:bodyPr>
          <a:lstStyle/>
          <a:p>
            <a:pPr>
              <a:spcAft>
                <a:spcPts val="600"/>
              </a:spcAft>
            </a:pPr>
            <a:r>
              <a:rPr sz="1500" b="0" i="0">
                <a:solidFill>
                  <a:srgbClr val="000000"/>
                </a:solidFill>
                <a:latin typeface="Cambria"/>
              </a:rPr>
              <a:t>•  3 line families, each at least 8% of the line length</a:t>
            </a:r>
          </a:p>
          <a:p>
            <a:pPr>
              <a:spcAft>
                <a:spcPts val="600"/>
              </a:spcAft>
            </a:pPr>
            <a:r>
              <a:rPr sz="1500" b="0" i="0">
                <a:solidFill>
                  <a:srgbClr val="000000"/>
                </a:solidFill>
                <a:latin typeface="Cambria"/>
              </a:rPr>
              <a:t>•  each vanishing point pinned to under 1 deg (bootstrap)</a:t>
            </a:r>
          </a:p>
          <a:p>
            <a:pPr>
              <a:spcAft>
                <a:spcPts val="600"/>
              </a:spcAft>
            </a:pPr>
            <a:r>
              <a:rPr sz="1500" b="0" i="0">
                <a:solidFill>
                  <a:srgbClr val="000000"/>
                </a:solidFill>
                <a:latin typeface="Cambria"/>
              </a:rPr>
              <a:t>•  pairs at least 10 deg apart, and 5 times their uncertainty</a:t>
            </a:r>
          </a:p>
          <a:p>
            <a:pPr>
              <a:spcAft>
                <a:spcPts val="600"/>
              </a:spcAft>
            </a:pPr>
            <a:r>
              <a:rPr sz="1500" b="0" i="0">
                <a:solidFill>
                  <a:srgbClr val="000000"/>
                </a:solidFill>
                <a:latin typeface="Cambria"/>
              </a:rPr>
              <a:t>•  never uses the residual, so it cannot bias the test</a:t>
            </a:r>
          </a:p>
          <a:p>
            <a:pPr>
              <a:spcAft>
                <a:spcPts val="600"/>
              </a:spcAft>
            </a:pPr>
            <a:r>
              <a:rPr sz="1500" b="0" i="0">
                <a:solidFill>
                  <a:srgbClr val="000000"/>
                </a:solidFill>
                <a:latin typeface="Cambria"/>
              </a:rPr>
              <a:t>•  LSD lines, sequential RANSAC, NO right-angle prior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Methodology: Data Acquisition and Tools</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graphicFrame>
        <p:nvGraphicFramePr>
          <p:cNvPr id="99" name="Table 98"/>
          <p:cNvGraphicFramePr>
            <a:graphicFrameLocks noGrp="1"/>
          </p:cNvGraphicFramePr>
          <p:nvPr/>
        </p:nvGraphicFramePr>
        <p:xfrm>
          <a:off x="841248" y="1188720"/>
          <a:ext cx="6903720" cy="3566160"/>
        </p:xfrm>
        <a:graphic>
          <a:graphicData uri="http://schemas.openxmlformats.org/drawingml/2006/table">
            <a:tbl>
              <a:tblPr firstRow="1" bandRow="1">
                <a:tableStyleId>{252108C0-F26C-423F-91A2-4CEDFFE9ED8A}</a:tableStyleId>
              </a:tblPr>
              <a:tblGrid>
                <a:gridCol w="2240280"/>
                <a:gridCol w="1051560"/>
                <a:gridCol w="3611880"/>
              </a:tblGrid>
              <a:tr h="445770">
                <a:tc>
                  <a:txBody>
                    <a:bodyPr/>
                    <a:lstStyle/>
                    <a:p>
                      <a:pPr algn="ctr"/>
                      <a:r>
                        <a:rPr sz="1250" b="1" i="0">
                          <a:solidFill>
                            <a:srgbClr val="000000"/>
                          </a:solidFill>
                          <a:latin typeface="Cambria"/>
                        </a:rPr>
                        <a:t>Dataset</a:t>
                      </a:r>
                    </a:p>
                  </a:txBody>
                  <a:tcPr anchor="ctr" marL="54864" marR="54864"/>
                </a:tc>
                <a:tc>
                  <a:txBody>
                    <a:bodyPr/>
                    <a:lstStyle/>
                    <a:p>
                      <a:pPr algn="ctr"/>
                      <a:r>
                        <a:rPr sz="1250" b="1" i="0">
                          <a:solidFill>
                            <a:srgbClr val="000000"/>
                          </a:solidFill>
                          <a:latin typeface="Cambria"/>
                        </a:rPr>
                        <a:t>Images</a:t>
                      </a:r>
                    </a:p>
                  </a:txBody>
                  <a:tcPr anchor="ctr" marL="54864" marR="54864"/>
                </a:tc>
                <a:tc>
                  <a:txBody>
                    <a:bodyPr/>
                    <a:lstStyle/>
                    <a:p>
                      <a:pPr algn="ctr"/>
                      <a:r>
                        <a:rPr sz="1250" b="1" i="0">
                          <a:solidFill>
                            <a:srgbClr val="000000"/>
                          </a:solidFill>
                          <a:latin typeface="Cambria"/>
                        </a:rPr>
                        <a:t>Role</a:t>
                      </a:r>
                    </a:p>
                  </a:txBody>
                  <a:tcPr anchor="ctr" marL="54864" marR="54864"/>
                </a:tc>
              </a:tr>
              <a:tr h="445770">
                <a:tc>
                  <a:txBody>
                    <a:bodyPr/>
                    <a:lstStyle/>
                    <a:p>
                      <a:pPr algn="l"/>
                      <a:r>
                        <a:rPr sz="1250" b="0" i="0">
                          <a:solidFill>
                            <a:srgbClr val="000000"/>
                          </a:solidFill>
                          <a:latin typeface="Cambria"/>
                        </a:rPr>
                        <a:t>York Urban</a:t>
                      </a:r>
                    </a:p>
                  </a:txBody>
                  <a:tcPr anchor="ctr" marL="54864" marR="54864"/>
                </a:tc>
                <a:tc>
                  <a:txBody>
                    <a:bodyPr/>
                    <a:lstStyle/>
                    <a:p>
                      <a:pPr algn="l"/>
                      <a:r>
                        <a:rPr sz="1250" b="0" i="0">
                          <a:solidFill>
                            <a:srgbClr val="000000"/>
                          </a:solidFill>
                          <a:latin typeface="Cambria"/>
                        </a:rPr>
                        <a:t>102</a:t>
                      </a:r>
                    </a:p>
                  </a:txBody>
                  <a:tcPr anchor="ctr" marL="54864" marR="54864"/>
                </a:tc>
                <a:tc>
                  <a:txBody>
                    <a:bodyPr/>
                    <a:lstStyle/>
                    <a:p>
                      <a:pPr algn="l"/>
                      <a:r>
                        <a:rPr sz="1250" b="0" i="0">
                          <a:solidFill>
                            <a:srgbClr val="000000"/>
                          </a:solidFill>
                          <a:latin typeface="Cambria"/>
                        </a:rPr>
                        <a:t>Hand-picked real photos with true vanishing points</a:t>
                      </a:r>
                    </a:p>
                  </a:txBody>
                  <a:tcPr anchor="ctr" marL="54864" marR="54864"/>
                </a:tc>
              </a:tr>
              <a:tr h="445770">
                <a:tc>
                  <a:txBody>
                    <a:bodyPr/>
                    <a:lstStyle/>
                    <a:p>
                      <a:pPr algn="l"/>
                      <a:r>
                        <a:rPr sz="1250" b="0" i="0">
                          <a:solidFill>
                            <a:srgbClr val="000000"/>
                          </a:solidFill>
                          <a:latin typeface="Cambria"/>
                        </a:rPr>
                        <a:t>Wikimedia Commons</a:t>
                      </a:r>
                    </a:p>
                  </a:txBody>
                  <a:tcPr anchor="ctr" marL="54864" marR="54864"/>
                </a:tc>
                <a:tc>
                  <a:txBody>
                    <a:bodyPr/>
                    <a:lstStyle/>
                    <a:p>
                      <a:pPr algn="l"/>
                      <a:r>
                        <a:rPr sz="1250" b="0" i="0">
                          <a:solidFill>
                            <a:srgbClr val="000000"/>
                          </a:solidFill>
                          <a:latin typeface="Cambria"/>
                        </a:rPr>
                        <a:t>358</a:t>
                      </a:r>
                    </a:p>
                  </a:txBody>
                  <a:tcPr anchor="ctr" marL="54864" marR="54864"/>
                </a:tc>
                <a:tc>
                  <a:txBody>
                    <a:bodyPr/>
                    <a:lstStyle/>
                    <a:p>
                      <a:pPr algn="l"/>
                      <a:r>
                        <a:rPr sz="1250" b="0" i="0">
                          <a:solidFill>
                            <a:srgbClr val="000000"/>
                          </a:solidFill>
                          <a:latin typeface="Cambria"/>
                        </a:rPr>
                        <a:t>Ordinary real photos, 135 camera models, EXIF focal length</a:t>
                      </a:r>
                    </a:p>
                  </a:txBody>
                  <a:tcPr anchor="ctr" marL="54864" marR="54864"/>
                </a:tc>
              </a:tr>
              <a:tr h="445770">
                <a:tc>
                  <a:txBody>
                    <a:bodyPr/>
                    <a:lstStyle/>
                    <a:p>
                      <a:pPr algn="l"/>
                      <a:r>
                        <a:rPr sz="1250" b="0" i="0">
                          <a:solidFill>
                            <a:srgbClr val="000000"/>
                          </a:solidFill>
                          <a:latin typeface="Cambria"/>
                        </a:rPr>
                        <a:t>Stable Diffusion 1.5</a:t>
                      </a:r>
                    </a:p>
                  </a:txBody>
                  <a:tcPr anchor="ctr" marL="54864" marR="54864"/>
                </a:tc>
                <a:tc>
                  <a:txBody>
                    <a:bodyPr/>
                    <a:lstStyle/>
                    <a:p>
                      <a:pPr algn="l"/>
                      <a:r>
                        <a:rPr sz="1250" b="0" i="0">
                          <a:solidFill>
                            <a:srgbClr val="000000"/>
                          </a:solidFill>
                          <a:latin typeface="Cambria"/>
                        </a:rPr>
                        <a:t>450</a:t>
                      </a:r>
                    </a:p>
                  </a:txBody>
                  <a:tcPr anchor="ctr" marL="54864" marR="54864"/>
                </a:tc>
                <a:tc>
                  <a:txBody>
                    <a:bodyPr/>
                    <a:lstStyle/>
                    <a:p>
                      <a:pPr algn="l"/>
                      <a:r>
                        <a:rPr sz="1250" b="0" i="0">
                          <a:solidFill>
                            <a:srgbClr val="000000"/>
                          </a:solidFill>
                          <a:latin typeface="Cambria"/>
                        </a:rPr>
                        <a:t>Older open model, run on our GPU, settings logged</a:t>
                      </a:r>
                    </a:p>
                  </a:txBody>
                  <a:tcPr anchor="ctr" marL="54864" marR="54864"/>
                </a:tc>
              </a:tr>
              <a:tr h="445770">
                <a:tc>
                  <a:txBody>
                    <a:bodyPr/>
                    <a:lstStyle/>
                    <a:p>
                      <a:pPr algn="l"/>
                      <a:r>
                        <a:rPr sz="1250" b="0" i="0">
                          <a:solidFill>
                            <a:srgbClr val="000000"/>
                          </a:solidFill>
                          <a:latin typeface="Cambria"/>
                        </a:rPr>
                        <a:t>SDXL</a:t>
                      </a:r>
                    </a:p>
                  </a:txBody>
                  <a:tcPr anchor="ctr" marL="54864" marR="54864"/>
                </a:tc>
                <a:tc>
                  <a:txBody>
                    <a:bodyPr/>
                    <a:lstStyle/>
                    <a:p>
                      <a:pPr algn="l"/>
                      <a:r>
                        <a:rPr sz="1250" b="0" i="0">
                          <a:solidFill>
                            <a:srgbClr val="000000"/>
                          </a:solidFill>
                          <a:latin typeface="Cambria"/>
                        </a:rPr>
                        <a:t>650</a:t>
                      </a:r>
                    </a:p>
                  </a:txBody>
                  <a:tcPr anchor="ctr" marL="54864" marR="54864"/>
                </a:tc>
                <a:tc>
                  <a:txBody>
                    <a:bodyPr/>
                    <a:lstStyle/>
                    <a:p>
                      <a:pPr algn="l"/>
                      <a:r>
                        <a:rPr sz="1250" b="0" i="0">
                          <a:solidFill>
                            <a:srgbClr val="000000"/>
                          </a:solidFill>
                          <a:latin typeface="Cambria"/>
                        </a:rPr>
                        <a:t>Newer open model, run on our GPU, settings logged</a:t>
                      </a:r>
                    </a:p>
                  </a:txBody>
                  <a:tcPr anchor="ctr" marL="54864" marR="54864"/>
                </a:tc>
              </a:tr>
              <a:tr h="445770">
                <a:tc>
                  <a:txBody>
                    <a:bodyPr/>
                    <a:lstStyle/>
                    <a:p>
                      <a:pPr algn="l"/>
                      <a:r>
                        <a:rPr sz="1250" b="0" i="0">
                          <a:solidFill>
                            <a:srgbClr val="000000"/>
                          </a:solidFill>
                          <a:latin typeface="Cambria"/>
                        </a:rPr>
                        <a:t>Gemini (“nano banana”)</a:t>
                      </a:r>
                    </a:p>
                  </a:txBody>
                  <a:tcPr anchor="ctr" marL="54864" marR="54864"/>
                </a:tc>
                <a:tc>
                  <a:txBody>
                    <a:bodyPr/>
                    <a:lstStyle/>
                    <a:p>
                      <a:pPr algn="l"/>
                      <a:r>
                        <a:rPr sz="1250" b="0" i="0">
                          <a:solidFill>
                            <a:srgbClr val="000000"/>
                          </a:solidFill>
                          <a:latin typeface="Cambria"/>
                        </a:rPr>
                        <a:t>181</a:t>
                      </a:r>
                    </a:p>
                  </a:txBody>
                  <a:tcPr anchor="ctr" marL="54864" marR="54864"/>
                </a:tc>
                <a:tc>
                  <a:txBody>
                    <a:bodyPr/>
                    <a:lstStyle/>
                    <a:p>
                      <a:pPr algn="l"/>
                      <a:r>
                        <a:rPr sz="1250" b="0" i="0">
                          <a:solidFill>
                            <a:srgbClr val="000000"/>
                          </a:solidFill>
                          <a:latin typeface="Cambria"/>
                        </a:rPr>
                        <a:t>Closed frontier model, September 2026</a:t>
                      </a:r>
                    </a:p>
                  </a:txBody>
                  <a:tcPr anchor="ctr" marL="54864" marR="54864"/>
                </a:tc>
              </a:tr>
              <a:tr h="445770">
                <a:tc>
                  <a:txBody>
                    <a:bodyPr/>
                    <a:lstStyle/>
                    <a:p>
                      <a:pPr algn="l"/>
                      <a:r>
                        <a:rPr sz="1250" b="0" i="0">
                          <a:solidFill>
                            <a:srgbClr val="000000"/>
                          </a:solidFill>
                          <a:latin typeface="Cambria"/>
                        </a:rPr>
                        <a:t>ChatGPT image model</a:t>
                      </a:r>
                    </a:p>
                  </a:txBody>
                  <a:tcPr anchor="ctr" marL="54864" marR="54864"/>
                </a:tc>
                <a:tc>
                  <a:txBody>
                    <a:bodyPr/>
                    <a:lstStyle/>
                    <a:p>
                      <a:pPr algn="l"/>
                      <a:r>
                        <a:rPr sz="1250" b="0" i="0">
                          <a:solidFill>
                            <a:srgbClr val="000000"/>
                          </a:solidFill>
                          <a:latin typeface="Cambria"/>
                        </a:rPr>
                        <a:t>51</a:t>
                      </a:r>
                    </a:p>
                  </a:txBody>
                  <a:tcPr anchor="ctr" marL="54864" marR="54864"/>
                </a:tc>
                <a:tc>
                  <a:txBody>
                    <a:bodyPr/>
                    <a:lstStyle/>
                    <a:p>
                      <a:pPr algn="l"/>
                      <a:r>
                        <a:rPr sz="1250" b="0" i="0">
                          <a:solidFill>
                            <a:srgbClr val="000000"/>
                          </a:solidFill>
                          <a:latin typeface="Cambria"/>
                        </a:rPr>
                        <a:t>Closed frontier model, September 2026</a:t>
                      </a:r>
                    </a:p>
                  </a:txBody>
                  <a:tcPr anchor="ctr" marL="54864" marR="54864"/>
                </a:tc>
              </a:tr>
              <a:tr h="445770">
                <a:tc>
                  <a:txBody>
                    <a:bodyPr/>
                    <a:lstStyle/>
                    <a:p>
                      <a:pPr algn="l"/>
                      <a:r>
                        <a:rPr sz="1250" b="0" i="0">
                          <a:solidFill>
                            <a:srgbClr val="000000"/>
                          </a:solidFill>
                          <a:latin typeface="Cambria"/>
                        </a:rPr>
                        <a:t>Synthetic scenes</a:t>
                      </a:r>
                    </a:p>
                  </a:txBody>
                  <a:tcPr anchor="ctr" marL="54864" marR="54864"/>
                </a:tc>
                <a:tc>
                  <a:txBody>
                    <a:bodyPr/>
                    <a:lstStyle/>
                    <a:p>
                      <a:pPr algn="l"/>
                      <a:r>
                        <a:rPr sz="1250" b="0" i="0">
                          <a:solidFill>
                            <a:srgbClr val="000000"/>
                          </a:solidFill>
                          <a:latin typeface="Cambria"/>
                        </a:rPr>
                        <a:t>on demand</a:t>
                      </a:r>
                    </a:p>
                  </a:txBody>
                  <a:tcPr anchor="ctr" marL="54864" marR="54864"/>
                </a:tc>
                <a:tc>
                  <a:txBody>
                    <a:bodyPr/>
                    <a:lstStyle/>
                    <a:p>
                      <a:pPr algn="l"/>
                      <a:r>
                        <a:rPr sz="1250" b="0" i="0">
                          <a:solidFill>
                            <a:srgbClr val="000000"/>
                          </a:solidFill>
                          <a:latin typeface="Cambria"/>
                        </a:rPr>
                        <a:t>Known cameras and injected violations, for testing</a:t>
                      </a:r>
                    </a:p>
                  </a:txBody>
                  <a:tcPr anchor="ctr" marL="54864" marR="54864"/>
                </a:tc>
              </a:tr>
            </a:tbl>
          </a:graphicData>
        </a:graphic>
      </p:graphicFrame>
      <p:sp>
        <p:nvSpPr>
          <p:cNvPr id="100" name="TextBox 99"/>
          <p:cNvSpPr txBox="1"/>
          <p:nvPr/>
        </p:nvSpPr>
        <p:spPr>
          <a:xfrm>
            <a:off x="841248" y="4983480"/>
            <a:ext cx="6903720" cy="1188720"/>
          </a:xfrm>
          <a:prstGeom prst="rect">
            <a:avLst/>
          </a:prstGeom>
          <a:noFill/>
        </p:spPr>
        <p:txBody>
          <a:bodyPr wrap="square" lIns="0" rIns="0" tIns="0" bIns="0" anchor="t">
            <a:spAutoFit/>
          </a:bodyPr>
          <a:lstStyle/>
          <a:p>
            <a:pPr algn="l">
              <a:spcAft>
                <a:spcPts val="600"/>
              </a:spcAft>
            </a:pPr>
            <a:r>
              <a:rPr sz="1400" b="0" i="1">
                <a:solidFill>
                  <a:srgbClr val="555555"/>
                </a:solidFill>
                <a:latin typeface="Cambria"/>
              </a:rPr>
              <a:t>Three prompt sets with content matched by construction. Every comparison stays within one prompt set, so a model is never compared on different scenes.</a:t>
            </a:r>
          </a:p>
        </p:txBody>
      </p:sp>
      <p:sp>
        <p:nvSpPr>
          <p:cNvPr id="101" name="Rectangle 100"/>
          <p:cNvSpPr/>
          <p:nvPr/>
        </p:nvSpPr>
        <p:spPr>
          <a:xfrm>
            <a:off x="8001000" y="1188720"/>
            <a:ext cx="3355848" cy="4983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183879" y="1325880"/>
            <a:ext cx="3017520" cy="365760"/>
          </a:xfrm>
          <a:prstGeom prst="rect">
            <a:avLst/>
          </a:prstGeom>
          <a:noFill/>
        </p:spPr>
        <p:txBody>
          <a:bodyPr wrap="square" lIns="0" rIns="0" tIns="0" bIns="0" anchor="t">
            <a:spAutoFit/>
          </a:bodyPr>
          <a:lstStyle/>
          <a:p>
            <a:pPr algn="l">
              <a:spcAft>
                <a:spcPts val="600"/>
              </a:spcAft>
            </a:pPr>
            <a:r>
              <a:rPr sz="1500" b="1" i="0">
                <a:solidFill>
                  <a:srgbClr val="B01E23"/>
                </a:solidFill>
                <a:latin typeface="Cambria"/>
              </a:rPr>
              <a:t>TOOLS</a:t>
            </a:r>
          </a:p>
        </p:txBody>
      </p:sp>
      <p:sp>
        <p:nvSpPr>
          <p:cNvPr id="103" name="TextBox 102"/>
          <p:cNvSpPr txBox="1"/>
          <p:nvPr/>
        </p:nvSpPr>
        <p:spPr>
          <a:xfrm>
            <a:off x="8183879" y="1783080"/>
            <a:ext cx="3017520" cy="2377440"/>
          </a:xfrm>
          <a:prstGeom prst="rect">
            <a:avLst/>
          </a:prstGeom>
          <a:noFill/>
        </p:spPr>
        <p:txBody>
          <a:bodyPr wrap="square" lIns="0" rIns="0" tIns="0" bIns="0">
            <a:spAutoFit/>
          </a:bodyPr>
          <a:lstStyle/>
          <a:p>
            <a:pPr>
              <a:spcAft>
                <a:spcPts val="500"/>
              </a:spcAft>
            </a:pPr>
            <a:r>
              <a:rPr sz="1400" b="0" i="0">
                <a:solidFill>
                  <a:srgbClr val="000000"/>
                </a:solidFill>
                <a:latin typeface="Cambria"/>
              </a:rPr>
              <a:t>•  Python 3.14, OpenCV 4.13 (LSD)</a:t>
            </a:r>
          </a:p>
          <a:p>
            <a:pPr>
              <a:spcAft>
                <a:spcPts val="500"/>
              </a:spcAft>
            </a:pPr>
            <a:r>
              <a:rPr sz="1400" b="0" i="0">
                <a:solidFill>
                  <a:srgbClr val="000000"/>
                </a:solidFill>
                <a:latin typeface="Cambria"/>
              </a:rPr>
              <a:t>•  NumPy, SciPy (least squares, LP)</a:t>
            </a:r>
          </a:p>
          <a:p>
            <a:pPr>
              <a:spcAft>
                <a:spcPts val="500"/>
              </a:spcAft>
            </a:pPr>
            <a:r>
              <a:rPr sz="1400" b="0" i="0">
                <a:solidFill>
                  <a:srgbClr val="000000"/>
                </a:solidFill>
                <a:latin typeface="Cambria"/>
              </a:rPr>
              <a:t>•  scikit-learn, statsmodels</a:t>
            </a:r>
          </a:p>
          <a:p>
            <a:pPr>
              <a:spcAft>
                <a:spcPts val="500"/>
              </a:spcAft>
            </a:pPr>
            <a:r>
              <a:rPr sz="1400" b="0" i="0">
                <a:solidFill>
                  <a:srgbClr val="000000"/>
                </a:solidFill>
                <a:latin typeface="Cambria"/>
              </a:rPr>
              <a:t>•  PyTorch 2.14, diffusers 0.40</a:t>
            </a:r>
          </a:p>
          <a:p>
            <a:pPr>
              <a:spcAft>
                <a:spcPts val="500"/>
              </a:spcAft>
            </a:pPr>
            <a:r>
              <a:rPr sz="1400" b="0" i="0">
                <a:solidFill>
                  <a:srgbClr val="000000"/>
                </a:solidFill>
                <a:latin typeface="Cambria"/>
              </a:rPr>
              <a:t>•  Streamlit 1.58 (demo app)</a:t>
            </a:r>
          </a:p>
          <a:p>
            <a:pPr>
              <a:spcAft>
                <a:spcPts val="500"/>
              </a:spcAft>
            </a:pPr>
            <a:r>
              <a:rPr sz="1400" b="0" i="0">
                <a:solidFill>
                  <a:srgbClr val="000000"/>
                </a:solidFill>
                <a:latin typeface="Cambria"/>
              </a:rPr>
              <a:t>•  RTX 5060 Laptop GPU, 8 GB</a:t>
            </a:r>
          </a:p>
        </p:txBody>
      </p:sp>
      <p:sp>
        <p:nvSpPr>
          <p:cNvPr id="104" name="TextBox 103"/>
          <p:cNvSpPr txBox="1"/>
          <p:nvPr/>
        </p:nvSpPr>
        <p:spPr>
          <a:xfrm>
            <a:off x="8183879" y="4069080"/>
            <a:ext cx="3017520" cy="365760"/>
          </a:xfrm>
          <a:prstGeom prst="rect">
            <a:avLst/>
          </a:prstGeom>
          <a:noFill/>
        </p:spPr>
        <p:txBody>
          <a:bodyPr wrap="square" lIns="0" rIns="0" tIns="0" bIns="0" anchor="t">
            <a:spAutoFit/>
          </a:bodyPr>
          <a:lstStyle/>
          <a:p>
            <a:pPr algn="l">
              <a:spcAft>
                <a:spcPts val="600"/>
              </a:spcAft>
            </a:pPr>
            <a:r>
              <a:rPr sz="1500" b="1" i="0">
                <a:solidFill>
                  <a:srgbClr val="B01E23"/>
                </a:solidFill>
                <a:latin typeface="Cambria"/>
              </a:rPr>
              <a:t>STATISTICS</a:t>
            </a:r>
          </a:p>
        </p:txBody>
      </p:sp>
      <p:sp>
        <p:nvSpPr>
          <p:cNvPr id="105" name="TextBox 104"/>
          <p:cNvSpPr txBox="1"/>
          <p:nvPr/>
        </p:nvSpPr>
        <p:spPr>
          <a:xfrm>
            <a:off x="8183879" y="4526280"/>
            <a:ext cx="3017520" cy="1508760"/>
          </a:xfrm>
          <a:prstGeom prst="rect">
            <a:avLst/>
          </a:prstGeom>
          <a:noFill/>
        </p:spPr>
        <p:txBody>
          <a:bodyPr wrap="square" lIns="0" rIns="0" tIns="0" bIns="0">
            <a:spAutoFit/>
          </a:bodyPr>
          <a:lstStyle/>
          <a:p>
            <a:pPr>
              <a:spcAft>
                <a:spcPts val="500"/>
              </a:spcAft>
            </a:pPr>
            <a:r>
              <a:rPr sz="1400" b="0" i="0">
                <a:solidFill>
                  <a:srgbClr val="000000"/>
                </a:solidFill>
                <a:latin typeface="Cambria"/>
              </a:rPr>
              <a:t>•  Bootstrap 95% CI (2000 resamples)</a:t>
            </a:r>
          </a:p>
          <a:p>
            <a:pPr>
              <a:spcAft>
                <a:spcPts val="500"/>
              </a:spcAft>
            </a:pPr>
            <a:r>
              <a:rPr sz="1400" b="0" i="0">
                <a:solidFill>
                  <a:srgbClr val="000000"/>
                </a:solidFill>
                <a:latin typeface="Cambria"/>
              </a:rPr>
              <a:t>•  Wilson intervals, Mann-Whitney</a:t>
            </a:r>
          </a:p>
          <a:p>
            <a:pPr>
              <a:spcAft>
                <a:spcPts val="500"/>
              </a:spcAft>
            </a:pPr>
            <a:r>
              <a:rPr sz="1400" b="0" i="0">
                <a:solidFill>
                  <a:srgbClr val="000000"/>
                </a:solidFill>
                <a:latin typeface="Cambria"/>
              </a:rPr>
              <a:t>•  5-fold cross-validation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Methodology: Demonstration App Workflow</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pic>
        <p:nvPicPr>
          <p:cNvPr id="99" name="Picture 98" descr="app_workflow_slide.png"/>
          <p:cNvPicPr>
            <a:picLocks noChangeAspect="1"/>
          </p:cNvPicPr>
          <p:nvPr/>
        </p:nvPicPr>
        <p:blipFill>
          <a:blip r:embed="rId2"/>
          <a:stretch>
            <a:fillRect/>
          </a:stretch>
        </p:blipFill>
        <p:spPr>
          <a:xfrm>
            <a:off x="612648" y="1097280"/>
            <a:ext cx="10972800" cy="4557932"/>
          </a:xfrm>
          <a:prstGeom prst="rect">
            <a:avLst/>
          </a:prstGeom>
        </p:spPr>
      </p:pic>
      <p:sp>
        <p:nvSpPr>
          <p:cNvPr id="100" name="TextBox 99"/>
          <p:cNvSpPr txBox="1"/>
          <p:nvPr/>
        </p:nvSpPr>
        <p:spPr>
          <a:xfrm>
            <a:off x="841248" y="5760720"/>
            <a:ext cx="10515600" cy="457200"/>
          </a:xfrm>
          <a:prstGeom prst="rect">
            <a:avLst/>
          </a:prstGeom>
          <a:noFill/>
        </p:spPr>
        <p:txBody>
          <a:bodyPr wrap="square" lIns="0" rIns="0" tIns="0" bIns="0" anchor="t">
            <a:spAutoFit/>
          </a:bodyPr>
          <a:lstStyle/>
          <a:p>
            <a:pPr algn="l">
              <a:spcAft>
                <a:spcPts val="600"/>
              </a:spcAft>
            </a:pPr>
            <a:r>
              <a:rPr sz="1400" b="0" i="1">
                <a:solidFill>
                  <a:srgbClr val="555555"/>
                </a:solidFill>
                <a:latin typeface="Cambria"/>
              </a:rPr>
              <a:t>Streamlit app on the same per-image code as the report. The model sees only the ten measurements; the built-in examples were held out of training.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Results and Discussion (1/4)</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sp>
        <p:nvSpPr>
          <p:cNvPr id="99" name="TextBox 98"/>
          <p:cNvSpPr txBox="1"/>
          <p:nvPr/>
        </p:nvSpPr>
        <p:spPr>
          <a:xfrm>
            <a:off x="841248" y="987552"/>
            <a:ext cx="10515600" cy="411480"/>
          </a:xfrm>
          <a:prstGeom prst="rect">
            <a:avLst/>
          </a:prstGeom>
          <a:noFill/>
        </p:spPr>
        <p:txBody>
          <a:bodyPr wrap="square" lIns="0" rIns="0" tIns="0" bIns="0" anchor="t">
            <a:spAutoFit/>
          </a:bodyPr>
          <a:lstStyle/>
          <a:p>
            <a:pPr algn="l">
              <a:spcAft>
                <a:spcPts val="600"/>
              </a:spcAft>
            </a:pPr>
            <a:r>
              <a:rPr sz="1900" b="1" i="1">
                <a:solidFill>
                  <a:srgbClr val="B01E23"/>
                </a:solidFill>
                <a:latin typeface="Cambria"/>
              </a:rPr>
              <a:t>The measurement recovers real cameras</a:t>
            </a:r>
          </a:p>
        </p:txBody>
      </p:sp>
      <p:sp>
        <p:nvSpPr>
          <p:cNvPr id="100" name="TextBox 99"/>
          <p:cNvSpPr txBox="1"/>
          <p:nvPr/>
        </p:nvSpPr>
        <p:spPr>
          <a:xfrm>
            <a:off x="841248" y="1463040"/>
            <a:ext cx="2514600" cy="640080"/>
          </a:xfrm>
          <a:prstGeom prst="rect">
            <a:avLst/>
          </a:prstGeom>
          <a:noFill/>
        </p:spPr>
        <p:txBody>
          <a:bodyPr wrap="square" lIns="0" rIns="0" tIns="0" bIns="0" anchor="t">
            <a:spAutoFit/>
          </a:bodyPr>
          <a:lstStyle/>
          <a:p>
            <a:pPr algn="ctr">
              <a:spcAft>
                <a:spcPts val="600"/>
              </a:spcAft>
            </a:pPr>
            <a:r>
              <a:rPr sz="3200" b="1" i="0">
                <a:solidFill>
                  <a:srgbClr val="B01E23"/>
                </a:solidFill>
                <a:latin typeface="Cambria"/>
              </a:rPr>
              <a:t>0.3°</a:t>
            </a:r>
          </a:p>
        </p:txBody>
      </p:sp>
      <p:sp>
        <p:nvSpPr>
          <p:cNvPr id="101" name="TextBox 100"/>
          <p:cNvSpPr txBox="1"/>
          <p:nvPr/>
        </p:nvSpPr>
        <p:spPr>
          <a:xfrm>
            <a:off x="841248" y="2103120"/>
            <a:ext cx="2514600" cy="640080"/>
          </a:xfrm>
          <a:prstGeom prst="rect">
            <a:avLst/>
          </a:prstGeom>
          <a:noFill/>
        </p:spPr>
        <p:txBody>
          <a:bodyPr wrap="square" lIns="0" rIns="0" tIns="0" bIns="0" anchor="t">
            <a:spAutoFit/>
          </a:bodyPr>
          <a:lstStyle/>
          <a:p>
            <a:pPr algn="ctr">
              <a:spcAft>
                <a:spcPts val="600"/>
              </a:spcAft>
            </a:pPr>
            <a:r>
              <a:rPr sz="1250" b="0" i="0">
                <a:solidFill>
                  <a:srgbClr val="555555"/>
                </a:solidFill>
                <a:latin typeface="Cambria"/>
              </a:rPr>
              <a:t>vanishing-point error, synthetic scenes</a:t>
            </a:r>
          </a:p>
        </p:txBody>
      </p:sp>
      <p:sp>
        <p:nvSpPr>
          <p:cNvPr id="102" name="TextBox 101"/>
          <p:cNvSpPr txBox="1"/>
          <p:nvPr/>
        </p:nvSpPr>
        <p:spPr>
          <a:xfrm>
            <a:off x="3493008" y="1463040"/>
            <a:ext cx="2514600" cy="640080"/>
          </a:xfrm>
          <a:prstGeom prst="rect">
            <a:avLst/>
          </a:prstGeom>
          <a:noFill/>
        </p:spPr>
        <p:txBody>
          <a:bodyPr wrap="square" lIns="0" rIns="0" tIns="0" bIns="0" anchor="t">
            <a:spAutoFit/>
          </a:bodyPr>
          <a:lstStyle/>
          <a:p>
            <a:pPr algn="ctr">
              <a:spcAft>
                <a:spcPts val="600"/>
              </a:spcAft>
            </a:pPr>
            <a:r>
              <a:rPr sz="3200" b="1" i="0">
                <a:solidFill>
                  <a:srgbClr val="B01E23"/>
                </a:solidFill>
                <a:latin typeface="Cambria"/>
              </a:rPr>
              <a:t>&lt; 1%</a:t>
            </a:r>
          </a:p>
        </p:txBody>
      </p:sp>
      <p:sp>
        <p:nvSpPr>
          <p:cNvPr id="103" name="TextBox 102"/>
          <p:cNvSpPr txBox="1"/>
          <p:nvPr/>
        </p:nvSpPr>
        <p:spPr>
          <a:xfrm>
            <a:off x="3493008" y="2103120"/>
            <a:ext cx="2514600" cy="640080"/>
          </a:xfrm>
          <a:prstGeom prst="rect">
            <a:avLst/>
          </a:prstGeom>
          <a:noFill/>
        </p:spPr>
        <p:txBody>
          <a:bodyPr wrap="square" lIns="0" rIns="0" tIns="0" bIns="0" anchor="t">
            <a:spAutoFit/>
          </a:bodyPr>
          <a:lstStyle/>
          <a:p>
            <a:pPr algn="ctr">
              <a:spcAft>
                <a:spcPts val="600"/>
              </a:spcAft>
            </a:pPr>
            <a:r>
              <a:rPr sz="1250" b="0" i="0">
                <a:solidFill>
                  <a:srgbClr val="555555"/>
                </a:solidFill>
                <a:latin typeface="Cambria"/>
              </a:rPr>
              <a:t>focal-length error, synthetic scenes</a:t>
            </a:r>
          </a:p>
        </p:txBody>
      </p:sp>
      <p:sp>
        <p:nvSpPr>
          <p:cNvPr id="104" name="TextBox 103"/>
          <p:cNvSpPr txBox="1"/>
          <p:nvPr/>
        </p:nvSpPr>
        <p:spPr>
          <a:xfrm>
            <a:off x="6144768" y="1463040"/>
            <a:ext cx="2514600" cy="640080"/>
          </a:xfrm>
          <a:prstGeom prst="rect">
            <a:avLst/>
          </a:prstGeom>
          <a:noFill/>
        </p:spPr>
        <p:txBody>
          <a:bodyPr wrap="square" lIns="0" rIns="0" tIns="0" bIns="0" anchor="t">
            <a:spAutoFit/>
          </a:bodyPr>
          <a:lstStyle/>
          <a:p>
            <a:pPr algn="ctr">
              <a:spcAft>
                <a:spcPts val="600"/>
              </a:spcAft>
            </a:pPr>
            <a:r>
              <a:rPr sz="3200" b="1" i="0">
                <a:solidFill>
                  <a:srgbClr val="B01E23"/>
                </a:solidFill>
                <a:latin typeface="Cambria"/>
              </a:rPr>
              <a:t>81 / 94%</a:t>
            </a:r>
          </a:p>
        </p:txBody>
      </p:sp>
      <p:sp>
        <p:nvSpPr>
          <p:cNvPr id="105" name="TextBox 104"/>
          <p:cNvSpPr txBox="1"/>
          <p:nvPr/>
        </p:nvSpPr>
        <p:spPr>
          <a:xfrm>
            <a:off x="6144768" y="2103120"/>
            <a:ext cx="2514600" cy="640080"/>
          </a:xfrm>
          <a:prstGeom prst="rect">
            <a:avLst/>
          </a:prstGeom>
          <a:noFill/>
        </p:spPr>
        <p:txBody>
          <a:bodyPr wrap="square" lIns="0" rIns="0" tIns="0" bIns="0" anchor="t">
            <a:spAutoFit/>
          </a:bodyPr>
          <a:lstStyle/>
          <a:p>
            <a:pPr algn="ctr">
              <a:spcAft>
                <a:spcPts val="600"/>
              </a:spcAft>
            </a:pPr>
            <a:r>
              <a:rPr sz="1250" b="0" i="0">
                <a:solidFill>
                  <a:srgbClr val="555555"/>
                </a:solidFill>
                <a:latin typeface="Cambria"/>
              </a:rPr>
              <a:t>York Urban true vanishing points found within 2° / 5°</a:t>
            </a:r>
          </a:p>
        </p:txBody>
      </p:sp>
      <p:sp>
        <p:nvSpPr>
          <p:cNvPr id="106" name="TextBox 105"/>
          <p:cNvSpPr txBox="1"/>
          <p:nvPr/>
        </p:nvSpPr>
        <p:spPr>
          <a:xfrm>
            <a:off x="8796528" y="1463040"/>
            <a:ext cx="2514600" cy="640080"/>
          </a:xfrm>
          <a:prstGeom prst="rect">
            <a:avLst/>
          </a:prstGeom>
          <a:noFill/>
        </p:spPr>
        <p:txBody>
          <a:bodyPr wrap="square" lIns="0" rIns="0" tIns="0" bIns="0" anchor="t">
            <a:spAutoFit/>
          </a:bodyPr>
          <a:lstStyle/>
          <a:p>
            <a:pPr algn="ctr">
              <a:spcAft>
                <a:spcPts val="600"/>
              </a:spcAft>
            </a:pPr>
            <a:r>
              <a:rPr sz="3200" b="1" i="0">
                <a:solidFill>
                  <a:srgbClr val="B01E23"/>
                </a:solidFill>
                <a:latin typeface="Cambria"/>
              </a:rPr>
              <a:t>1.02</a:t>
            </a:r>
          </a:p>
        </p:txBody>
      </p:sp>
      <p:sp>
        <p:nvSpPr>
          <p:cNvPr id="107" name="TextBox 106"/>
          <p:cNvSpPr txBox="1"/>
          <p:nvPr/>
        </p:nvSpPr>
        <p:spPr>
          <a:xfrm>
            <a:off x="8796528" y="2103120"/>
            <a:ext cx="2514600" cy="640080"/>
          </a:xfrm>
          <a:prstGeom prst="rect">
            <a:avLst/>
          </a:prstGeom>
          <a:noFill/>
        </p:spPr>
        <p:txBody>
          <a:bodyPr wrap="square" lIns="0" rIns="0" tIns="0" bIns="0" anchor="t">
            <a:spAutoFit/>
          </a:bodyPr>
          <a:lstStyle/>
          <a:p>
            <a:pPr algn="ctr">
              <a:spcAft>
                <a:spcPts val="600"/>
              </a:spcAft>
            </a:pPr>
            <a:r>
              <a:rPr sz="1250" b="0" i="0">
                <a:solidFill>
                  <a:srgbClr val="555555"/>
                </a:solidFill>
                <a:latin typeface="Cambria"/>
              </a:rPr>
              <a:t>fitted / EXIF focal length on real photos (IQR 0.99 to 1.05)</a:t>
            </a:r>
          </a:p>
        </p:txBody>
      </p:sp>
      <p:pic>
        <p:nvPicPr>
          <p:cNvPr id="108" name="Picture 107" descr="commons_focal_validation.png"/>
          <p:cNvPicPr>
            <a:picLocks noChangeAspect="1"/>
          </p:cNvPicPr>
          <p:nvPr/>
        </p:nvPicPr>
        <p:blipFill>
          <a:blip r:embed="rId2"/>
          <a:stretch>
            <a:fillRect/>
          </a:stretch>
        </p:blipFill>
        <p:spPr>
          <a:xfrm>
            <a:off x="1188720" y="2971800"/>
            <a:ext cx="3246120" cy="3246120"/>
          </a:xfrm>
          <a:prstGeom prst="rect">
            <a:avLst/>
          </a:prstGeom>
        </p:spPr>
      </p:pic>
      <p:sp>
        <p:nvSpPr>
          <p:cNvPr id="109" name="Rectangle 108"/>
          <p:cNvSpPr/>
          <p:nvPr/>
        </p:nvSpPr>
        <p:spPr>
          <a:xfrm>
            <a:off x="5120640" y="2971800"/>
            <a:ext cx="6236208" cy="3246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5349240" y="3154680"/>
            <a:ext cx="5806440" cy="2971800"/>
          </a:xfrm>
          <a:prstGeom prst="rect">
            <a:avLst/>
          </a:prstGeom>
          <a:noFill/>
        </p:spPr>
        <p:txBody>
          <a:bodyPr wrap="square" lIns="0" rIns="0" tIns="0" bIns="0">
            <a:spAutoFit/>
          </a:bodyPr>
          <a:lstStyle/>
          <a:p>
            <a:pPr>
              <a:spcAft>
                <a:spcPts val="1000"/>
              </a:spcAft>
            </a:pPr>
            <a:r>
              <a:rPr sz="1500" b="1" i="0">
                <a:solidFill>
                  <a:srgbClr val="000000"/>
                </a:solidFill>
                <a:latin typeface="Cambria"/>
              </a:rPr>
              <a:t>•  The pipeline recovers the real camera from real photos.</a:t>
            </a:r>
          </a:p>
          <a:p>
            <a:pPr>
              <a:spcAft>
                <a:spcPts val="1000"/>
              </a:spcAft>
            </a:pPr>
            <a:r>
              <a:rPr sz="1500" b="0" i="0">
                <a:solidFill>
                  <a:srgbClr val="000000"/>
                </a:solidFill>
                <a:latin typeface="Cambria"/>
              </a:rPr>
              <a:t>•  Left: fitted focal length against the EXIF focal length for photos from 135 camera models. Dashed lines: a 20% band.</a:t>
            </a:r>
          </a:p>
          <a:p>
            <a:pPr>
              <a:spcAft>
                <a:spcPts val="1000"/>
              </a:spcAft>
            </a:pPr>
            <a:r>
              <a:rPr sz="1500" b="0" i="0">
                <a:solidFill>
                  <a:srgbClr val="000000"/>
                </a:solidFill>
                <a:latin typeface="Cambria"/>
              </a:rPr>
              <a:t>•  This has to hold before anything the tool says about AI images can be trusted.</a:t>
            </a:r>
          </a:p>
          <a:p>
            <a:pPr>
              <a:spcAft>
                <a:spcPts val="1000"/>
              </a:spcAft>
            </a:pPr>
            <a:r>
              <a:rPr sz="1500" b="1" i="0">
                <a:solidFill>
                  <a:srgbClr val="000000"/>
                </a:solidFill>
                <a:latin typeface="Cambria"/>
              </a:rPr>
              <a:t>•  Objective 1 achieved.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Results and Discussion (2/4)</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sp>
        <p:nvSpPr>
          <p:cNvPr id="99" name="TextBox 98"/>
          <p:cNvSpPr txBox="1"/>
          <p:nvPr/>
        </p:nvSpPr>
        <p:spPr>
          <a:xfrm>
            <a:off x="841248" y="987552"/>
            <a:ext cx="10515600" cy="411480"/>
          </a:xfrm>
          <a:prstGeom prst="rect">
            <a:avLst/>
          </a:prstGeom>
          <a:noFill/>
        </p:spPr>
        <p:txBody>
          <a:bodyPr wrap="square" lIns="0" rIns="0" tIns="0" bIns="0" anchor="t">
            <a:spAutoFit/>
          </a:bodyPr>
          <a:lstStyle/>
          <a:p>
            <a:pPr algn="l">
              <a:spcAft>
                <a:spcPts val="600"/>
              </a:spcAft>
            </a:pPr>
            <a:r>
              <a:rPr sz="1900" b="1" i="1">
                <a:solidFill>
                  <a:srgbClr val="B01E23"/>
                </a:solidFill>
                <a:latin typeface="Cambria"/>
              </a:rPr>
              <a:t>AI images do not have one camera</a:t>
            </a:r>
          </a:p>
        </p:txBody>
      </p:sp>
      <p:pic>
        <p:nvPicPr>
          <p:cNvPr id="100" name="Picture 99" descr="atlanta_dots_slide.png"/>
          <p:cNvPicPr>
            <a:picLocks noChangeAspect="1"/>
          </p:cNvPicPr>
          <p:nvPr/>
        </p:nvPicPr>
        <p:blipFill>
          <a:blip r:embed="rId2"/>
          <a:stretch>
            <a:fillRect/>
          </a:stretch>
        </p:blipFill>
        <p:spPr>
          <a:xfrm>
            <a:off x="548640" y="1554480"/>
            <a:ext cx="6766560" cy="3348122"/>
          </a:xfrm>
          <a:prstGeom prst="rect">
            <a:avLst/>
          </a:prstGeom>
        </p:spPr>
      </p:pic>
      <p:sp>
        <p:nvSpPr>
          <p:cNvPr id="101" name="TextBox 100"/>
          <p:cNvSpPr txBox="1"/>
          <p:nvPr/>
        </p:nvSpPr>
        <p:spPr>
          <a:xfrm>
            <a:off x="548640" y="4983480"/>
            <a:ext cx="6766560" cy="914400"/>
          </a:xfrm>
          <a:prstGeom prst="rect">
            <a:avLst/>
          </a:prstGeom>
          <a:noFill/>
        </p:spPr>
        <p:txBody>
          <a:bodyPr wrap="square" lIns="0" rIns="0" tIns="0" bIns="0" anchor="t">
            <a:spAutoFit/>
          </a:bodyPr>
          <a:lstStyle/>
          <a:p>
            <a:pPr algn="l">
              <a:spcAft>
                <a:spcPts val="600"/>
              </a:spcAft>
            </a:pPr>
            <a:r>
              <a:rPr sz="1200" b="0" i="1">
                <a:solidFill>
                  <a:srgbClr val="555555"/>
                </a:solidFill>
                <a:latin typeface="Cambria"/>
              </a:rPr>
              <a:t>Line-rich prompt set. Dots: medians; lines: 95% intervals; shaded band: range of the real-photo intervals.</a:t>
            </a:r>
          </a:p>
        </p:txBody>
      </p:sp>
      <p:sp>
        <p:nvSpPr>
          <p:cNvPr id="102" name="Rectangle 101"/>
          <p:cNvSpPr/>
          <p:nvPr/>
        </p:nvSpPr>
        <p:spPr>
          <a:xfrm>
            <a:off x="7543800" y="1554480"/>
            <a:ext cx="3813048" cy="4663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726679" y="1691640"/>
            <a:ext cx="3474720" cy="4480560"/>
          </a:xfrm>
          <a:prstGeom prst="rect">
            <a:avLst/>
          </a:prstGeom>
          <a:noFill/>
        </p:spPr>
        <p:txBody>
          <a:bodyPr wrap="square" lIns="0" rIns="0" tIns="0" bIns="0">
            <a:spAutoFit/>
          </a:bodyPr>
          <a:lstStyle/>
          <a:p>
            <a:pPr>
              <a:spcAft>
                <a:spcPts val="700"/>
              </a:spcAft>
            </a:pPr>
            <a:r>
              <a:rPr sz="1350" b="1" i="0">
                <a:solidFill>
                  <a:srgbClr val="000000"/>
                </a:solidFill>
                <a:latin typeface="Cambria"/>
              </a:rPr>
              <a:t>•  Real photos: directions agree on one focal length within about 15% (0.14, 0.15).</a:t>
            </a:r>
          </a:p>
          <a:p>
            <a:pPr>
              <a:spcAft>
                <a:spcPts val="700"/>
              </a:spcAft>
            </a:pPr>
            <a:r>
              <a:rPr sz="1350" b="1" i="0">
                <a:solidFill>
                  <a:srgbClr val="000000"/>
                </a:solidFill>
                <a:latin typeface="Cambria"/>
              </a:rPr>
              <a:t>•  SD 1.5 and SDXL: 35 to 60% disagreement (0.47, 0.36), p ≈ 3×10⁻⁵.</a:t>
            </a:r>
          </a:p>
          <a:p>
            <a:pPr>
              <a:spcAft>
                <a:spcPts val="700"/>
              </a:spcAft>
            </a:pPr>
            <a:r>
              <a:rPr sz="1350" b="0" i="0">
                <a:solidFill>
                  <a:srgbClr val="000000"/>
                </a:solidFill>
                <a:latin typeface="Cambria"/>
              </a:rPr>
              <a:t>•  Two very different real sets agree, so the verdict does not depend on the reference.</a:t>
            </a:r>
          </a:p>
          <a:p>
            <a:pPr>
              <a:spcAft>
                <a:spcPts val="700"/>
              </a:spcAft>
            </a:pPr>
            <a:r>
              <a:rPr sz="1350" b="0" i="0">
                <a:solidFill>
                  <a:srgbClr val="000000"/>
                </a:solidFill>
                <a:latin typeface="Cambria"/>
              </a:rPr>
              <a:t>•  Holds after both robustness checks (p ≤ 0.008).</a:t>
            </a:r>
          </a:p>
          <a:p>
            <a:pPr>
              <a:spcAft>
                <a:spcPts val="700"/>
              </a:spcAft>
            </a:pPr>
            <a:r>
              <a:rPr sz="1350" b="0" i="0">
                <a:solidFill>
                  <a:srgbClr val="000000"/>
                </a:solidFill>
                <a:latin typeface="Cambria"/>
              </a:rPr>
              <a:t>•  A naive right-angle test made real street photos look WORSE than AI (12.2°): angled streets are not at right angles. The applicability rule fixes this.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Results and Discussion (3/4)</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sp>
        <p:nvSpPr>
          <p:cNvPr id="99" name="TextBox 98"/>
          <p:cNvSpPr txBox="1"/>
          <p:nvPr/>
        </p:nvSpPr>
        <p:spPr>
          <a:xfrm>
            <a:off x="841248" y="987552"/>
            <a:ext cx="10515600" cy="411480"/>
          </a:xfrm>
          <a:prstGeom prst="rect">
            <a:avLst/>
          </a:prstGeom>
          <a:noFill/>
        </p:spPr>
        <p:txBody>
          <a:bodyPr wrap="square" lIns="0" rIns="0" tIns="0" bIns="0" anchor="t">
            <a:spAutoFit/>
          </a:bodyPr>
          <a:lstStyle/>
          <a:p>
            <a:pPr algn="l">
              <a:spcAft>
                <a:spcPts val="600"/>
              </a:spcAft>
            </a:pPr>
            <a:r>
              <a:rPr sz="1900" b="1" i="1">
                <a:solidFill>
                  <a:srgbClr val="B01E23"/>
                </a:solidFill>
                <a:latin typeface="Cambria"/>
              </a:rPr>
              <a:t>The newest models, Gemini and ChatGPT, still fail</a:t>
            </a:r>
          </a:p>
        </p:txBody>
      </p:sp>
      <p:pic>
        <p:nvPicPr>
          <p:cNvPr id="100" name="Picture 99" descr="frontier_dots_slide.png"/>
          <p:cNvPicPr>
            <a:picLocks noChangeAspect="1"/>
          </p:cNvPicPr>
          <p:nvPr/>
        </p:nvPicPr>
        <p:blipFill>
          <a:blip r:embed="rId2"/>
          <a:stretch>
            <a:fillRect/>
          </a:stretch>
        </p:blipFill>
        <p:spPr>
          <a:xfrm>
            <a:off x="548640" y="1508760"/>
            <a:ext cx="6119324" cy="4160520"/>
          </a:xfrm>
          <a:prstGeom prst="rect">
            <a:avLst/>
          </a:prstGeom>
        </p:spPr>
      </p:pic>
      <p:sp>
        <p:nvSpPr>
          <p:cNvPr id="101" name="Rectangle 100"/>
          <p:cNvSpPr/>
          <p:nvPr/>
        </p:nvSpPr>
        <p:spPr>
          <a:xfrm>
            <a:off x="7360920" y="1508760"/>
            <a:ext cx="3995928" cy="41605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543800" y="1645920"/>
            <a:ext cx="3657600" cy="365760"/>
          </a:xfrm>
          <a:prstGeom prst="rect">
            <a:avLst/>
          </a:prstGeom>
          <a:noFill/>
        </p:spPr>
        <p:txBody>
          <a:bodyPr wrap="square" lIns="0" rIns="0" tIns="0" bIns="0" anchor="t">
            <a:spAutoFit/>
          </a:bodyPr>
          <a:lstStyle/>
          <a:p>
            <a:pPr algn="l">
              <a:spcAft>
                <a:spcPts val="600"/>
              </a:spcAft>
            </a:pPr>
            <a:r>
              <a:rPr sz="1500" b="1" i="0">
                <a:solidFill>
                  <a:srgbClr val="B01E23"/>
                </a:solidFill>
                <a:latin typeface="Cambria"/>
              </a:rPr>
              <a:t>GEMINI AND CHATGPT</a:t>
            </a:r>
          </a:p>
        </p:txBody>
      </p:sp>
      <p:sp>
        <p:nvSpPr>
          <p:cNvPr id="103" name="TextBox 102"/>
          <p:cNvSpPr txBox="1"/>
          <p:nvPr/>
        </p:nvSpPr>
        <p:spPr>
          <a:xfrm>
            <a:off x="7543800" y="2103120"/>
            <a:ext cx="3657600" cy="3520440"/>
          </a:xfrm>
          <a:prstGeom prst="rect">
            <a:avLst/>
          </a:prstGeom>
          <a:noFill/>
        </p:spPr>
        <p:txBody>
          <a:bodyPr wrap="square" lIns="0" rIns="0" tIns="0" bIns="0">
            <a:spAutoFit/>
          </a:bodyPr>
          <a:lstStyle/>
          <a:p>
            <a:pPr>
              <a:spcAft>
                <a:spcPts val="900"/>
              </a:spcAft>
            </a:pPr>
            <a:r>
              <a:rPr sz="1400" b="1" i="0">
                <a:solidFill>
                  <a:srgbClr val="000000"/>
                </a:solidFill>
                <a:latin typeface="Cambria"/>
              </a:rPr>
              <a:t>•  Both still fail: p ≈ 0.015 against both real sets.</a:t>
            </a:r>
          </a:p>
          <a:p>
            <a:pPr>
              <a:spcAft>
                <a:spcPts val="900"/>
              </a:spcAft>
            </a:pPr>
            <a:r>
              <a:rPr sz="1400" b="0" i="0">
                <a:solidFill>
                  <a:srgbClr val="000000"/>
                </a:solidFill>
                <a:latin typeface="Cambria"/>
              </a:rPr>
              <a:t>•  Not yet shown to beat SD 1.5 or SDXL (p = 0.14 to 0.26).</a:t>
            </a:r>
          </a:p>
          <a:p>
            <a:pPr>
              <a:spcAft>
                <a:spcPts val="900"/>
              </a:spcAft>
            </a:pPr>
            <a:r>
              <a:rPr sz="1400" b="0" i="0">
                <a:solidFill>
                  <a:srgbClr val="000000"/>
                </a:solidFill>
                <a:latin typeface="Cambria"/>
              </a:rPr>
              <a:t>•  Small samples: 31 and 29 usable images.</a:t>
            </a:r>
          </a:p>
          <a:p>
            <a:pPr>
              <a:spcAft>
                <a:spcPts val="900"/>
              </a:spcAft>
            </a:pPr>
            <a:r>
              <a:rPr sz="1400" b="0" i="0">
                <a:solidFill>
                  <a:srgbClr val="000000"/>
                </a:solidFill>
                <a:latin typeface="Cambria"/>
              </a:rPr>
              <a:t>•  ChatGPT's impossible-pair rate (39%) looks real; its focal spread does not.</a:t>
            </a:r>
          </a:p>
        </p:txBody>
      </p:sp>
      <p:sp>
        <p:nvSpPr>
          <p:cNvPr id="104" name="Rectangle 103"/>
          <p:cNvSpPr/>
          <p:nvPr/>
        </p:nvSpPr>
        <p:spPr>
          <a:xfrm>
            <a:off x="548640" y="5806440"/>
            <a:ext cx="10808208" cy="457200"/>
          </a:xfrm>
          <a:prstGeom prst="rect">
            <a:avLst/>
          </a:prstGeom>
          <a:solidFill>
            <a:srgbClr val="B01E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731520" y="5806440"/>
            <a:ext cx="10424160" cy="457200"/>
          </a:xfrm>
          <a:prstGeom prst="rect">
            <a:avLst/>
          </a:prstGeom>
          <a:noFill/>
        </p:spPr>
        <p:txBody>
          <a:bodyPr wrap="square" lIns="0" rIns="0" tIns="0" bIns="0" anchor="ctr">
            <a:spAutoFit/>
          </a:bodyPr>
          <a:lstStyle/>
          <a:p>
            <a:pPr algn="l">
              <a:spcAft>
                <a:spcPts val="600"/>
              </a:spcAft>
            </a:pPr>
            <a:r>
              <a:rPr sz="1500" b="1" i="0">
                <a:solidFill>
                  <a:srgbClr val="FFFFFF"/>
                </a:solidFill>
                <a:latin typeface="Cambria"/>
              </a:rPr>
              <a:t>The 2026 claim that the geometric giveaway has disappeared does not hold on this measure.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Results and Discussion (4/4)</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sp>
        <p:nvSpPr>
          <p:cNvPr id="99" name="TextBox 98"/>
          <p:cNvSpPr txBox="1"/>
          <p:nvPr/>
        </p:nvSpPr>
        <p:spPr>
          <a:xfrm>
            <a:off x="841248" y="987552"/>
            <a:ext cx="10515600" cy="411480"/>
          </a:xfrm>
          <a:prstGeom prst="rect">
            <a:avLst/>
          </a:prstGeom>
          <a:noFill/>
        </p:spPr>
        <p:txBody>
          <a:bodyPr wrap="square" lIns="0" rIns="0" tIns="0" bIns="0" anchor="t">
            <a:spAutoFit/>
          </a:bodyPr>
          <a:lstStyle/>
          <a:p>
            <a:pPr algn="l">
              <a:spcAft>
                <a:spcPts val="600"/>
              </a:spcAft>
            </a:pPr>
            <a:r>
              <a:rPr sz="1900" b="1" i="1">
                <a:solidFill>
                  <a:srgbClr val="B01E23"/>
                </a:solidFill>
                <a:latin typeface="Cambria"/>
              </a:rPr>
              <a:t>Geometry alone detects AI images, and the app explains why</a:t>
            </a:r>
          </a:p>
        </p:txBody>
      </p:sp>
      <p:sp>
        <p:nvSpPr>
          <p:cNvPr id="100" name="TextBox 99"/>
          <p:cNvSpPr txBox="1"/>
          <p:nvPr/>
        </p:nvSpPr>
        <p:spPr>
          <a:xfrm>
            <a:off x="841248" y="1463040"/>
            <a:ext cx="3383280" cy="640080"/>
          </a:xfrm>
          <a:prstGeom prst="rect">
            <a:avLst/>
          </a:prstGeom>
          <a:noFill/>
        </p:spPr>
        <p:txBody>
          <a:bodyPr wrap="square" lIns="0" rIns="0" tIns="0" bIns="0" anchor="t">
            <a:spAutoFit/>
          </a:bodyPr>
          <a:lstStyle/>
          <a:p>
            <a:pPr algn="ctr">
              <a:spcAft>
                <a:spcPts val="600"/>
              </a:spcAft>
            </a:pPr>
            <a:r>
              <a:rPr sz="3200" b="1" i="0">
                <a:solidFill>
                  <a:srgbClr val="B01E23"/>
                </a:solidFill>
                <a:latin typeface="Cambria"/>
              </a:rPr>
              <a:t>0.92</a:t>
            </a:r>
          </a:p>
        </p:txBody>
      </p:sp>
      <p:sp>
        <p:nvSpPr>
          <p:cNvPr id="101" name="TextBox 100"/>
          <p:cNvSpPr txBox="1"/>
          <p:nvPr/>
        </p:nvSpPr>
        <p:spPr>
          <a:xfrm>
            <a:off x="841248" y="2103120"/>
            <a:ext cx="3383280" cy="640080"/>
          </a:xfrm>
          <a:prstGeom prst="rect">
            <a:avLst/>
          </a:prstGeom>
          <a:noFill/>
        </p:spPr>
        <p:txBody>
          <a:bodyPr wrap="square" lIns="0" rIns="0" tIns="0" bIns="0" anchor="t">
            <a:spAutoFit/>
          </a:bodyPr>
          <a:lstStyle/>
          <a:p>
            <a:pPr algn="ctr">
              <a:spcAft>
                <a:spcPts val="600"/>
              </a:spcAft>
            </a:pPr>
            <a:r>
              <a:rPr sz="1250" b="0" i="0">
                <a:solidFill>
                  <a:srgbClr val="555555"/>
                </a:solidFill>
                <a:latin typeface="Cambria"/>
              </a:rPr>
              <a:t>best AUC, residuals only (learned features in Sarkar et al.: 0.88 to 0.94)</a:t>
            </a:r>
          </a:p>
        </p:txBody>
      </p:sp>
      <p:sp>
        <p:nvSpPr>
          <p:cNvPr id="102" name="TextBox 101"/>
          <p:cNvSpPr txBox="1"/>
          <p:nvPr/>
        </p:nvSpPr>
        <p:spPr>
          <a:xfrm>
            <a:off x="4407408" y="1463040"/>
            <a:ext cx="3383280" cy="640080"/>
          </a:xfrm>
          <a:prstGeom prst="rect">
            <a:avLst/>
          </a:prstGeom>
          <a:noFill/>
        </p:spPr>
        <p:txBody>
          <a:bodyPr wrap="square" lIns="0" rIns="0" tIns="0" bIns="0" anchor="t">
            <a:spAutoFit/>
          </a:bodyPr>
          <a:lstStyle/>
          <a:p>
            <a:pPr algn="ctr">
              <a:spcAft>
                <a:spcPts val="600"/>
              </a:spcAft>
            </a:pPr>
            <a:r>
              <a:rPr sz="3200" b="1" i="0">
                <a:solidFill>
                  <a:srgbClr val="B01E23"/>
                </a:solidFill>
                <a:latin typeface="Cambria"/>
              </a:rPr>
              <a:t>0.80</a:t>
            </a:r>
          </a:p>
        </p:txBody>
      </p:sp>
      <p:sp>
        <p:nvSpPr>
          <p:cNvPr id="103" name="TextBox 102"/>
          <p:cNvSpPr txBox="1"/>
          <p:nvPr/>
        </p:nvSpPr>
        <p:spPr>
          <a:xfrm>
            <a:off x="4407408" y="2103120"/>
            <a:ext cx="3383280" cy="640080"/>
          </a:xfrm>
          <a:prstGeom prst="rect">
            <a:avLst/>
          </a:prstGeom>
          <a:noFill/>
        </p:spPr>
        <p:txBody>
          <a:bodyPr wrap="square" lIns="0" rIns="0" tIns="0" bIns="0" anchor="t">
            <a:spAutoFit/>
          </a:bodyPr>
          <a:lstStyle/>
          <a:p>
            <a:pPr algn="ctr">
              <a:spcAft>
                <a:spcPts val="600"/>
              </a:spcAft>
            </a:pPr>
            <a:r>
              <a:rPr sz="1250" b="0" i="0">
                <a:solidFill>
                  <a:srgbClr val="555555"/>
                </a:solidFill>
                <a:latin typeface="Cambria"/>
              </a:rPr>
              <a:t>demo app, cross-validated AUC</a:t>
            </a:r>
          </a:p>
        </p:txBody>
      </p:sp>
      <p:sp>
        <p:nvSpPr>
          <p:cNvPr id="104" name="TextBox 103"/>
          <p:cNvSpPr txBox="1"/>
          <p:nvPr/>
        </p:nvSpPr>
        <p:spPr>
          <a:xfrm>
            <a:off x="7973568" y="1463040"/>
            <a:ext cx="3383280" cy="640080"/>
          </a:xfrm>
          <a:prstGeom prst="rect">
            <a:avLst/>
          </a:prstGeom>
          <a:noFill/>
        </p:spPr>
        <p:txBody>
          <a:bodyPr wrap="square" lIns="0" rIns="0" tIns="0" bIns="0" anchor="t">
            <a:spAutoFit/>
          </a:bodyPr>
          <a:lstStyle/>
          <a:p>
            <a:pPr algn="ctr">
              <a:spcAft>
                <a:spcPts val="600"/>
              </a:spcAft>
            </a:pPr>
            <a:r>
              <a:rPr sz="3200" b="1" i="0">
                <a:solidFill>
                  <a:srgbClr val="B01E23"/>
                </a:solidFill>
                <a:latin typeface="Cambria"/>
              </a:rPr>
              <a:t>78% / 71%</a:t>
            </a:r>
          </a:p>
        </p:txBody>
      </p:sp>
      <p:sp>
        <p:nvSpPr>
          <p:cNvPr id="105" name="TextBox 104"/>
          <p:cNvSpPr txBox="1"/>
          <p:nvPr/>
        </p:nvSpPr>
        <p:spPr>
          <a:xfrm>
            <a:off x="7973568" y="2103120"/>
            <a:ext cx="3383280" cy="640080"/>
          </a:xfrm>
          <a:prstGeom prst="rect">
            <a:avLst/>
          </a:prstGeom>
          <a:noFill/>
        </p:spPr>
        <p:txBody>
          <a:bodyPr wrap="square" lIns="0" rIns="0" tIns="0" bIns="0" anchor="t">
            <a:spAutoFit/>
          </a:bodyPr>
          <a:lstStyle/>
          <a:p>
            <a:pPr algn="ctr">
              <a:spcAft>
                <a:spcPts val="600"/>
              </a:spcAft>
            </a:pPr>
            <a:r>
              <a:rPr sz="1250" b="0" i="0">
                <a:solidFill>
                  <a:srgbClr val="555555"/>
                </a:solidFill>
                <a:latin typeface="Cambria"/>
              </a:rPr>
              <a:t>AI images flagged / real photos cleared at 50%</a:t>
            </a:r>
          </a:p>
        </p:txBody>
      </p:sp>
      <p:sp>
        <p:nvSpPr>
          <p:cNvPr id="106" name="TextBox 105"/>
          <p:cNvSpPr txBox="1"/>
          <p:nvPr/>
        </p:nvSpPr>
        <p:spPr>
          <a:xfrm>
            <a:off x="841248" y="2834640"/>
            <a:ext cx="5120640" cy="365760"/>
          </a:xfrm>
          <a:prstGeom prst="rect">
            <a:avLst/>
          </a:prstGeom>
          <a:noFill/>
        </p:spPr>
        <p:txBody>
          <a:bodyPr wrap="square" lIns="0" rIns="0" tIns="0" bIns="0" anchor="t">
            <a:spAutoFit/>
          </a:bodyPr>
          <a:lstStyle/>
          <a:p>
            <a:pPr algn="l">
              <a:spcAft>
                <a:spcPts val="600"/>
              </a:spcAft>
            </a:pPr>
            <a:r>
              <a:rPr sz="1300" b="1" i="0">
                <a:solidFill>
                  <a:srgbClr val="B01E23"/>
                </a:solidFill>
                <a:latin typeface="Cambria"/>
              </a:rPr>
              <a:t>SIX CLASSIFIERS ON RESIDUALS (BEST: RANDOM FOREST)</a:t>
            </a:r>
          </a:p>
        </p:txBody>
      </p:sp>
      <p:graphicFrame>
        <p:nvGraphicFramePr>
          <p:cNvPr id="107" name="Table 106"/>
          <p:cNvGraphicFramePr>
            <a:graphicFrameLocks noGrp="1"/>
          </p:cNvGraphicFramePr>
          <p:nvPr/>
        </p:nvGraphicFramePr>
        <p:xfrm>
          <a:off x="841248" y="3200400"/>
          <a:ext cx="5120640" cy="2011680"/>
        </p:xfrm>
        <a:graphic>
          <a:graphicData uri="http://schemas.openxmlformats.org/drawingml/2006/table">
            <a:tbl>
              <a:tblPr firstRow="1" bandRow="1">
                <a:tableStyleId>{252108C0-F26C-423F-91A2-4CEDFFE9ED8A}</a:tableStyleId>
              </a:tblPr>
              <a:tblGrid>
                <a:gridCol w="3931920"/>
                <a:gridCol w="1188720"/>
              </a:tblGrid>
              <a:tr h="402336">
                <a:tc>
                  <a:txBody>
                    <a:bodyPr/>
                    <a:lstStyle/>
                    <a:p>
                      <a:pPr algn="ctr"/>
                      <a:r>
                        <a:rPr sz="1300" b="1" i="0">
                          <a:solidFill>
                            <a:srgbClr val="000000"/>
                          </a:solidFill>
                          <a:latin typeface="Cambria"/>
                        </a:rPr>
                        <a:t>Task</a:t>
                      </a:r>
                    </a:p>
                  </a:txBody>
                  <a:tcPr anchor="ctr" marL="54864" marR="54864"/>
                </a:tc>
                <a:tc>
                  <a:txBody>
                    <a:bodyPr/>
                    <a:lstStyle/>
                    <a:p>
                      <a:pPr algn="ctr"/>
                      <a:r>
                        <a:rPr sz="1300" b="1" i="0">
                          <a:solidFill>
                            <a:srgbClr val="000000"/>
                          </a:solidFill>
                          <a:latin typeface="Cambria"/>
                        </a:rPr>
                        <a:t>AUC</a:t>
                      </a:r>
                    </a:p>
                  </a:txBody>
                  <a:tcPr anchor="ctr" marL="54864" marR="54864"/>
                </a:tc>
              </a:tr>
              <a:tr h="402336">
                <a:tc>
                  <a:txBody>
                    <a:bodyPr/>
                    <a:lstStyle/>
                    <a:p>
                      <a:pPr algn="l"/>
                      <a:r>
                        <a:rPr sz="1300" b="0" i="0">
                          <a:solidFill>
                            <a:srgbClr val="000000"/>
                          </a:solidFill>
                          <a:latin typeface="Cambria"/>
                        </a:rPr>
                        <a:t>York Urban vs SD 1.5</a:t>
                      </a:r>
                    </a:p>
                  </a:txBody>
                  <a:tcPr anchor="ctr" marL="54864" marR="54864"/>
                </a:tc>
                <a:tc>
                  <a:txBody>
                    <a:bodyPr/>
                    <a:lstStyle/>
                    <a:p>
                      <a:pPr algn="l"/>
                      <a:r>
                        <a:rPr sz="1300" b="0" i="0">
                          <a:solidFill>
                            <a:srgbClr val="000000"/>
                          </a:solidFill>
                          <a:latin typeface="Cambria"/>
                        </a:rPr>
                        <a:t>0.92</a:t>
                      </a:r>
                    </a:p>
                  </a:txBody>
                  <a:tcPr anchor="ctr" marL="54864" marR="54864"/>
                </a:tc>
              </a:tr>
              <a:tr h="402336">
                <a:tc>
                  <a:txBody>
                    <a:bodyPr/>
                    <a:lstStyle/>
                    <a:p>
                      <a:pPr algn="l"/>
                      <a:r>
                        <a:rPr sz="1300" b="0" i="0">
                          <a:solidFill>
                            <a:srgbClr val="000000"/>
                          </a:solidFill>
                          <a:latin typeface="Cambria"/>
                        </a:rPr>
                        <a:t>York Urban vs SDXL</a:t>
                      </a:r>
                    </a:p>
                  </a:txBody>
                  <a:tcPr anchor="ctr" marL="54864" marR="54864"/>
                </a:tc>
                <a:tc>
                  <a:txBody>
                    <a:bodyPr/>
                    <a:lstStyle/>
                    <a:p>
                      <a:pPr algn="l"/>
                      <a:r>
                        <a:rPr sz="1300" b="0" i="0">
                          <a:solidFill>
                            <a:srgbClr val="000000"/>
                          </a:solidFill>
                          <a:latin typeface="Cambria"/>
                        </a:rPr>
                        <a:t>0.88</a:t>
                      </a:r>
                    </a:p>
                  </a:txBody>
                  <a:tcPr anchor="ctr" marL="54864" marR="54864"/>
                </a:tc>
              </a:tr>
              <a:tr h="402336">
                <a:tc>
                  <a:txBody>
                    <a:bodyPr/>
                    <a:lstStyle/>
                    <a:p>
                      <a:pPr algn="l"/>
                      <a:r>
                        <a:rPr sz="1300" b="0" i="0">
                          <a:solidFill>
                            <a:srgbClr val="000000"/>
                          </a:solidFill>
                          <a:latin typeface="Cambria"/>
                        </a:rPr>
                        <a:t>Commons vs SDXL</a:t>
                      </a:r>
                    </a:p>
                  </a:txBody>
                  <a:tcPr anchor="ctr" marL="54864" marR="54864"/>
                </a:tc>
                <a:tc>
                  <a:txBody>
                    <a:bodyPr/>
                    <a:lstStyle/>
                    <a:p>
                      <a:pPr algn="l"/>
                      <a:r>
                        <a:rPr sz="1300" b="0" i="0">
                          <a:solidFill>
                            <a:srgbClr val="000000"/>
                          </a:solidFill>
                          <a:latin typeface="Cambria"/>
                        </a:rPr>
                        <a:t>0.81</a:t>
                      </a:r>
                    </a:p>
                  </a:txBody>
                  <a:tcPr anchor="ctr" marL="54864" marR="54864"/>
                </a:tc>
              </a:tr>
              <a:tr h="402336">
                <a:tc>
                  <a:txBody>
                    <a:bodyPr/>
                    <a:lstStyle/>
                    <a:p>
                      <a:pPr algn="l"/>
                      <a:r>
                        <a:rPr sz="1300" b="0" i="0">
                          <a:solidFill>
                            <a:srgbClr val="000000"/>
                          </a:solidFill>
                          <a:latin typeface="Cambria"/>
                        </a:rPr>
                        <a:t>Field of view matched</a:t>
                      </a:r>
                    </a:p>
                  </a:txBody>
                  <a:tcPr anchor="ctr" marL="54864" marR="54864"/>
                </a:tc>
                <a:tc>
                  <a:txBody>
                    <a:bodyPr/>
                    <a:lstStyle/>
                    <a:p>
                      <a:pPr algn="l"/>
                      <a:r>
                        <a:rPr sz="1300" b="0" i="0">
                          <a:solidFill>
                            <a:srgbClr val="000000"/>
                          </a:solidFill>
                          <a:latin typeface="Cambria"/>
                        </a:rPr>
                        <a:t>0.81</a:t>
                      </a:r>
                    </a:p>
                  </a:txBody>
                  <a:tcPr anchor="ctr" marL="54864" marR="54864"/>
                </a:tc>
              </a:tr>
            </a:tbl>
          </a:graphicData>
        </a:graphic>
      </p:graphicFrame>
      <p:sp>
        <p:nvSpPr>
          <p:cNvPr id="108" name="TextBox 107"/>
          <p:cNvSpPr txBox="1"/>
          <p:nvPr/>
        </p:nvSpPr>
        <p:spPr>
          <a:xfrm>
            <a:off x="6236208" y="2834640"/>
            <a:ext cx="5120640" cy="365760"/>
          </a:xfrm>
          <a:prstGeom prst="rect">
            <a:avLst/>
          </a:prstGeom>
          <a:noFill/>
        </p:spPr>
        <p:txBody>
          <a:bodyPr wrap="square" lIns="0" rIns="0" tIns="0" bIns="0" anchor="t">
            <a:spAutoFit/>
          </a:bodyPr>
          <a:lstStyle/>
          <a:p>
            <a:pPr algn="l">
              <a:spcAft>
                <a:spcPts val="600"/>
              </a:spcAft>
            </a:pPr>
            <a:r>
              <a:rPr sz="1300" b="1" i="0">
                <a:solidFill>
                  <a:srgbClr val="B01E23"/>
                </a:solidFill>
                <a:latin typeface="Cambria"/>
              </a:rPr>
              <a:t>APP SCORE BY GENERATOR</a:t>
            </a:r>
          </a:p>
        </p:txBody>
      </p:sp>
      <p:graphicFrame>
        <p:nvGraphicFramePr>
          <p:cNvPr id="109" name="Table 108"/>
          <p:cNvGraphicFramePr>
            <a:graphicFrameLocks noGrp="1"/>
          </p:cNvGraphicFramePr>
          <p:nvPr/>
        </p:nvGraphicFramePr>
        <p:xfrm>
          <a:off x="6236208" y="3200400"/>
          <a:ext cx="5120640" cy="2011680"/>
        </p:xfrm>
        <a:graphic>
          <a:graphicData uri="http://schemas.openxmlformats.org/drawingml/2006/table">
            <a:tbl>
              <a:tblPr firstRow="1" bandRow="1">
                <a:tableStyleId>{252108C0-F26C-423F-91A2-4CEDFFE9ED8A}</a:tableStyleId>
              </a:tblPr>
              <a:tblGrid>
                <a:gridCol w="1737360"/>
                <a:gridCol w="1691640"/>
                <a:gridCol w="1691640"/>
              </a:tblGrid>
              <a:tr h="402336">
                <a:tc>
                  <a:txBody>
                    <a:bodyPr/>
                    <a:lstStyle/>
                    <a:p>
                      <a:pPr algn="ctr"/>
                      <a:r>
                        <a:rPr sz="1300" b="1" i="0">
                          <a:solidFill>
                            <a:srgbClr val="000000"/>
                          </a:solidFill>
                          <a:latin typeface="Cambria"/>
                        </a:rPr>
                        <a:t>Generator</a:t>
                      </a:r>
                    </a:p>
                  </a:txBody>
                  <a:tcPr anchor="ctr" marL="54864" marR="54864"/>
                </a:tc>
                <a:tc>
                  <a:txBody>
                    <a:bodyPr/>
                    <a:lstStyle/>
                    <a:p>
                      <a:pPr algn="ctr"/>
                      <a:r>
                        <a:rPr sz="1300" b="1" i="0">
                          <a:solidFill>
                            <a:srgbClr val="000000"/>
                          </a:solidFill>
                          <a:latin typeface="Cambria"/>
                        </a:rPr>
                        <a:t>Seen in training</a:t>
                      </a:r>
                    </a:p>
                  </a:txBody>
                  <a:tcPr anchor="ctr" marL="54864" marR="54864"/>
                </a:tc>
                <a:tc>
                  <a:txBody>
                    <a:bodyPr/>
                    <a:lstStyle/>
                    <a:p>
                      <a:pPr algn="ctr"/>
                      <a:r>
                        <a:rPr sz="1300" b="1" i="0">
                          <a:solidFill>
                            <a:srgbClr val="000000"/>
                          </a:solidFill>
                          <a:latin typeface="Cambria"/>
                        </a:rPr>
                        <a:t>Never seen</a:t>
                      </a:r>
                    </a:p>
                  </a:txBody>
                  <a:tcPr anchor="ctr" marL="54864" marR="54864"/>
                </a:tc>
              </a:tr>
              <a:tr h="402336">
                <a:tc>
                  <a:txBody>
                    <a:bodyPr/>
                    <a:lstStyle/>
                    <a:p>
                      <a:pPr algn="l"/>
                      <a:r>
                        <a:rPr sz="1300" b="0" i="0">
                          <a:solidFill>
                            <a:srgbClr val="000000"/>
                          </a:solidFill>
                          <a:latin typeface="Cambria"/>
                        </a:rPr>
                        <a:t>SD 1.5</a:t>
                      </a:r>
                    </a:p>
                  </a:txBody>
                  <a:tcPr anchor="ctr" marL="54864" marR="54864"/>
                </a:tc>
                <a:tc>
                  <a:txBody>
                    <a:bodyPr/>
                    <a:lstStyle/>
                    <a:p>
                      <a:pPr algn="l"/>
                      <a:r>
                        <a:rPr sz="1300" b="0" i="0">
                          <a:solidFill>
                            <a:srgbClr val="000000"/>
                          </a:solidFill>
                          <a:latin typeface="Cambria"/>
                        </a:rPr>
                        <a:t>0.84</a:t>
                      </a:r>
                    </a:p>
                  </a:txBody>
                  <a:tcPr anchor="ctr" marL="54864" marR="54864"/>
                </a:tc>
                <a:tc>
                  <a:txBody>
                    <a:bodyPr/>
                    <a:lstStyle/>
                    <a:p>
                      <a:pPr algn="l"/>
                      <a:r>
                        <a:rPr sz="1300" b="0" i="0">
                          <a:solidFill>
                            <a:srgbClr val="000000"/>
                          </a:solidFill>
                          <a:latin typeface="Cambria"/>
                        </a:rPr>
                        <a:t>0.82</a:t>
                      </a:r>
                    </a:p>
                  </a:txBody>
                  <a:tcPr anchor="ctr" marL="54864" marR="54864"/>
                </a:tc>
              </a:tr>
              <a:tr h="402336">
                <a:tc>
                  <a:txBody>
                    <a:bodyPr/>
                    <a:lstStyle/>
                    <a:p>
                      <a:pPr algn="l"/>
                      <a:r>
                        <a:rPr sz="1300" b="0" i="0">
                          <a:solidFill>
                            <a:srgbClr val="000000"/>
                          </a:solidFill>
                          <a:latin typeface="Cambria"/>
                        </a:rPr>
                        <a:t>SDXL</a:t>
                      </a:r>
                    </a:p>
                  </a:txBody>
                  <a:tcPr anchor="ctr" marL="54864" marR="54864"/>
                </a:tc>
                <a:tc>
                  <a:txBody>
                    <a:bodyPr/>
                    <a:lstStyle/>
                    <a:p>
                      <a:pPr algn="l"/>
                      <a:r>
                        <a:rPr sz="1300" b="0" i="0">
                          <a:solidFill>
                            <a:srgbClr val="000000"/>
                          </a:solidFill>
                          <a:latin typeface="Cambria"/>
                        </a:rPr>
                        <a:t>0.81</a:t>
                      </a:r>
                    </a:p>
                  </a:txBody>
                  <a:tcPr anchor="ctr" marL="54864" marR="54864"/>
                </a:tc>
                <a:tc>
                  <a:txBody>
                    <a:bodyPr/>
                    <a:lstStyle/>
                    <a:p>
                      <a:pPr algn="l"/>
                      <a:r>
                        <a:rPr sz="1300" b="0" i="0">
                          <a:solidFill>
                            <a:srgbClr val="000000"/>
                          </a:solidFill>
                          <a:latin typeface="Cambria"/>
                        </a:rPr>
                        <a:t>0.77</a:t>
                      </a:r>
                    </a:p>
                  </a:txBody>
                  <a:tcPr anchor="ctr" marL="54864" marR="54864"/>
                </a:tc>
              </a:tr>
              <a:tr h="402336">
                <a:tc>
                  <a:txBody>
                    <a:bodyPr/>
                    <a:lstStyle/>
                    <a:p>
                      <a:pPr algn="l"/>
                      <a:r>
                        <a:rPr sz="1300" b="0" i="0">
                          <a:solidFill>
                            <a:srgbClr val="000000"/>
                          </a:solidFill>
                          <a:latin typeface="Cambria"/>
                        </a:rPr>
                        <a:t>Gemini</a:t>
                      </a:r>
                    </a:p>
                  </a:txBody>
                  <a:tcPr anchor="ctr" marL="54864" marR="54864"/>
                </a:tc>
                <a:tc>
                  <a:txBody>
                    <a:bodyPr/>
                    <a:lstStyle/>
                    <a:p>
                      <a:pPr algn="l"/>
                      <a:r>
                        <a:rPr sz="1300" b="0" i="0">
                          <a:solidFill>
                            <a:srgbClr val="000000"/>
                          </a:solidFill>
                          <a:latin typeface="Cambria"/>
                        </a:rPr>
                        <a:t>0.76</a:t>
                      </a:r>
                    </a:p>
                  </a:txBody>
                  <a:tcPr anchor="ctr" marL="54864" marR="54864"/>
                </a:tc>
                <a:tc>
                  <a:txBody>
                    <a:bodyPr/>
                    <a:lstStyle/>
                    <a:p>
                      <a:pPr algn="l"/>
                      <a:r>
                        <a:rPr sz="1300" b="0" i="0">
                          <a:solidFill>
                            <a:srgbClr val="000000"/>
                          </a:solidFill>
                          <a:latin typeface="Cambria"/>
                        </a:rPr>
                        <a:t>0.77</a:t>
                      </a:r>
                    </a:p>
                  </a:txBody>
                  <a:tcPr anchor="ctr" marL="54864" marR="54864"/>
                </a:tc>
              </a:tr>
              <a:tr h="402336">
                <a:tc>
                  <a:txBody>
                    <a:bodyPr/>
                    <a:lstStyle/>
                    <a:p>
                      <a:pPr algn="l"/>
                      <a:r>
                        <a:rPr sz="1300" b="0" i="0">
                          <a:solidFill>
                            <a:srgbClr val="000000"/>
                          </a:solidFill>
                          <a:latin typeface="Cambria"/>
                        </a:rPr>
                        <a:t>ChatGPT</a:t>
                      </a:r>
                    </a:p>
                  </a:txBody>
                  <a:tcPr anchor="ctr" marL="54864" marR="54864"/>
                </a:tc>
                <a:tc>
                  <a:txBody>
                    <a:bodyPr/>
                    <a:lstStyle/>
                    <a:p>
                      <a:pPr algn="l"/>
                      <a:r>
                        <a:rPr sz="1300" b="0" i="0">
                          <a:solidFill>
                            <a:srgbClr val="000000"/>
                          </a:solidFill>
                          <a:latin typeface="Cambria"/>
                        </a:rPr>
                        <a:t>0.59</a:t>
                      </a:r>
                    </a:p>
                  </a:txBody>
                  <a:tcPr anchor="ctr" marL="54864" marR="54864"/>
                </a:tc>
                <a:tc>
                  <a:txBody>
                    <a:bodyPr/>
                    <a:lstStyle/>
                    <a:p>
                      <a:pPr algn="l"/>
                      <a:r>
                        <a:rPr sz="1300" b="0" i="0">
                          <a:solidFill>
                            <a:srgbClr val="000000"/>
                          </a:solidFill>
                          <a:latin typeface="Cambria"/>
                        </a:rPr>
                        <a:t>0.63</a:t>
                      </a:r>
                    </a:p>
                  </a:txBody>
                  <a:tcPr anchor="ctr" marL="54864" marR="54864"/>
                </a:tc>
              </a:tr>
            </a:tbl>
          </a:graphicData>
        </a:graphic>
      </p:graphicFrame>
      <p:sp>
        <p:nvSpPr>
          <p:cNvPr id="110" name="TextBox 109"/>
          <p:cNvSpPr txBox="1"/>
          <p:nvPr/>
        </p:nvSpPr>
        <p:spPr>
          <a:xfrm>
            <a:off x="841248" y="5394960"/>
            <a:ext cx="10515600" cy="868680"/>
          </a:xfrm>
          <a:prstGeom prst="rect">
            <a:avLst/>
          </a:prstGeom>
          <a:noFill/>
        </p:spPr>
        <p:txBody>
          <a:bodyPr wrap="square" lIns="0" rIns="0" tIns="0" bIns="0" anchor="t">
            <a:spAutoFit/>
          </a:bodyPr>
          <a:lstStyle/>
          <a:p>
            <a:pPr algn="l">
              <a:spcAft>
                <a:spcPts val="400"/>
              </a:spcAft>
            </a:pPr>
            <a:r>
              <a:rPr sz="1400" b="0" i="0">
                <a:solidFill>
                  <a:srgbClr val="555555"/>
                </a:solidFill>
                <a:latin typeface="Cambria"/>
              </a:rPr>
              <a:t>Readable residuals reach the accuracy of learned geometric features. Image shape is left out on purpose: every AI image here is 4:3, so it would be a dataset shortcut, not geometry.</a:t>
            </a:r>
          </a:p>
          <a:p>
            <a:pPr algn="l">
              <a:spcAft>
                <a:spcPts val="400"/>
              </a:spcAft>
            </a:pPr>
            <a:r>
              <a:rPr sz="1400" b="0" i="0">
                <a:solidFill>
                  <a:srgbClr val="555555"/>
                </a:solidFill>
                <a:latin typeface="Cambria"/>
              </a:rPr>
              <a:t>Objectives 2 and 3 achieved. Live demo: One Camera or Not?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Conclusion and Future Scope</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sp>
        <p:nvSpPr>
          <p:cNvPr id="99" name="TextBox 98"/>
          <p:cNvSpPr txBox="1"/>
          <p:nvPr/>
        </p:nvSpPr>
        <p:spPr>
          <a:xfrm>
            <a:off x="841248" y="1188720"/>
            <a:ext cx="6035040" cy="365760"/>
          </a:xfrm>
          <a:prstGeom prst="rect">
            <a:avLst/>
          </a:prstGeom>
          <a:noFill/>
        </p:spPr>
        <p:txBody>
          <a:bodyPr wrap="square" lIns="0" rIns="0" tIns="0" bIns="0" anchor="t">
            <a:spAutoFit/>
          </a:bodyPr>
          <a:lstStyle/>
          <a:p>
            <a:pPr algn="l">
              <a:spcAft>
                <a:spcPts val="600"/>
              </a:spcAft>
            </a:pPr>
            <a:r>
              <a:rPr sz="1500" b="1" i="0">
                <a:solidFill>
                  <a:srgbClr val="B01E23"/>
                </a:solidFill>
                <a:latin typeface="Cambria"/>
              </a:rPr>
              <a:t>CONCLUSION</a:t>
            </a:r>
          </a:p>
        </p:txBody>
      </p:sp>
      <p:sp>
        <p:nvSpPr>
          <p:cNvPr id="100" name="TextBox 99"/>
          <p:cNvSpPr txBox="1"/>
          <p:nvPr/>
        </p:nvSpPr>
        <p:spPr>
          <a:xfrm>
            <a:off x="841248" y="1645920"/>
            <a:ext cx="6035040" cy="4572000"/>
          </a:xfrm>
          <a:prstGeom prst="rect">
            <a:avLst/>
          </a:prstGeom>
          <a:noFill/>
        </p:spPr>
        <p:txBody>
          <a:bodyPr wrap="square" lIns="0" rIns="0" tIns="0" bIns="0">
            <a:spAutoFit/>
          </a:bodyPr>
          <a:lstStyle/>
          <a:p>
            <a:pPr>
              <a:spcAft>
                <a:spcPts val="900"/>
              </a:spcAft>
            </a:pPr>
            <a:r>
              <a:rPr sz="1550" b="0" i="0">
                <a:solidFill>
                  <a:srgbClr val="000000"/>
                </a:solidFill>
                <a:latin typeface="Cambria"/>
              </a:rPr>
              <a:t>•  AI images get the directions roughly right but do not commit to one camera: focal agreement is 2.5 to 3 times worse than real photos.</a:t>
            </a:r>
          </a:p>
          <a:p>
            <a:pPr>
              <a:spcAft>
                <a:spcPts val="900"/>
              </a:spcAft>
            </a:pPr>
            <a:r>
              <a:rPr sz="1550" b="0" i="0">
                <a:solidFill>
                  <a:srgbClr val="000000"/>
                </a:solidFill>
                <a:latin typeface="Cambria"/>
              </a:rPr>
              <a:t>•  The result holds for two very different real photo sets and survives two robustness checks.</a:t>
            </a:r>
          </a:p>
          <a:p>
            <a:pPr>
              <a:spcAft>
                <a:spcPts val="900"/>
              </a:spcAft>
            </a:pPr>
            <a:r>
              <a:rPr sz="1550" b="0" i="0">
                <a:solidFill>
                  <a:srgbClr val="000000"/>
                </a:solidFill>
                <a:latin typeface="Cambria"/>
              </a:rPr>
              <a:t>•  A bigger model (SD 1.5 to SDXL) improves orientation, not camera coherence.</a:t>
            </a:r>
          </a:p>
          <a:p>
            <a:pPr>
              <a:spcAft>
                <a:spcPts val="900"/>
              </a:spcAft>
            </a:pPr>
            <a:r>
              <a:rPr sz="1550" b="0" i="0">
                <a:solidFill>
                  <a:srgbClr val="000000"/>
                </a:solidFill>
                <a:latin typeface="Cambria"/>
              </a:rPr>
              <a:t>•  Gemini and ChatGPT still fail; whether they improved on the SD models is not yet shown.</a:t>
            </a:r>
          </a:p>
          <a:p>
            <a:pPr>
              <a:spcAft>
                <a:spcPts val="900"/>
              </a:spcAft>
            </a:pPr>
            <a:r>
              <a:rPr sz="1550" b="0" i="0">
                <a:solidFill>
                  <a:srgbClr val="000000"/>
                </a:solidFill>
                <a:latin typeface="Cambria"/>
              </a:rPr>
              <a:t>•  Readable residuals reach learned-detector accuracy, and the app explains every score.</a:t>
            </a:r>
          </a:p>
        </p:txBody>
      </p:sp>
      <p:sp>
        <p:nvSpPr>
          <p:cNvPr id="101" name="TextBox 100"/>
          <p:cNvSpPr txBox="1"/>
          <p:nvPr/>
        </p:nvSpPr>
        <p:spPr>
          <a:xfrm>
            <a:off x="841248" y="5760720"/>
            <a:ext cx="6035040" cy="411480"/>
          </a:xfrm>
          <a:prstGeom prst="rect">
            <a:avLst/>
          </a:prstGeom>
          <a:noFill/>
        </p:spPr>
        <p:txBody>
          <a:bodyPr wrap="square" lIns="0" rIns="0" tIns="0" bIns="0" anchor="t">
            <a:spAutoFit/>
          </a:bodyPr>
          <a:lstStyle/>
          <a:p>
            <a:pPr algn="l">
              <a:spcAft>
                <a:spcPts val="600"/>
              </a:spcAft>
            </a:pPr>
            <a:r>
              <a:rPr sz="1600" b="1" i="0">
                <a:solidFill>
                  <a:srgbClr val="B01E23"/>
                </a:solidFill>
                <a:latin typeface="Cambria"/>
              </a:rPr>
              <a:t>All three objectives were achieved.</a:t>
            </a:r>
          </a:p>
        </p:txBody>
      </p:sp>
      <p:sp>
        <p:nvSpPr>
          <p:cNvPr id="102" name="Rectangle 101"/>
          <p:cNvSpPr/>
          <p:nvPr/>
        </p:nvSpPr>
        <p:spPr>
          <a:xfrm>
            <a:off x="7132320" y="1188720"/>
            <a:ext cx="4224528" cy="4983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315200" y="1325880"/>
            <a:ext cx="3886200" cy="365760"/>
          </a:xfrm>
          <a:prstGeom prst="rect">
            <a:avLst/>
          </a:prstGeom>
          <a:noFill/>
        </p:spPr>
        <p:txBody>
          <a:bodyPr wrap="square" lIns="0" rIns="0" tIns="0" bIns="0" anchor="t">
            <a:spAutoFit/>
          </a:bodyPr>
          <a:lstStyle/>
          <a:p>
            <a:pPr algn="l">
              <a:spcAft>
                <a:spcPts val="600"/>
              </a:spcAft>
            </a:pPr>
            <a:r>
              <a:rPr sz="1500" b="1" i="0">
                <a:solidFill>
                  <a:srgbClr val="B01E23"/>
                </a:solidFill>
                <a:latin typeface="Cambria"/>
              </a:rPr>
              <a:t>FUTURE SCOPE</a:t>
            </a:r>
          </a:p>
        </p:txBody>
      </p:sp>
      <p:sp>
        <p:nvSpPr>
          <p:cNvPr id="104" name="TextBox 103"/>
          <p:cNvSpPr txBox="1"/>
          <p:nvPr/>
        </p:nvSpPr>
        <p:spPr>
          <a:xfrm>
            <a:off x="7315200" y="1783080"/>
            <a:ext cx="3886200" cy="4297680"/>
          </a:xfrm>
          <a:prstGeom prst="rect">
            <a:avLst/>
          </a:prstGeom>
          <a:noFill/>
        </p:spPr>
        <p:txBody>
          <a:bodyPr wrap="square" lIns="0" rIns="0" tIns="0" bIns="0">
            <a:spAutoFit/>
          </a:bodyPr>
          <a:lstStyle/>
          <a:p>
            <a:pPr>
              <a:spcAft>
                <a:spcPts val="1200"/>
              </a:spcAft>
            </a:pPr>
            <a:r>
              <a:rPr sz="1500" b="0" i="0">
                <a:solidFill>
                  <a:srgbClr val="000000"/>
                </a:solidFill>
                <a:latin typeface="Cambria"/>
              </a:rPr>
              <a:t>•  Line-rich test of the newest models: 250 prompts each, plus Flux and Midjourney.</a:t>
            </a:r>
          </a:p>
          <a:p>
            <a:pPr>
              <a:spcAft>
                <a:spcPts val="1200"/>
              </a:spcAft>
            </a:pPr>
            <a:r>
              <a:rPr sz="1500" b="0" i="0">
                <a:solidFill>
                  <a:srgbClr val="000000"/>
                </a:solidFill>
                <a:latin typeface="Cambria"/>
              </a:rPr>
              <a:t>•  Find WHERE an image breaks: per-region camera checks for inpainting and splicing.</a:t>
            </a:r>
          </a:p>
          <a:p>
            <a:pPr>
              <a:spcAft>
                <a:spcPts val="1200"/>
              </a:spcAft>
            </a:pPr>
            <a:r>
              <a:rPr sz="1500" b="0" i="0">
                <a:solidFill>
                  <a:srgbClr val="000000"/>
                </a:solidFill>
                <a:latin typeface="Cambria"/>
              </a:rPr>
              <a:t>•  Shadows on real photos, pairing shadows with objects (SAM 2).</a:t>
            </a:r>
          </a:p>
          <a:p>
            <a:pPr>
              <a:spcAft>
                <a:spcPts val="1200"/>
              </a:spcAft>
            </a:pPr>
            <a:r>
              <a:rPr sz="1500" b="0" i="0">
                <a:solidFill>
                  <a:srgbClr val="000000"/>
                </a:solidFill>
                <a:latin typeface="Cambria"/>
              </a:rPr>
              <a:t>•  Combine with a learned detector; test cropping and compression.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Schedule of the Work</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graphicFrame>
        <p:nvGraphicFramePr>
          <p:cNvPr id="99" name="Table 98"/>
          <p:cNvGraphicFramePr>
            <a:graphicFrameLocks noGrp="1"/>
          </p:cNvGraphicFramePr>
          <p:nvPr/>
        </p:nvGraphicFramePr>
        <p:xfrm>
          <a:off x="566928" y="1188720"/>
          <a:ext cx="11064240" cy="4754880"/>
        </p:xfrm>
        <a:graphic>
          <a:graphicData uri="http://schemas.openxmlformats.org/drawingml/2006/table">
            <a:tbl>
              <a:tblPr firstRow="1" bandRow="1">
                <a:tableStyleId>{252108C0-F26C-423F-91A2-4CEDFFE9ED8A}</a:tableStyleId>
              </a:tblPr>
              <a:tblGrid>
                <a:gridCol w="4572000"/>
                <a:gridCol w="1417320"/>
                <a:gridCol w="1417320"/>
                <a:gridCol w="1417320"/>
                <a:gridCol w="1417320"/>
                <a:gridCol w="822960"/>
              </a:tblGrid>
              <a:tr h="475488">
                <a:tc>
                  <a:txBody>
                    <a:bodyPr/>
                    <a:lstStyle/>
                    <a:p>
                      <a:pPr algn="ctr"/>
                      <a:r>
                        <a:rPr sz="1400" b="1" i="0">
                          <a:solidFill>
                            <a:srgbClr val="000000"/>
                          </a:solidFill>
                          <a:latin typeface="Cambria"/>
                        </a:rPr>
                        <a:t>Task</a:t>
                      </a:r>
                    </a:p>
                  </a:txBody>
                  <a:tcPr anchor="ctr" marL="54864" marR="54864"/>
                </a:tc>
                <a:tc>
                  <a:txBody>
                    <a:bodyPr/>
                    <a:lstStyle/>
                    <a:p>
                      <a:pPr algn="ctr"/>
                      <a:r>
                        <a:rPr sz="1400" b="1" i="0">
                          <a:solidFill>
                            <a:srgbClr val="000000"/>
                          </a:solidFill>
                          <a:latin typeface="Cambria"/>
                        </a:rPr>
                        <a:t>Week 1</a:t>
                      </a:r>
                    </a:p>
                    <a:p>
                      <a:pPr algn="ctr"/>
                      <a:r>
                        <a:rPr sz="1400" b="1" i="0">
                          <a:solidFill>
                            <a:srgbClr val="000000"/>
                          </a:solidFill>
                          <a:latin typeface="Cambria"/>
                        </a:rPr>
                        <a:t>14 to 20 Sep</a:t>
                      </a:r>
                    </a:p>
                  </a:txBody>
                  <a:tcPr anchor="ctr" marL="54864" marR="54864"/>
                </a:tc>
                <a:tc>
                  <a:txBody>
                    <a:bodyPr/>
                    <a:lstStyle/>
                    <a:p>
                      <a:pPr algn="ctr"/>
                      <a:r>
                        <a:rPr sz="1400" b="1" i="0">
                          <a:solidFill>
                            <a:srgbClr val="000000"/>
                          </a:solidFill>
                          <a:latin typeface="Cambria"/>
                        </a:rPr>
                        <a:t>Week 2</a:t>
                      </a:r>
                    </a:p>
                    <a:p>
                      <a:pPr algn="ctr"/>
                      <a:r>
                        <a:rPr sz="1400" b="1" i="0">
                          <a:solidFill>
                            <a:srgbClr val="000000"/>
                          </a:solidFill>
                          <a:latin typeface="Cambria"/>
                        </a:rPr>
                        <a:t>21 to 27 Sep</a:t>
                      </a:r>
                    </a:p>
                  </a:txBody>
                  <a:tcPr anchor="ctr" marL="54864" marR="54864"/>
                </a:tc>
                <a:tc>
                  <a:txBody>
                    <a:bodyPr/>
                    <a:lstStyle/>
                    <a:p>
                      <a:pPr algn="ctr"/>
                      <a:r>
                        <a:rPr sz="1400" b="1" i="0">
                          <a:solidFill>
                            <a:srgbClr val="000000"/>
                          </a:solidFill>
                          <a:latin typeface="Cambria"/>
                        </a:rPr>
                        <a:t>Week 3</a:t>
                      </a:r>
                    </a:p>
                    <a:p>
                      <a:pPr algn="ctr"/>
                      <a:r>
                        <a:rPr sz="1400" b="1" i="0">
                          <a:solidFill>
                            <a:srgbClr val="000000"/>
                          </a:solidFill>
                          <a:latin typeface="Cambria"/>
                        </a:rPr>
                        <a:t>28 Sep to 4 Oct</a:t>
                      </a:r>
                    </a:p>
                  </a:txBody>
                  <a:tcPr anchor="ctr" marL="54864" marR="54864"/>
                </a:tc>
                <a:tc>
                  <a:txBody>
                    <a:bodyPr/>
                    <a:lstStyle/>
                    <a:p>
                      <a:pPr algn="ctr"/>
                      <a:r>
                        <a:rPr sz="1400" b="1" i="0">
                          <a:solidFill>
                            <a:srgbClr val="000000"/>
                          </a:solidFill>
                          <a:latin typeface="Cambria"/>
                        </a:rPr>
                        <a:t>Week 4</a:t>
                      </a:r>
                    </a:p>
                    <a:p>
                      <a:pPr algn="ctr"/>
                      <a:r>
                        <a:rPr sz="1400" b="1" i="0">
                          <a:solidFill>
                            <a:srgbClr val="000000"/>
                          </a:solidFill>
                          <a:latin typeface="Cambria"/>
                        </a:rPr>
                        <a:t>5 to 11 Oct</a:t>
                      </a:r>
                    </a:p>
                  </a:txBody>
                  <a:tcPr anchor="ctr" marL="54864" marR="54864"/>
                </a:tc>
                <a:tc>
                  <a:txBody>
                    <a:bodyPr/>
                    <a:lstStyle/>
                    <a:p>
                      <a:pPr algn="ctr"/>
                      <a:r>
                        <a:rPr sz="1400" b="1" i="0">
                          <a:solidFill>
                            <a:srgbClr val="000000"/>
                          </a:solidFill>
                          <a:latin typeface="Cambria"/>
                        </a:rPr>
                        <a:t>Status</a:t>
                      </a:r>
                    </a:p>
                  </a:txBody>
                  <a:tcPr anchor="ctr" marL="54864" marR="54864"/>
                </a:tc>
              </a:tr>
              <a:tr h="475488">
                <a:tc>
                  <a:txBody>
                    <a:bodyPr/>
                    <a:lstStyle/>
                    <a:p>
                      <a:pPr algn="l"/>
                      <a:r>
                        <a:rPr sz="1400" b="0" i="0">
                          <a:solidFill>
                            <a:srgbClr val="000000"/>
                          </a:solidFill>
                          <a:latin typeface="Cambria"/>
                        </a:rPr>
                        <a:t>Literature review, problem statement, plan</a:t>
                      </a:r>
                    </a:p>
                  </a:txBody>
                  <a:tcPr anchor="ctr" marL="54864" marR="54864"/>
                </a:tc>
                <a:tc>
                  <a:txBody>
                    <a:bodyPr/>
                    <a:lstStyle/>
                    <a:p>
                      <a:pPr algn="l"/>
                      <a:r>
                        <a:rPr sz="1400" b="0" i="0">
                          <a:solidFill>
                            <a:srgbClr val="000000"/>
                          </a:solidFill>
                          <a:latin typeface="Cambria"/>
                        </a:rPr>
                        <a:t/>
                      </a:r>
                    </a:p>
                  </a:txBody>
                  <a:tcPr anchor="ctr" marL="54864" marR="54864">
                    <a:solidFill>
                      <a:srgbClr val="9E9E9E"/>
                    </a:solidFill>
                  </a:tcPr>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Done</a:t>
                      </a:r>
                    </a:p>
                  </a:txBody>
                  <a:tcPr anchor="ctr" marL="54864" marR="54864"/>
                </a:tc>
              </a:tr>
              <a:tr h="475488">
                <a:tc>
                  <a:txBody>
                    <a:bodyPr/>
                    <a:lstStyle/>
                    <a:p>
                      <a:pPr algn="l"/>
                      <a:r>
                        <a:rPr sz="1400" b="0" i="0">
                          <a:solidFill>
                            <a:srgbClr val="000000"/>
                          </a:solidFill>
                          <a:latin typeface="Cambria"/>
                        </a:rPr>
                        <a:t>Geometry pipeline and synthetic validation (Obj. 1)</a:t>
                      </a:r>
                    </a:p>
                  </a:txBody>
                  <a:tcPr anchor="ctr" marL="54864" marR="54864"/>
                </a:tc>
                <a:tc>
                  <a:txBody>
                    <a:bodyPr/>
                    <a:lstStyle/>
                    <a:p>
                      <a:pPr algn="l"/>
                      <a:r>
                        <a:rPr sz="1400" b="0" i="0">
                          <a:solidFill>
                            <a:srgbClr val="000000"/>
                          </a:solidFill>
                          <a:latin typeface="Cambria"/>
                        </a:rPr>
                        <a:t/>
                      </a:r>
                    </a:p>
                  </a:txBody>
                  <a:tcPr anchor="ctr" marL="54864" marR="54864">
                    <a:solidFill>
                      <a:srgbClr val="9E9E9E"/>
                    </a:solidFill>
                  </a:tcPr>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Done</a:t>
                      </a:r>
                    </a:p>
                  </a:txBody>
                  <a:tcPr anchor="ctr" marL="54864" marR="54864"/>
                </a:tc>
              </a:tr>
              <a:tr h="475488">
                <a:tc>
                  <a:txBody>
                    <a:bodyPr/>
                    <a:lstStyle/>
                    <a:p>
                      <a:pPr algn="l"/>
                      <a:r>
                        <a:rPr sz="1400" b="0" i="0">
                          <a:solidFill>
                            <a:srgbClr val="000000"/>
                          </a:solidFill>
                          <a:latin typeface="Cambria"/>
                        </a:rPr>
                        <a:t>Real-photo baselines: York Urban, Commons (Obj. 1)</a:t>
                      </a:r>
                    </a:p>
                  </a:txBody>
                  <a:tcPr anchor="ctr" marL="54864" marR="54864"/>
                </a:tc>
                <a:tc>
                  <a:txBody>
                    <a:bodyPr/>
                    <a:lstStyle/>
                    <a:p>
                      <a:pPr algn="l"/>
                      <a:r>
                        <a:rPr sz="1400" b="0" i="0">
                          <a:solidFill>
                            <a:srgbClr val="000000"/>
                          </a:solidFill>
                          <a:latin typeface="Cambria"/>
                        </a:rPr>
                        <a:t/>
                      </a:r>
                    </a:p>
                  </a:txBody>
                  <a:tcPr anchor="ctr" marL="54864" marR="54864">
                    <a:solidFill>
                      <a:srgbClr val="9E9E9E"/>
                    </a:solidFill>
                  </a:tcPr>
                </a:tc>
                <a:tc>
                  <a:txBody>
                    <a:bodyPr/>
                    <a:lstStyle/>
                    <a:p>
                      <a:pPr algn="l"/>
                      <a:r>
                        <a:rPr sz="1400" b="0" i="0">
                          <a:solidFill>
                            <a:srgbClr val="000000"/>
                          </a:solidFill>
                          <a:latin typeface="Cambria"/>
                        </a:rPr>
                        <a:t/>
                      </a:r>
                    </a:p>
                  </a:txBody>
                  <a:tcPr anchor="ctr" marL="54864" marR="54864">
                    <a:solidFill>
                      <a:srgbClr val="9E9E9E"/>
                    </a:solidFill>
                  </a:tcPr>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Done</a:t>
                      </a:r>
                    </a:p>
                  </a:txBody>
                  <a:tcPr anchor="ctr" marL="54864" marR="54864"/>
                </a:tc>
              </a:tr>
              <a:tr h="475488">
                <a:tc>
                  <a:txBody>
                    <a:bodyPr/>
                    <a:lstStyle/>
                    <a:p>
                      <a:pPr algn="l"/>
                      <a:r>
                        <a:rPr sz="1400" b="0" i="0">
                          <a:solidFill>
                            <a:srgbClr val="000000"/>
                          </a:solidFill>
                          <a:latin typeface="Cambria"/>
                        </a:rPr>
                        <a:t>Generated sets: SD 1.5, SDXL (Obj. 2)</a:t>
                      </a:r>
                    </a:p>
                  </a:txBody>
                  <a:tcPr anchor="ctr" marL="54864" marR="54864"/>
                </a:tc>
                <a:tc>
                  <a:txBody>
                    <a:bodyPr/>
                    <a:lstStyle/>
                    <a:p>
                      <a:pPr algn="l"/>
                      <a:r>
                        <a:rPr sz="1400" b="0" i="0">
                          <a:solidFill>
                            <a:srgbClr val="000000"/>
                          </a:solidFill>
                          <a:latin typeface="Cambria"/>
                        </a:rPr>
                        <a:t/>
                      </a:r>
                    </a:p>
                  </a:txBody>
                  <a:tcPr anchor="ctr" marL="54864" marR="54864">
                    <a:solidFill>
                      <a:srgbClr val="9E9E9E"/>
                    </a:solidFill>
                  </a:tcPr>
                </a:tc>
                <a:tc>
                  <a:txBody>
                    <a:bodyPr/>
                    <a:lstStyle/>
                    <a:p>
                      <a:pPr algn="l"/>
                      <a:r>
                        <a:rPr sz="1400" b="0" i="0">
                          <a:solidFill>
                            <a:srgbClr val="000000"/>
                          </a:solidFill>
                          <a:latin typeface="Cambria"/>
                        </a:rPr>
                        <a:t/>
                      </a:r>
                    </a:p>
                  </a:txBody>
                  <a:tcPr anchor="ctr" marL="54864" marR="54864">
                    <a:solidFill>
                      <a:srgbClr val="9E9E9E"/>
                    </a:solidFill>
                  </a:tcPr>
                </a:tc>
                <a:tc>
                  <a:txBody>
                    <a:bodyPr/>
                    <a:lstStyle/>
                    <a:p>
                      <a:pPr algn="l"/>
                      <a:r>
                        <a:rPr sz="1400" b="0" i="0">
                          <a:solidFill>
                            <a:srgbClr val="000000"/>
                          </a:solidFill>
                          <a:latin typeface="Cambria"/>
                        </a:rPr>
                        <a:t/>
                      </a:r>
                    </a:p>
                  </a:txBody>
                  <a:tcPr anchor="ctr" marL="54864" marR="54864">
                    <a:solidFill>
                      <a:srgbClr val="9E9E9E"/>
                    </a:solidFill>
                  </a:tcPr>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Done</a:t>
                      </a:r>
                    </a:p>
                  </a:txBody>
                  <a:tcPr anchor="ctr" marL="54864" marR="54864"/>
                </a:tc>
              </a:tr>
              <a:tr h="475488">
                <a:tc>
                  <a:txBody>
                    <a:bodyPr/>
                    <a:lstStyle/>
                    <a:p>
                      <a:pPr algn="l"/>
                      <a:r>
                        <a:rPr sz="1400" b="0" i="0">
                          <a:solidFill>
                            <a:srgbClr val="000000"/>
                          </a:solidFill>
                          <a:latin typeface="Cambria"/>
                        </a:rPr>
                        <a:t>Applicability rule, Atlanta measure, classifiers (Obj. 1, 2)</a:t>
                      </a:r>
                    </a:p>
                  </a:txBody>
                  <a:tcPr anchor="ctr" marL="54864" marR="54864"/>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
                      </a:r>
                    </a:p>
                  </a:txBody>
                  <a:tcPr anchor="ctr" marL="54864" marR="54864">
                    <a:solidFill>
                      <a:srgbClr val="9E9E9E"/>
                    </a:solidFill>
                  </a:tcPr>
                </a:tc>
                <a:tc>
                  <a:txBody>
                    <a:bodyPr/>
                    <a:lstStyle/>
                    <a:p>
                      <a:pPr algn="l"/>
                      <a:r>
                        <a:rPr sz="1400" b="0" i="0">
                          <a:solidFill>
                            <a:srgbClr val="000000"/>
                          </a:solidFill>
                          <a:latin typeface="Cambria"/>
                        </a:rPr>
                        <a:t/>
                      </a:r>
                    </a:p>
                  </a:txBody>
                  <a:tcPr anchor="ctr" marL="54864" marR="54864">
                    <a:solidFill>
                      <a:srgbClr val="9E9E9E"/>
                    </a:solidFill>
                  </a:tcPr>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Done</a:t>
                      </a:r>
                    </a:p>
                  </a:txBody>
                  <a:tcPr anchor="ctr" marL="54864" marR="54864"/>
                </a:tc>
              </a:tr>
              <a:tr h="475488">
                <a:tc>
                  <a:txBody>
                    <a:bodyPr/>
                    <a:lstStyle/>
                    <a:p>
                      <a:pPr algn="l"/>
                      <a:r>
                        <a:rPr sz="1400" b="0" i="0">
                          <a:solidFill>
                            <a:srgbClr val="000000"/>
                          </a:solidFill>
                          <a:latin typeface="Cambria"/>
                        </a:rPr>
                        <a:t>Frontier models: Gemini, ChatGPT (Obj. 2)</a:t>
                      </a:r>
                    </a:p>
                  </a:txBody>
                  <a:tcPr anchor="ctr" marL="54864" marR="54864"/>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
                      </a:r>
                    </a:p>
                  </a:txBody>
                  <a:tcPr anchor="ctr" marL="54864" marR="54864">
                    <a:solidFill>
                      <a:srgbClr val="9E9E9E"/>
                    </a:solidFill>
                  </a:tcPr>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Done</a:t>
                      </a:r>
                    </a:p>
                  </a:txBody>
                  <a:tcPr anchor="ctr" marL="54864" marR="54864"/>
                </a:tc>
              </a:tr>
              <a:tr h="475488">
                <a:tc>
                  <a:txBody>
                    <a:bodyPr/>
                    <a:lstStyle/>
                    <a:p>
                      <a:pPr algn="l"/>
                      <a:r>
                        <a:rPr sz="1400" b="0" i="0">
                          <a:solidFill>
                            <a:srgbClr val="000000"/>
                          </a:solidFill>
                          <a:latin typeface="Cambria"/>
                        </a:rPr>
                        <a:t>Robustness checks and demo app (Obj. 2, 3)</a:t>
                      </a:r>
                    </a:p>
                  </a:txBody>
                  <a:tcPr anchor="ctr" marL="54864" marR="54864"/>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
                      </a:r>
                    </a:p>
                  </a:txBody>
                  <a:tcPr anchor="ctr" marL="54864" marR="54864">
                    <a:solidFill>
                      <a:srgbClr val="9E9E9E"/>
                    </a:solidFill>
                  </a:tcPr>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Done</a:t>
                      </a:r>
                    </a:p>
                  </a:txBody>
                  <a:tcPr anchor="ctr" marL="54864" marR="54864"/>
                </a:tc>
              </a:tr>
              <a:tr h="475488">
                <a:tc>
                  <a:txBody>
                    <a:bodyPr/>
                    <a:lstStyle/>
                    <a:p>
                      <a:pPr algn="l"/>
                      <a:r>
                        <a:rPr sz="1400" b="0" i="0">
                          <a:solidFill>
                            <a:srgbClr val="000000"/>
                          </a:solidFill>
                          <a:latin typeface="Cambria"/>
                        </a:rPr>
                        <a:t>Report, slides, code release on GitHub</a:t>
                      </a:r>
                    </a:p>
                  </a:txBody>
                  <a:tcPr anchor="ctr" marL="54864" marR="54864"/>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
                      </a:r>
                    </a:p>
                  </a:txBody>
                  <a:tcPr anchor="ctr" marL="54864" marR="54864">
                    <a:solidFill>
                      <a:srgbClr val="9E9E9E"/>
                    </a:solidFill>
                  </a:tcPr>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Done</a:t>
                      </a:r>
                    </a:p>
                  </a:txBody>
                  <a:tcPr anchor="ctr" marL="54864" marR="54864"/>
                </a:tc>
              </a:tr>
              <a:tr h="475488">
                <a:tc>
                  <a:txBody>
                    <a:bodyPr/>
                    <a:lstStyle/>
                    <a:p>
                      <a:pPr algn="l"/>
                      <a:r>
                        <a:rPr sz="1400" b="0" i="0">
                          <a:solidFill>
                            <a:srgbClr val="000000"/>
                          </a:solidFill>
                          <a:latin typeface="Cambria"/>
                        </a:rPr>
                        <a:t>Flux run, similarity reports, final edits, viva</a:t>
                      </a:r>
                    </a:p>
                  </a:txBody>
                  <a:tcPr anchor="ctr" marL="54864" marR="54864"/>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
                      </a:r>
                    </a:p>
                  </a:txBody>
                  <a:tcPr anchor="ctr" marL="54864" marR="54864"/>
                </a:tc>
                <a:tc>
                  <a:txBody>
                    <a:bodyPr/>
                    <a:lstStyle/>
                    <a:p>
                      <a:pPr algn="l"/>
                      <a:r>
                        <a:rPr sz="1400" b="0" i="0">
                          <a:solidFill>
                            <a:srgbClr val="000000"/>
                          </a:solidFill>
                          <a:latin typeface="Cambria"/>
                        </a:rPr>
                        <a:t/>
                      </a:r>
                    </a:p>
                  </a:txBody>
                  <a:tcPr anchor="ctr" marL="54864" marR="54864">
                    <a:solidFill>
                      <a:srgbClr val="F6D5D6"/>
                    </a:solidFill>
                  </a:tcPr>
                </a:tc>
                <a:tc>
                  <a:txBody>
                    <a:bodyPr/>
                    <a:lstStyle/>
                    <a:p>
                      <a:pPr algn="l"/>
                      <a:r>
                        <a:rPr sz="1400" b="0" i="0">
                          <a:solidFill>
                            <a:srgbClr val="000000"/>
                          </a:solidFill>
                          <a:latin typeface="Cambria"/>
                        </a:rPr>
                        <a:t>Planned</a:t>
                      </a:r>
                    </a:p>
                  </a:txBody>
                  <a:tcPr anchor="ctr" marL="54864" marR="54864"/>
                </a:tc>
              </a:tr>
            </a:tbl>
          </a:graphicData>
        </a:graphic>
      </p:graphicFrame>
      <p:sp>
        <p:nvSpPr>
          <p:cNvPr id="100" name="TextBox 99"/>
          <p:cNvSpPr txBox="1"/>
          <p:nvPr/>
        </p:nvSpPr>
        <p:spPr>
          <a:xfrm>
            <a:off x="566928" y="6035040"/>
            <a:ext cx="11064240" cy="320040"/>
          </a:xfrm>
          <a:prstGeom prst="rect">
            <a:avLst/>
          </a:prstGeom>
          <a:noFill/>
        </p:spPr>
        <p:txBody>
          <a:bodyPr wrap="square" lIns="0" rIns="0" tIns="0" bIns="0" anchor="t">
            <a:spAutoFit/>
          </a:bodyPr>
          <a:lstStyle/>
          <a:p>
            <a:pPr algn="l">
              <a:spcAft>
                <a:spcPts val="600"/>
              </a:spcAft>
            </a:pPr>
            <a:r>
              <a:rPr sz="1200" b="0" i="1">
                <a:solidFill>
                  <a:srgbClr val="555555"/>
                </a:solidFill>
                <a:latin typeface="Cambria"/>
              </a:rPr>
              <a:t>Grey: completed. Pink: planned.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82880"/>
            <a:ext cx="10515600" cy="868680"/>
          </a:xfrm>
        </p:spPr>
        <p:txBody>
          <a:bodyPr/>
          <a:lstStyle/>
          <a:p>
            <a:r>
              <a:rPr sz="3400" b="1" i="0">
                <a:solidFill>
                  <a:srgbClr val="000000"/>
                </a:solidFill>
                <a:latin typeface="Cambria"/>
              </a:rPr>
              <a:t>References</a:t>
            </a:r>
          </a:p>
        </p:txBody>
      </p:sp>
      <p:sp>
        <p:nvSpPr>
          <p:cNvPr id="98" name="Google Shape;98;p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sp>
        <p:nvSpPr>
          <p:cNvPr id="99" name="TextBox 98"/>
          <p:cNvSpPr txBox="1"/>
          <p:nvPr/>
        </p:nvSpPr>
        <p:spPr>
          <a:xfrm>
            <a:off x="841248" y="1143000"/>
            <a:ext cx="10515600" cy="4846320"/>
          </a:xfrm>
          <a:prstGeom prst="rect">
            <a:avLst/>
          </a:prstGeom>
          <a:noFill/>
        </p:spPr>
        <p:txBody>
          <a:bodyPr wrap="square" lIns="0" rIns="0" tIns="0" bIns="0" anchor="t">
            <a:spAutoFit/>
          </a:bodyPr>
          <a:lstStyle/>
          <a:p>
            <a:pPr algn="l">
              <a:spcAft>
                <a:spcPts val="500"/>
              </a:spcAft>
            </a:pPr>
            <a:r>
              <a:rPr sz="1500" b="0" i="0">
                <a:solidFill>
                  <a:srgbClr val="000000"/>
                </a:solidFill>
                <a:latin typeface="Cambria"/>
              </a:rPr>
              <a:t>[1] A. Sarkar et al., “Shadows Don’t Lie and Lines Can’t Bend! Generative Models don’t know Projective Geometry…for now,” CVPR, 2024.</a:t>
            </a:r>
          </a:p>
          <a:p>
            <a:pPr algn="l">
              <a:spcAft>
                <a:spcPts val="500"/>
              </a:spcAft>
            </a:pPr>
            <a:r>
              <a:rPr sz="1500" b="0" i="0">
                <a:solidFill>
                  <a:srgbClr val="000000"/>
                </a:solidFill>
                <a:latin typeface="Cambria"/>
              </a:rPr>
              <a:t>[2] R. Hartley and A. Zisserman, Multiple View Geometry in Computer Vision, 2nd ed., Cambridge University Press, 2004.</a:t>
            </a:r>
          </a:p>
          <a:p>
            <a:pPr algn="l">
              <a:spcAft>
                <a:spcPts val="500"/>
              </a:spcAft>
            </a:pPr>
            <a:r>
              <a:rPr sz="1500" b="0" i="0">
                <a:solidFill>
                  <a:srgbClr val="000000"/>
                </a:solidFill>
                <a:latin typeface="Cambria"/>
              </a:rPr>
              <a:t>[3] E. Kee, J. F. O’Brien and H. Farid, “Exposing photo manipulation with inconsistent shadows,” ACM TOG, vol. 32, no. 3, 2013.</a:t>
            </a:r>
          </a:p>
          <a:p>
            <a:pPr algn="l">
              <a:spcAft>
                <a:spcPts val="500"/>
              </a:spcAft>
            </a:pPr>
            <a:r>
              <a:rPr sz="1500" b="0" i="0">
                <a:solidFill>
                  <a:srgbClr val="000000"/>
                </a:solidFill>
                <a:latin typeface="Cambria"/>
              </a:rPr>
              <a:t>[4] H. Farid, “Perspective (in)consistency of paint by text,” arXiv, 2022.</a:t>
            </a:r>
          </a:p>
          <a:p>
            <a:pPr algn="l">
              <a:spcAft>
                <a:spcPts val="500"/>
              </a:spcAft>
            </a:pPr>
            <a:r>
              <a:rPr sz="1500" b="0" i="0">
                <a:solidFill>
                  <a:srgbClr val="000000"/>
                </a:solidFill>
                <a:latin typeface="Cambria"/>
              </a:rPr>
              <a:t>[5] A. Criminisi, I. Reid and A. Zisserman, “Single view metrology,” IJCV, vol. 40, no. 2, pp. 123-148, 2000.</a:t>
            </a:r>
          </a:p>
          <a:p>
            <a:pPr algn="l">
              <a:spcAft>
                <a:spcPts val="500"/>
              </a:spcAft>
            </a:pPr>
            <a:r>
              <a:rPr sz="1500" b="0" i="0">
                <a:solidFill>
                  <a:srgbClr val="000000"/>
                </a:solidFill>
                <a:latin typeface="Cambria"/>
              </a:rPr>
              <a:t>[6] J. M. Coughlan and A. L. Yuille, “Manhattan world,” ICCV, 1999.</a:t>
            </a:r>
          </a:p>
          <a:p>
            <a:pPr algn="l">
              <a:spcAft>
                <a:spcPts val="500"/>
              </a:spcAft>
            </a:pPr>
            <a:r>
              <a:rPr sz="1500" b="0" i="0">
                <a:solidFill>
                  <a:srgbClr val="000000"/>
                </a:solidFill>
                <a:latin typeface="Cambria"/>
              </a:rPr>
              <a:t>[7] G. Schindler and F. Dellaert, “Atlanta world,” CVPR, 2004.</a:t>
            </a:r>
          </a:p>
          <a:p>
            <a:pPr algn="l">
              <a:spcAft>
                <a:spcPts val="500"/>
              </a:spcAft>
            </a:pPr>
            <a:r>
              <a:rPr sz="1500" b="0" i="0">
                <a:solidFill>
                  <a:srgbClr val="000000"/>
                </a:solidFill>
                <a:latin typeface="Cambria"/>
              </a:rPr>
              <a:t>[8] P. Denis, J. H. Elder and F. J. Estrada, “Efficient edge-based methods for estimating Manhattan frames in urban imagery,” ECCV, 2008.</a:t>
            </a:r>
          </a:p>
          <a:p>
            <a:pPr algn="l">
              <a:spcAft>
                <a:spcPts val="500"/>
              </a:spcAft>
            </a:pPr>
            <a:r>
              <a:rPr sz="1500" b="0" i="0">
                <a:solidFill>
                  <a:srgbClr val="000000"/>
                </a:solidFill>
                <a:latin typeface="Cambria"/>
              </a:rPr>
              <a:t>[9] R. Grompone von Gioi et al., “LSD: a fast line segment detector with a false detection control,” IEEE TPAMI, vol. 32, no. 4, 2010.</a:t>
            </a:r>
          </a:p>
          <a:p>
            <a:pPr algn="l">
              <a:spcAft>
                <a:spcPts val="500"/>
              </a:spcAft>
            </a:pPr>
            <a:r>
              <a:rPr sz="1500" b="0" i="0">
                <a:solidFill>
                  <a:srgbClr val="000000"/>
                </a:solidFill>
                <a:latin typeface="Cambria"/>
              </a:rPr>
              <a:t>[10] M. El Banani et al., “Probing the 3D awareness of visual foundation models,” CVPR, 2024.</a:t>
            </a:r>
          </a:p>
          <a:p>
            <a:pPr algn="l">
              <a:spcAft>
                <a:spcPts val="500"/>
              </a:spcAft>
            </a:pPr>
            <a:r>
              <a:rPr sz="1500" b="0" i="0">
                <a:solidFill>
                  <a:srgbClr val="000000"/>
                </a:solidFill>
                <a:latin typeface="Cambria"/>
              </a:rPr>
              <a:t>[11] D. Podell et al., “SDXL: improving latent diffusion models for high-resolution image synthesis,” ICLR, 2024.</a:t>
            </a:r>
          </a:p>
          <a:p>
            <a:pPr algn="l">
              <a:spcAft>
                <a:spcPts val="500"/>
              </a:spcAft>
            </a:pPr>
            <a:r>
              <a:rPr sz="1500" b="0" i="0">
                <a:solidFill>
                  <a:srgbClr val="000000"/>
                </a:solidFill>
                <a:latin typeface="Cambria"/>
              </a:rPr>
              <a:t>[12] L. Breiman, “Random forests,” Machine Learning, vol. 45, no. 1, 2001.</a:t>
            </a:r>
          </a:p>
        </p:txBody>
      </p:sp>
      <p:sp>
        <p:nvSpPr>
          <p:cNvPr id="100" name="TextBox 99"/>
          <p:cNvSpPr txBox="1"/>
          <p:nvPr/>
        </p:nvSpPr>
        <p:spPr>
          <a:xfrm>
            <a:off x="841248" y="6035040"/>
            <a:ext cx="10515600" cy="320040"/>
          </a:xfrm>
          <a:prstGeom prst="rect">
            <a:avLst/>
          </a:prstGeom>
          <a:noFill/>
        </p:spPr>
        <p:txBody>
          <a:bodyPr wrap="square" lIns="0" rIns="0" tIns="0" bIns="0" anchor="t">
            <a:spAutoFit/>
          </a:bodyPr>
          <a:lstStyle/>
          <a:p>
            <a:pPr algn="l">
              <a:spcAft>
                <a:spcPts val="600"/>
              </a:spcAft>
            </a:pPr>
            <a:r>
              <a:rPr sz="1100" b="0" i="1">
                <a:solidFill>
                  <a:srgbClr val="555555"/>
                </a:solidFill>
                <a:latin typeface="Cambria"/>
              </a:rPr>
              <a:t>Full list of 26 references in the report. Datasets: York Urban (Elder Laboratory, York University); Wikimedia Commons photos under CC licences.</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TotalTime>
  <Words>379</Words>
  <Application>Microsoft Office PowerPoint</Application>
  <PresentationFormat>Widescreen</PresentationFormat>
  <Paragraphs>67</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Office Theme</vt:lpstr>
      <vt:lpstr>PowerPoint Presentation</vt:lpstr>
      <vt:lpstr>Content of Presentation </vt:lpstr>
      <vt:lpstr>Introduction</vt:lpstr>
      <vt:lpstr>Review of Literature </vt:lpstr>
      <vt:lpstr>Research Gap</vt:lpstr>
      <vt:lpstr>Statement of the Problem</vt:lpstr>
      <vt:lpstr>Objectives</vt:lpstr>
      <vt:lpstr>Methodology</vt:lpstr>
      <vt:lpstr>Results and Discussion</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Administrator</dc:creator>
  <cp:lastModifiedBy>sameer syed</cp:lastModifiedBy>
  <cp:revision>10</cp:revision>
  <dcterms:created xsi:type="dcterms:W3CDTF">2024-07-12T05:12:35Z</dcterms:created>
  <dcterms:modified xsi:type="dcterms:W3CDTF">2026-09-20T13:51:57Z</dcterms:modified>
</cp:coreProperties>
</file>