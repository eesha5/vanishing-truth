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one-line thesis: a photograph is made by a camera, a generated image is not, and that difference is measurable in degrees.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that these are consequences of projective geometry, not statistical tendencies.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robotics link is the syllabus tie-in: active perception and autonomous vehicles depend on projective consistency.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O4 is the one that separates this project from a naive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Sarkar et al. is required reading; our work extends it from detection to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4 turned out to be the one that changes results the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L3b is primary: it is valid in Atlanta worlds, where L3 is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non-circularity test is the thing to stress if a reviewer asks whether we cherry-picked.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capped-mean fix: inlier RMS saturates, so it was replaced by an uncensored statistic verified monotone.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stratum-2 failure is a good example of diagnosing a negative result rather than discarding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Without this slide, every later number is uninterpretable.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methodological heart of the project. Stress that no evidence-based filtering removes the tail: stricter support makes it worse, and 98% of those photos are uncropped.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defend. The CIs are bootstrap; the proportions use Wilson intervals.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that the focal result is a null, not a reversal — an earlier version of this claim was withdrawn.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algorithms were run: logistic regression, decision tree, SVM, random forest, naive Bayes, kNN. Five-fold stratified cross-validation.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two images ready: one real photograph that passes, one generated image that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for one sentence, use the line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Frontier models are the highest-value next step and need no new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Verify all reference details against publisher records before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8A33D"/>
                </a:solidFill>
                <a:latin typeface="Calibri"/>
              </a:rPr>
              <a:t>CA-3 VISION-BASED APPLICATION TASK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36289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Geometric Consistency Analysis for Detection of Synthetic Imagery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3628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A9C4D4"/>
                </a:solidFill>
                <a:latin typeface="Calibri"/>
              </a:rPr>
              <a:t>Vanishing-Point and Shadow-Based Cues Across Generator Generations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343400"/>
            <a:ext cx="1463040" cy="381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628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D6E2EA"/>
                </a:solidFill>
                <a:latin typeface="Calibri"/>
              </a:rPr>
              <a:t>Team: &lt;Name, PRN&gt;   |   &lt;Name, PRN&gt;   |   &lt;Name, PRN&gt;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D6E2EA"/>
                </a:solidFill>
                <a:latin typeface="Calibri"/>
              </a:rPr>
              <a:t>Course: Computer Vision   |   Department of &lt;Department&gt;, &lt;Institute&gt;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D6E2EA"/>
                </a:solidFill>
                <a:latin typeface="Calibri"/>
              </a:rPr>
              <a:t>Academic Year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6766560" cy="20116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62179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Given a single image, decide whether its geometry is consistent with formation by ONE pinhole camera, express any inconsistency as a residual in interpretable units, calibrate that residual against real photographs, and use the resulting profile to compare generative models.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67665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•  Not “is this image fake?” but “which camera rule does it break, and by how much?”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Residuals in degrees and ratios, never an opaque score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Calibri"/>
              </a:rPr>
              <a:t>•  Every comparison calibrated against real-photograph distributions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1737360"/>
            <a:ext cx="3749039" cy="448056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THE CLAIM UNDER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560320"/>
            <a:ext cx="310896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Parallel 3D lines meet at one vanishing point.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Three orthogonal directions fix one focal length and one principal point.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All shadows point away from one light source.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No real camera can break these.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Motivation and Background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103120"/>
            <a:ext cx="384048" cy="384048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2263A"/>
                </a:solidFill>
                <a:latin typeface="Cambria"/>
              </a:rPr>
              <a:t>Forensic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2971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672"/>
                </a:solidFill>
                <a:latin typeface="Calibri"/>
              </a:rPr>
              <a:t>Pixel and frequency detectors degrade as generators improve. A geometric violation stays a violation however convincing the texture 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1728" y="2103120"/>
            <a:ext cx="384048" cy="384048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2263A"/>
                </a:solidFill>
                <a:latin typeface="Cambria"/>
              </a:rPr>
              <a:t>Scientific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108960"/>
            <a:ext cx="2971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672"/>
                </a:solidFill>
                <a:latin typeface="Calibri"/>
              </a:rPr>
              <a:t>Which constraints a model satisfies is a probe of what it has internalised about 3D structure.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1828800"/>
            <a:ext cx="3520440" cy="26517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49056" y="2103120"/>
            <a:ext cx="384048" cy="384048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9056" y="265176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2263A"/>
                </a:solidFill>
                <a:latin typeface="Cambria"/>
              </a:rPr>
              <a:t>Applied (Robotics)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3108960"/>
            <a:ext cx="2971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672"/>
                </a:solidFill>
                <a:latin typeface="Calibri"/>
              </a:rPr>
              <a:t>Visual servoing, navigation and structure-from-motion assume projective consistency. Synthetic training data must be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548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983480"/>
            <a:ext cx="10149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Background: a generator learns the appearance statistics of photographs. Nothing in its architecture represents an optical centre, a focal length or a principal point — so whether its images obey camera geometry is an open empirical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883664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Build and validate a measurement pipeline for vanishing-point concurrency and single-camera coherence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87752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642616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Establish real-image null distributions on a curated benchmark and an uncurated internet corpus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46704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401568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Generate content-matched image sets from multiple diffusion models with logged parameters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05656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605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Define an applicability rule, independent of the residual, and validate it against ground truth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64608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919472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Compare generators under matched content and camera configuration; evaluate standard classifiers on the residuals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23559"/>
            <a:ext cx="713232" cy="530352"/>
          </a:xfrm>
          <a:prstGeom prst="roundRect">
            <a:avLst>
              <a:gd name="adj" fmla="val 20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mbria"/>
              </a:rPr>
              <a:t>O6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5678423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0" i="0">
                <a:solidFill>
                  <a:srgbClr val="1A1A1A"/>
                </a:solidFill>
                <a:latin typeface="Calibri"/>
              </a:rPr>
              <a:t>Implement the shadow constraint as a linear program and validate on synthetic scenes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Literature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What is established, and by whom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4050791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Work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Contribution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Relevance here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Sarkar et al., CVPR 2024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Classifiers on geometric features only (lines, perspective fields, shadows); AUC 0.88-0.94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Anchor paper: proves the cue exists, but not which constraint fails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Kee, O'Brien &amp; Farid, TOG 2013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Shadow consistency as a linear program over wedge constraints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Exact formulation adopted for our L7 implementation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Criminisi, Reid &amp; Zisserman, 2000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Single-view metrology from vanishing points and the absolute conic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Mathematical basis of the camera-coherence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Denis, Elder &amp; Estrada, ECCV 2008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York Urban Database: 102 calibrated images, ground-truth vanishing points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Our curated real reference and validation set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Du et al. / Chen et al. / El Banani et al.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Depth, normals and intrinsics are linearly decodable from generative models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Motivates the local-versus-global question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349240"/>
            <a:ext cx="1090879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1C7293"/>
                </a:solidFill>
                <a:latin typeface="Calibri"/>
              </a:rPr>
              <a:t>Consensus: generated images violate projective geometry. Open: which constraint, by how much, and measured against which real reference.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207568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48839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Detection, not diagnosis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Learned classifiers say a violation exists, not which constraint failed or by how much.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74519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59" y="207568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148839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One real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65176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Studies compare against a single curated dataset. The dependence of the conclusion on that choice is unexamined.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42245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Local vs global unquantified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006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No study separates failure of scene orientation from failure of camera intrinsics.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02336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959" y="42245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i="0">
                <a:solidFill>
                  <a:srgbClr val="E8A33D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976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Applicability ignored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48006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B9CDDA"/>
                </a:solidFill>
                <a:latin typeface="Calibri"/>
              </a:rPr>
              <a:t>The three-VP test is undefined for non-Manhattan scenes, yet is applied to them regardless.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26364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E8A33D"/>
                </a:solidFill>
                <a:latin typeface="Calibri"/>
              </a:rPr>
              <a:t>This project addresses gaps 1-3 and resolves gap 4 as a methodological contribution.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Proposed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Each level is one rule a pinhole camera cannot break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2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754880"/>
                <a:gridCol w="2468880"/>
                <a:gridCol w="2313432"/>
              </a:tblGrid>
              <a:tr h="5029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Constraint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Residual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3D-parallel lines meet at one vanishing point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Angular deviation (deg)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Three orthogonal directions fix one focal length and principal point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Deviation from 90 deg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Implemented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L3b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Every horizontal VP implies the same focal length with the vertical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Spread of log focal length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PRIMARY statistic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L7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All cast shadows consistent with one light source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LP violation (px)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Geometry validated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L1, L4-L6, L8-L9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Straightness, horizon, cross-ratio, conics, reflections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Various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A1A1A"/>
                          </a:solidFill>
                          <a:latin typeface="Calibri"/>
                        </a:rPr>
                        <a:t>Specified, future work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5120640"/>
            <a:ext cx="10908792" cy="10972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2180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2263A"/>
                </a:solidFill>
                <a:latin typeface="Calibri"/>
              </a:rPr>
              <a:t>Key design decision: the vanishing-point estimator is given NO Manhattan or orthogonality prior. The camera test asks whether the recovered directions are orthogonal — an estimator that assumed this would make the test vacuous.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System Architecture and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Image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286000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1460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LSD line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60520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RANSAC VP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estimation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35040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Applicability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rule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09559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59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Residuals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L2 / L3 / L3b / L7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84079" y="2574036"/>
            <a:ext cx="210312" cy="201168"/>
          </a:xfrm>
          <a:prstGeom prst="rightArrow">
            <a:avLst/>
          </a:prstGeom>
          <a:solidFill>
            <a:srgbClr val="5A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12680" y="2103120"/>
            <a:ext cx="1627632" cy="114300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Compare vs real</a:t>
            </a:r>
          </a:p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null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01568"/>
            <a:ext cx="10908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1">
                <a:solidFill>
                  <a:srgbClr val="E8A33D"/>
                </a:solidFill>
                <a:latin typeface="Calibri"/>
              </a:rPr>
              <a:t>Rejected images are reported as a selection rate — “how often is a single camera even identifiable?” is itself a result about the generator.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77639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APPLICABILITY RULE (evidence only)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57200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3 VP families, each ≥ 8% of line length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each localised &lt; 1° (bootstrap)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VP separation ≥ 10° and ≥ 5× its uncertainty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inliers span ≥ 12% of the diagonal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5352" y="3977639"/>
            <a:ext cx="5303520" cy="224028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4160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WHY IT IS NOT CIRCULAR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572000"/>
            <a:ext cx="47548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Orthogonality, focal length and orthocentre are EXCLUDED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Validated: selected images have 90% of VPs within 5° of ground truth (vs 57% rejected)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Unit test: injecting a camera violation does not change the decision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Implementation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383280" cy="443484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A33D"/>
                </a:solidFill>
                <a:latin typeface="Calibri"/>
              </a:rPr>
              <a:t>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Python 3.14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OpenCV 4.13 (LSD, morphology)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NumPy / SciPy (LP, least squares)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scikit-learn, statsmodels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PyTorch 2.14 + CUDA 13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diffusers 0.40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•  RTX 5060 Laptop, 8 GB VRAM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783080"/>
            <a:ext cx="3383280" cy="4434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20116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PACKAGE  projgeo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lines — LSD detection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vp — RANSAC + refinement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camera — L3, Atlanta test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selection — applicability rule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regional — windowed cameras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shadows — wedge LP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synth — scenes + injectors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83080"/>
            <a:ext cx="3685032" cy="4434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0116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VALIDATION (18 TESTS)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468880"/>
            <a:ext cx="31089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Synthetic scenes with known cameras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4 violation injectors: concurrency, VP shift, drift, two-camera split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Each residual must respond to ITS OWN constraint and stay flat for others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Residuals must rise monotonically with injected violation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Data 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Content-matched by construction; every parameter logged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2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5788152"/>
              </a:tblGrid>
              <a:tr h="44196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Dataset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Size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York Urban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102 images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Curated real reference with ground-truth vanishing points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Wikimedia Commons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358 images, 135 camera models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Uncurated real reference, diverse cameras, EXIF focal lengths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Stable Diffusion 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450 images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Older UNet diffusion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SDXL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650 images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Current-generation baseline, plus 1:1 and 16:9 variants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Synthetic scenes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on demand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Ground truth for validation and violation injection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754880"/>
            <a:ext cx="10908792" cy="14630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Prompt strata evolved twice. Stratum 1: facades, streets, corridors. Stratum 2: corners, to guarantee three visible directions — but these scenes were line-SPARSE and the selection rate FELL from 40% to 30%. Stratum 3 adds repeating line-rich features (tiles, shelving, window grids, brick courses) and reaches 48%.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1: The Instrument Is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Validation before any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1C7293"/>
                </a:solidFill>
                <a:latin typeface="Cambria"/>
              </a:rPr>
              <a:t>0.3°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vanishing-point error on synthetic scenes with known cameras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1C7293"/>
                </a:solidFill>
                <a:latin typeface="Cambria"/>
              </a:rPr>
              <a:t>&lt; 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focal-length error on synthetic scenes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1C7293"/>
                </a:solidFill>
                <a:latin typeface="Cambria"/>
              </a:rPr>
              <a:t>81 / 94%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of York Urban ground-truth VPs recovered within 2° / 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920240"/>
            <a:ext cx="2468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E8A33D"/>
                </a:solidFill>
                <a:latin typeface="Cambria"/>
              </a:rPr>
              <a:t>1.02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578608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median ratio of fitted to TRUE focal length (IQR 0.99-1.05)</a:t>
            </a:r>
          </a:p>
        </p:txBody>
      </p:sp>
      <p:pic>
        <p:nvPicPr>
          <p:cNvPr id="13" name="Picture 12" descr="commons_focal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3566160"/>
            <a:ext cx="2743200" cy="274320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120640" y="3566160"/>
            <a:ext cx="6400800" cy="2743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3794760"/>
            <a:ext cx="5852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The pipeline recovers the real camera of real photographs.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Left: fitted focal length against EXIF focal length for photographs from 135 different camera models. Dashed lines mark a ±20% band.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1A1A1A"/>
                </a:solidFill>
                <a:latin typeface="Calibri"/>
              </a:rPr>
              <a:t>This is the precondition for interpreting any residual measured on generated images.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Results 2: The Real Reference Decides the Verdict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Measured naively, UNCURATED real photographs score 12.2° on the camera test — worse than SD 1.5 and far worse than SDXL.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Taken at face value: generated images look more camera-consistent than photographs.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920240"/>
            <a:ext cx="5303520" cy="1828800"/>
          </a:xfrm>
          <a:prstGeom prst="roundRect">
            <a:avLst>
              <a:gd name="adj" fmla="val 6000"/>
            </a:avLst>
          </a:prstGeom>
          <a:solidFill>
            <a:srgbClr val="1B33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9672" y="214884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Why: curved streets and oblique facades give three well-supported, distinct VP families that are simply NOT mutually orthogonal.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FFFFF"/>
                </a:solidFill>
                <a:latin typeface="Calibri"/>
              </a:rPr>
              <a:t>These are Atlanta worlds. The test is undefined for them — an applicability failure, not photographic geometry.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1148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E8A33D"/>
                </a:solidFill>
                <a:latin typeface="Cambria"/>
              </a:rPr>
              <a:t>12.2°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77316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uncurated real, no applicability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1148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1C7293"/>
                </a:solidFill>
                <a:latin typeface="Cambria"/>
              </a:rPr>
              <a:t>2.19°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77316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same images, after the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114800"/>
            <a:ext cx="27432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mbria"/>
              </a:rPr>
              <a:t>0.15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73168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5A6672"/>
                </a:solidFill>
                <a:latin typeface="Calibri"/>
              </a:rPr>
              <a:t>log-f spread, Atlanta residual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087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E8A33D"/>
                </a:solidFill>
                <a:latin typeface="Calibri"/>
              </a:rPr>
              <a:t>Consequence: the primary statistic is changed from Manhattan orthogonality to Atlanta focal consistency, which is valid in both world models.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3: Primary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Atlanta focal consistency on images that pass the applicability rule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908791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103120"/>
                <a:gridCol w="2103120"/>
                <a:gridCol w="1828800"/>
                <a:gridCol w="1856231"/>
              </a:tblGrid>
              <a:tr h="502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York Urban (real)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Commons (real)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SD 1.5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SDXL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Images admitted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Log-f spread, median [95% CI]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0.142 [0.106, 0.221]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0.152 [0.093, 0.220]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0.465 [0.324, 0.709]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0.355 [0.272, 0.529]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Images with an impossible pair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44%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A1A1A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4069080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24528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 a real photograph the horizontal directions agree on ONE focal length to within ~15%. In generated images they disagree by 35-60%.  (p ≈ 3×10⁻⁵ against either real reference)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10908792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•  The two real references agree with each other within their confidence intervals — the result does not depend on which real set is used.</a:t>
            </a:r>
          </a:p>
          <a:p>
            <a:pPr>
              <a:spcAft>
                <a:spcPts val="6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•  Both generators sit clearly above both references, with non-overlapping intervals.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4: Distributions and Scaling</a:t>
            </a:r>
          </a:p>
        </p:txBody>
      </p:sp>
      <p:pic>
        <p:nvPicPr>
          <p:cNvPr id="4" name="Picture 3" descr="atlanta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949440" cy="284295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863840" y="1828800"/>
            <a:ext cx="3685032" cy="41148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205740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2263A"/>
                </a:solidFill>
                <a:latin typeface="Cambria"/>
              </a:rPr>
              <a:t>SD 1.5 → SDXL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2606040"/>
            <a:ext cx="310896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Identical prompts, matched field of view and line density, 250 images per model.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Orientation: 2.93° → 1.94°   (p = 0.0002, improves)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Focal coherence: 0.465 → 0.355   (p = 0.55, UNCHANGED)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Scaling improves which way the axes point. It does not teach the model to commit to one camera.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8076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A6672"/>
                </a:solidFill>
                <a:latin typeface="Calibri"/>
              </a:rPr>
              <a:t>Left: log-f spread distributions.  Right: share of images containing a VP pair for which no camera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Results 5: Detection from Residuals 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Syllabus Unit 3 classifiers on the residual vector — never on pixels</a:t>
            </a:r>
          </a:p>
        </p:txBody>
      </p:sp>
      <p:pic>
        <p:nvPicPr>
          <p:cNvPr id="5" name="Picture 4" descr="classifier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852160" cy="2660073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0" y="2011680"/>
          <a:ext cx="469087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490472"/>
              </a:tblGrid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Best AUC</a:t>
                      </a:r>
                    </a:p>
                  </a:txBody>
                  <a:tcPr anchor="ctr"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Curated real vs SDXL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Curated real vs SD 1.5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0.916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Uncurated real vs SDXL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0.824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Field-of-view matched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1A"/>
                          </a:solidFill>
                          <a:latin typeface="Calibri"/>
                        </a:rPr>
                        <a:t>0.810</a:t>
                      </a:r>
                    </a:p>
                  </a:txBody>
                  <a:tcPr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0" y="4617720"/>
            <a:ext cx="4690872" cy="16459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0" y="4800600"/>
            <a:ext cx="41148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Sarkar et al. report 0.88-0.94 with LEARNED geometric features.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1A1A"/>
                </a:solidFill>
                <a:latin typeface="Calibri"/>
              </a:rPr>
              <a:t>Interpretable, unit-bearing residuals reach the same band — interpretability costs little discriminative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07008"/>
            <a:ext cx="109115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A6672"/>
                </a:solidFill>
                <a:latin typeface="Calibri"/>
              </a:rPr>
              <a:t>Live: one image in, a diagnosed failure 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94960" cy="393192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C7293"/>
                </a:solidFill>
                <a:latin typeface="Courier New"/>
              </a:rPr>
              <a:t>python scripts/analyze_image.py &lt;image&gt; --out outputs/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2263A"/>
                </a:solidFill>
                <a:latin typeface="Calibri"/>
              </a:rPr>
              <a:t>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Overlay: segments coloured by VP cluster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Vanishing points and the orthocentre vs image centre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A1A1A"/>
                </a:solidFill>
                <a:latin typeface="Calibri"/>
              </a:rPr>
              <a:t>•  JSON of every residual, and a CSV summary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239512" cy="1828800"/>
          </a:xfrm>
          <a:prstGeom prst="roundRect">
            <a:avLst>
              <a:gd name="adj" fmla="val 6000"/>
            </a:avLst>
          </a:prstGeom>
          <a:solidFill>
            <a:srgbClr val="FDF3E2"/>
          </a:solidFill>
          <a:ln w="15875">
            <a:solidFill>
              <a:srgbClr val="E8A3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29968"/>
            <a:ext cx="4782312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8A5A12"/>
                </a:solidFill>
                <a:latin typeface="Calibri"/>
              </a:rPr>
              <a:t>[TO ADD] Screenshot of the terminal running analyze_image.py on one generated image, showing the printed residuals.</a:t>
            </a:r>
          </a:p>
        </p:txBody>
      </p:sp>
      <p:pic>
        <p:nvPicPr>
          <p:cNvPr id="12" name="Picture 11" descr="example_sdxl_0010_three_came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3840480"/>
            <a:ext cx="2326005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5669280"/>
            <a:ext cx="523951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1">
                <a:solidFill>
                  <a:srgbClr val="5A6672"/>
                </a:solidFill>
                <a:latin typeface="Calibri"/>
              </a:rPr>
              <a:t>A generated street scene whose three VP pairs imply focal lengths of 1626, 321 and 951 px — three different cameras in one image.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1984248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74519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Generators reproduce orientation, not the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331720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Manhattan orthogonality is comparable to real photographs after control; focal and principal-point coherence is 2.5-3× worse.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3099815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990087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The result is robust to the real reference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47287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Both a curated benchmark and uncurated internet photographs give the same conclusion, with non-overlapping confidence intervals.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4215384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105656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Scale is not closing the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62856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SD 1.5 → SDXL improves orientation significantly and leaves camera coherence unchanged.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330952"/>
            <a:ext cx="274320" cy="2743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221224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Applicability must be tested, not assumed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678424"/>
            <a:ext cx="10332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B9CDDA"/>
                </a:solidFill>
                <a:latin typeface="Calibri"/>
              </a:rPr>
              <a:t>The three-VP test is undefined for non-Manhattan scenes; ignoring this reverses the verdict.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5508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1">
                <a:solidFill>
                  <a:srgbClr val="E8A33D"/>
                </a:solidFill>
                <a:latin typeface="Calibri"/>
              </a:rPr>
              <a:t>Thesis: a generated image is locally photographic but has no single camera behind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Future Scope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17627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89888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Frontier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Gemini, GPT-image and FLUX on the same prompt set — prompts already exported and the analysis is model-agnostic.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202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1728" y="2176272"/>
            <a:ext cx="329184" cy="329184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57216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Shadow association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269748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SSIS or SAM 2 for object-shadow pairs; the wedge LP above it is built and validated.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192024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49056" y="217627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24544" y="21945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Remaining levels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9056" y="269748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Cross-ratio, conics, reflections and cross-modal normal agreement.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1480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370832"/>
            <a:ext cx="329184" cy="329184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9888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Why does scale not fix camera coherence? Aspect ratio is ruled out; resolution and latent receptive field remain.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07408" y="411480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81728" y="4370832"/>
            <a:ext cx="329184" cy="329184"/>
          </a:xfrm>
          <a:prstGeom prst="ellipse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Sheaf formalism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489204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Consistency radius over a cover of local cameras as a principled local-to-global measure.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74736" y="4114800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49056" y="4370832"/>
            <a:ext cx="329184" cy="32918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24544" y="43891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12263A"/>
                </a:solidFill>
                <a:latin typeface="Cambria"/>
              </a:rPr>
              <a:t>Perception study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6" y="4892040"/>
            <a:ext cx="29718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A6672"/>
                </a:solidFill>
                <a:latin typeface="Calibri"/>
              </a:rPr>
              <a:t>Which violations are mathematically severe but visually unnoticed.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12263A"/>
                </a:solidFill>
                <a:latin typeface="Cambria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08792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[1] A. Sarkar et al., “Shadows Don’t Lie and Lines Can’t Bend! Generative Models don’t know Projective Geometry…for now,” CVPR, 2024.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[2] R. Hartley and A. Zisserman, Multiple View Geometry in Computer Vision, 2nd ed., Cambridge University Press, 2004.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[3] E. Kee, J. F. O’Brien and H. Farid, “Exposing photo manipulation with inconsistent shadows,” ACM TOG, vol. 32, no. 3, 2013.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[4] A. Criminisi, I. Reid and A. Zisserman, “Single view metrology,” IJCV, vol. 40, no. 2, pp. 123–148, 2000.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[5] J. M. Coughlan and A. L. Yuille, “Manhattan world,” ICCV, 1999.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[6] P. Denis, J. H. Elder and F. J. Estrada, “Efficient edge-based methods for estimating Manhattan frames in urban imagery,” ECCV, 2008.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[7] R. Grompone von Gioi et al., “LSD: a fast line segment detector with a false detection control,” IEEE TPAMI, vol. 32, no. 4, 2010.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[8] D. Hoiem, A. A. Efros and M. Hebert, “Putting objects in perspective,” IJCV, vol. 80, no. 1, 2008.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[9] L. Jin et al., “Perspective fields for single image camera calibration,” CVPR, 2023.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[10] D. Podell et al., “SDXL: improving latent diffusion models for high-resolution image synthesis,” ICLR, 2024.</a:t>
            </a:r>
          </a:p>
          <a:p>
            <a:pPr>
              <a:spcAft>
                <a:spcPts val="700"/>
              </a:spcAft>
            </a:pPr>
            <a:r>
              <a:rPr sz="1200">
                <a:solidFill>
                  <a:srgbClr val="1A1A1A"/>
                </a:solidFill>
                <a:latin typeface="Calibri"/>
              </a:rPr>
              <a:t>[11] R. Rombach et al., “High-resolution image synthesis with latent diffusion models,” CVPR, 2022.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09360"/>
            <a:ext cx="109087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A6672"/>
                </a:solidFill>
                <a:latin typeface="Calibri"/>
              </a:rPr>
              <a:t>Dataset credits: York Urban Database (Elder Laboratory, York University); Wikimedia Commons photographs under CC licences, per-image attribution in the project metadata.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