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one-line idea: a real photo is made by one camera, an AI image is not, and that difference can be measured in degrees and pixels.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rules come from projective geometry, not from habits of photographers, so every real camera obeys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robotics link is the syllabus tie-in: active perception and autonomous vehicles depend on projective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O4 is what separates this project from a naive implementation. O7 is the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Sarkar et al. is the paper we extend: from detection to diagnosis.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4 turned out to change the results the most.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L3b is primary: it works in Atlanta worlds (angled streets), where L3 does not.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non-circularity test is the answer if anyone asks whether we cherry-picked images.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explain.py is the single implementation of the measurement: the report's numbers, the robustness checks and the app all call it, so they cannot disagree.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a model on one prompt set against another model on a different set would mix up the model with the scene type, so we never do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this slide every later number would be uninterpretable.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method lesson of the project. No filtering on evidence removes the tail: a stricter threshold makes it worse, and 98% of those photos are uncropped.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defend. Intervals are bootstrap (2000 resamples); proportions use Wilson intervals; the test is Mann-Whitney. Line-rich prompt set.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clearly that the focal result is a null, not a reversal. An earlier claim that scaling made it worse was withdrawn after we found it used an invalid statistic.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checks use only the position of the vertical vanishing point, never the focal length, so they cannot bias the test. Numbers are median log-focal spread, line-rich prompts.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algorithms: logistic regression, decision tree, SVM, random forest, naive Bayes, kNN. Five-fold stratified cross-validation. The random forest was best in every task.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Gemini (nano banana, via Antigravity) and ChatGPT images were made in September 2026 from the first prompt set, so they are compared with the SD and SDXL images from that same set. Next step: 250 line-rich prompts per model at full resolution.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runs the same code as the report. Bookmark the examples link before presenting. If someone uploads a landscape or a portrait, it will say it cannot measure it: that is the applicability rule working, not a bug.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for one sentence, use the line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powered frontier test is the highest-value next step and needs no new code.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list (26 references) is in the report. Check details against publisher records before submission.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457200"/>
          </a:xfrm>
          <a:prstGeom prst="rect">
            <a:avLst/>
          </a:prstGeom>
          <a:noFill/>
        </p:spPr>
        <p:txBody>
          <a:bodyPr wrap="square" lIns="0" rIns="0" tIns="0" bIns="0" anchor="t">
            <a:spAutoFit/>
          </a:bodyPr>
          <a:lstStyle/>
          <a:p>
            <a:pPr algn="l">
              <a:spcAft>
                <a:spcPts val="600"/>
              </a:spcAft>
            </a:pPr>
            <a:r>
              <a:rPr sz="1500" b="1" i="0">
                <a:solidFill>
                  <a:srgbClr val="E8A33D"/>
                </a:solidFill>
                <a:latin typeface="Calibri"/>
              </a:rPr>
              <a:t>CA-3 VISION-BASED APPLICATION TASK</a:t>
            </a:r>
          </a:p>
        </p:txBody>
      </p:sp>
      <p:sp>
        <p:nvSpPr>
          <p:cNvPr id="4" name="TextBox 3"/>
          <p:cNvSpPr txBox="1"/>
          <p:nvPr/>
        </p:nvSpPr>
        <p:spPr>
          <a:xfrm>
            <a:off x="914400" y="2377440"/>
            <a:ext cx="10362895" cy="1371600"/>
          </a:xfrm>
          <a:prstGeom prst="rect">
            <a:avLst/>
          </a:prstGeom>
          <a:noFill/>
        </p:spPr>
        <p:txBody>
          <a:bodyPr wrap="square" lIns="0" rIns="0" tIns="0" bIns="0" anchor="t">
            <a:spAutoFit/>
          </a:bodyPr>
          <a:lstStyle/>
          <a:p>
            <a:pPr algn="l">
              <a:spcAft>
                <a:spcPts val="600"/>
              </a:spcAft>
            </a:pPr>
            <a:r>
              <a:rPr sz="3600" b="1" i="0">
                <a:solidFill>
                  <a:srgbClr val="FFFFFF"/>
                </a:solidFill>
                <a:latin typeface="Cambria"/>
              </a:rPr>
              <a:t>Geometric Consistency Analysis for Detection of Synthetic Imagery</a:t>
            </a:r>
          </a:p>
        </p:txBody>
      </p:sp>
      <p:sp>
        <p:nvSpPr>
          <p:cNvPr id="5" name="TextBox 4"/>
          <p:cNvSpPr txBox="1"/>
          <p:nvPr/>
        </p:nvSpPr>
        <p:spPr>
          <a:xfrm>
            <a:off x="914400" y="3703320"/>
            <a:ext cx="10362895" cy="457200"/>
          </a:xfrm>
          <a:prstGeom prst="rect">
            <a:avLst/>
          </a:prstGeom>
          <a:noFill/>
        </p:spPr>
        <p:txBody>
          <a:bodyPr wrap="square" lIns="0" rIns="0" tIns="0" bIns="0" anchor="t">
            <a:spAutoFit/>
          </a:bodyPr>
          <a:lstStyle/>
          <a:p>
            <a:pPr algn="l">
              <a:spcAft>
                <a:spcPts val="600"/>
              </a:spcAft>
            </a:pPr>
            <a:r>
              <a:rPr sz="1700" b="0" i="1">
                <a:solidFill>
                  <a:srgbClr val="A9C4D4"/>
                </a:solidFill>
                <a:latin typeface="Calibri"/>
              </a:rPr>
              <a:t>Vanishing-Point and Shadow-Based Cues Across Generator Generations</a:t>
            </a:r>
          </a:p>
        </p:txBody>
      </p:sp>
      <p:sp>
        <p:nvSpPr>
          <p:cNvPr id="6" name="TextBox 5"/>
          <p:cNvSpPr txBox="1"/>
          <p:nvPr/>
        </p:nvSpPr>
        <p:spPr>
          <a:xfrm>
            <a:off x="914400" y="4663440"/>
            <a:ext cx="10362895" cy="1097280"/>
          </a:xfrm>
          <a:prstGeom prst="rect">
            <a:avLst/>
          </a:prstGeom>
          <a:noFill/>
        </p:spPr>
        <p:txBody>
          <a:bodyPr wrap="square" lIns="0" rIns="0" tIns="0" bIns="0" anchor="t">
            <a:spAutoFit/>
          </a:bodyPr>
          <a:lstStyle/>
          <a:p>
            <a:pPr algn="l">
              <a:spcAft>
                <a:spcPts val="400"/>
              </a:spcAft>
            </a:pPr>
            <a:r>
              <a:rPr sz="1300" b="0" i="0">
                <a:solidFill>
                  <a:srgbClr val="D6E2EA"/>
                </a:solidFill>
                <a:latin typeface="Calibri"/>
              </a:rPr>
              <a:t>Team: &lt;Name, PRN&gt;   |   &lt;Name, PRN&gt;   |   &lt;Name, PRN&gt;</a:t>
            </a:r>
          </a:p>
          <a:p>
            <a:pPr algn="l">
              <a:spcAft>
                <a:spcPts val="400"/>
              </a:spcAft>
            </a:pPr>
            <a:r>
              <a:rPr sz="1300" b="0" i="0">
                <a:solidFill>
                  <a:srgbClr val="D6E2EA"/>
                </a:solidFill>
                <a:latin typeface="Calibri"/>
              </a:rPr>
              <a:t>Course: Computer Vision   |   Department of &lt;Department&gt;, &lt;Institute&gt;</a:t>
            </a:r>
          </a:p>
          <a:p>
            <a:pPr algn="l">
              <a:spcAft>
                <a:spcPts val="400"/>
              </a:spcAft>
            </a:pPr>
            <a:r>
              <a:rPr sz="1300" b="0" i="0">
                <a:solidFill>
                  <a:srgbClr val="D6E2EA"/>
                </a:solidFill>
                <a:latin typeface="Calibri"/>
              </a:rPr>
              <a:t>Academic Year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Problem Statement</a:t>
            </a:r>
          </a:p>
        </p:txBody>
      </p:sp>
      <p:sp>
        <p:nvSpPr>
          <p:cNvPr id="4" name="Rounded Rectangle 3"/>
          <p:cNvSpPr/>
          <p:nvPr/>
        </p:nvSpPr>
        <p:spPr>
          <a:xfrm>
            <a:off x="640080" y="1737360"/>
            <a:ext cx="6766560" cy="20116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6217920" cy="1645920"/>
          </a:xfrm>
          <a:prstGeom prst="rect">
            <a:avLst/>
          </a:prstGeom>
          <a:noFill/>
        </p:spPr>
        <p:txBody>
          <a:bodyPr wrap="square" lIns="0" rIns="0" tIns="0" bIns="0" anchor="t">
            <a:spAutoFit/>
          </a:bodyPr>
          <a:lstStyle/>
          <a:p>
            <a:pPr algn="l">
              <a:spcAft>
                <a:spcPts val="600"/>
              </a:spcAft>
            </a:pPr>
            <a:r>
              <a:rPr sz="1600" b="0" i="0">
                <a:solidFill>
                  <a:srgbClr val="1A1A1A"/>
                </a:solidFill>
                <a:latin typeface="Calibri"/>
              </a:rPr>
              <a:t>Given a single image, decide whether its geometry fits ONE pinhole camera. Report any mismatch as a residual in readable units, compare it with real photographs, and use the result to compare image generators.</a:t>
            </a:r>
          </a:p>
        </p:txBody>
      </p:sp>
      <p:sp>
        <p:nvSpPr>
          <p:cNvPr id="6" name="TextBox 5"/>
          <p:cNvSpPr txBox="1"/>
          <p:nvPr/>
        </p:nvSpPr>
        <p:spPr>
          <a:xfrm>
            <a:off x="640080" y="4023360"/>
            <a:ext cx="6766560" cy="2194560"/>
          </a:xfrm>
          <a:prstGeom prst="rect">
            <a:avLst/>
          </a:prstGeom>
          <a:noFill/>
        </p:spPr>
        <p:txBody>
          <a:bodyPr wrap="square" lIns="0" rIns="0" tIns="0" bIns="0">
            <a:spAutoFit/>
          </a:bodyPr>
          <a:lstStyle/>
          <a:p>
            <a:pPr>
              <a:spcAft>
                <a:spcPts val="1000"/>
              </a:spcAft>
            </a:pPr>
            <a:r>
              <a:rPr sz="1400" b="1">
                <a:solidFill>
                  <a:srgbClr val="1A1A1A"/>
                </a:solidFill>
                <a:latin typeface="Calibri"/>
              </a:rPr>
              <a:t>•  Not “is this image fake?” but “which camera rule does it break, and by how much?”</a:t>
            </a:r>
          </a:p>
          <a:p>
            <a:pPr>
              <a:spcAft>
                <a:spcPts val="1000"/>
              </a:spcAft>
            </a:pPr>
            <a:r>
              <a:rPr sz="1400" b="0">
                <a:solidFill>
                  <a:srgbClr val="1A1A1A"/>
                </a:solidFill>
                <a:latin typeface="Calibri"/>
              </a:rPr>
              <a:t>•  Residuals in degrees and ratios, never an opaque score</a:t>
            </a:r>
          </a:p>
          <a:p>
            <a:pPr>
              <a:spcAft>
                <a:spcPts val="1000"/>
              </a:spcAft>
            </a:pPr>
            <a:r>
              <a:rPr sz="1400" b="0">
                <a:solidFill>
                  <a:srgbClr val="1A1A1A"/>
                </a:solidFill>
                <a:latin typeface="Calibri"/>
              </a:rPr>
              <a:t>•  Every comparison measured against real photographs</a:t>
            </a:r>
          </a:p>
        </p:txBody>
      </p:sp>
      <p:sp>
        <p:nvSpPr>
          <p:cNvPr id="7" name="Rounded Rectangle 6"/>
          <p:cNvSpPr/>
          <p:nvPr/>
        </p:nvSpPr>
        <p:spPr>
          <a:xfrm>
            <a:off x="7772400" y="1737360"/>
            <a:ext cx="3749039" cy="4480560"/>
          </a:xfrm>
          <a:prstGeom prst="roundRect">
            <a:avLst>
              <a:gd name="adj" fmla="val 6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2011680"/>
            <a:ext cx="3108960" cy="457200"/>
          </a:xfrm>
          <a:prstGeom prst="rect">
            <a:avLst/>
          </a:prstGeom>
          <a:noFill/>
        </p:spPr>
        <p:txBody>
          <a:bodyPr wrap="square" lIns="0" rIns="0" tIns="0" bIns="0" anchor="t">
            <a:spAutoFit/>
          </a:bodyPr>
          <a:lstStyle/>
          <a:p>
            <a:pPr algn="l">
              <a:spcAft>
                <a:spcPts val="600"/>
              </a:spcAft>
            </a:pPr>
            <a:r>
              <a:rPr sz="1200" b="1" i="0">
                <a:solidFill>
                  <a:srgbClr val="E8A33D"/>
                </a:solidFill>
                <a:latin typeface="Calibri"/>
              </a:rPr>
              <a:t>THE CLAIM UNDER TEST</a:t>
            </a:r>
          </a:p>
        </p:txBody>
      </p:sp>
      <p:sp>
        <p:nvSpPr>
          <p:cNvPr id="9" name="TextBox 8"/>
          <p:cNvSpPr txBox="1"/>
          <p:nvPr/>
        </p:nvSpPr>
        <p:spPr>
          <a:xfrm>
            <a:off x="8092440" y="2560320"/>
            <a:ext cx="3108960" cy="3383280"/>
          </a:xfrm>
          <a:prstGeom prst="rect">
            <a:avLst/>
          </a:prstGeom>
          <a:noFill/>
        </p:spPr>
        <p:txBody>
          <a:bodyPr wrap="square" lIns="0" rIns="0" tIns="0" bIns="0" anchor="t">
            <a:spAutoFit/>
          </a:bodyPr>
          <a:lstStyle/>
          <a:p>
            <a:pPr algn="l">
              <a:spcAft>
                <a:spcPts val="200"/>
              </a:spcAft>
            </a:pPr>
            <a:r>
              <a:rPr sz="1350" b="0" i="0">
                <a:solidFill>
                  <a:srgbClr val="FFFFFF"/>
                </a:solidFill>
                <a:latin typeface="Calibri"/>
              </a:rPr>
              <a:t>Parallel 3D lines meet at one vanishing point.</a:t>
            </a:r>
          </a:p>
          <a:p>
            <a:pPr algn="l">
              <a:spcAft>
                <a:spcPts val="200"/>
              </a:spcAft>
            </a:pPr>
            <a:r>
              <a:rPr sz="1350" b="0" i="0">
                <a:solidFill>
                  <a:srgbClr val="FFFFFF"/>
                </a:solidFill>
                <a:latin typeface="Calibri"/>
              </a:rPr>
              <a:t/>
            </a:r>
          </a:p>
          <a:p>
            <a:pPr algn="l">
              <a:spcAft>
                <a:spcPts val="200"/>
              </a:spcAft>
            </a:pPr>
            <a:r>
              <a:rPr sz="1350" b="0" i="0">
                <a:solidFill>
                  <a:srgbClr val="FFFFFF"/>
                </a:solidFill>
                <a:latin typeface="Calibri"/>
              </a:rPr>
              <a:t>Every part of the image implies the same focal length and lens centre.</a:t>
            </a:r>
          </a:p>
          <a:p>
            <a:pPr algn="l">
              <a:spcAft>
                <a:spcPts val="200"/>
              </a:spcAft>
            </a:pPr>
            <a:r>
              <a:rPr sz="1350" b="0" i="0">
                <a:solidFill>
                  <a:srgbClr val="FFFFFF"/>
                </a:solidFill>
                <a:latin typeface="Calibri"/>
              </a:rPr>
              <a:t/>
            </a:r>
          </a:p>
          <a:p>
            <a:pPr algn="l">
              <a:spcAft>
                <a:spcPts val="200"/>
              </a:spcAft>
            </a:pPr>
            <a:r>
              <a:rPr sz="1350" b="0" i="0">
                <a:solidFill>
                  <a:srgbClr val="FFFFFF"/>
                </a:solidFill>
                <a:latin typeface="Calibri"/>
              </a:rPr>
              <a:t>All shadows point away from one light source.</a:t>
            </a:r>
          </a:p>
          <a:p>
            <a:pPr algn="l">
              <a:spcAft>
                <a:spcPts val="200"/>
              </a:spcAft>
            </a:pPr>
            <a:r>
              <a:rPr sz="1350" b="0" i="0">
                <a:solidFill>
                  <a:srgbClr val="FFFFFF"/>
                </a:solidFill>
                <a:latin typeface="Calibri"/>
              </a:rPr>
              <a:t/>
            </a:r>
          </a:p>
          <a:p>
            <a:pPr algn="l">
              <a:spcAft>
                <a:spcPts val="200"/>
              </a:spcAft>
            </a:pPr>
            <a:r>
              <a:rPr sz="1350" b="0" i="0">
                <a:solidFill>
                  <a:srgbClr val="FFFFFF"/>
                </a:solidFill>
                <a:latin typeface="Calibri"/>
              </a:rPr>
              <a:t>No real camera can break these.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Motivation and Background</a:t>
            </a:r>
          </a:p>
        </p:txBody>
      </p:sp>
      <p:sp>
        <p:nvSpPr>
          <p:cNvPr id="4" name="Rounded Rectangle 3"/>
          <p:cNvSpPr/>
          <p:nvPr/>
        </p:nvSpPr>
        <p:spPr>
          <a:xfrm>
            <a:off x="640080" y="1828800"/>
            <a:ext cx="3520440" cy="265176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03120"/>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1760"/>
            <a:ext cx="2971800" cy="365760"/>
          </a:xfrm>
          <a:prstGeom prst="rect">
            <a:avLst/>
          </a:prstGeom>
          <a:noFill/>
        </p:spPr>
        <p:txBody>
          <a:bodyPr wrap="square" lIns="0" rIns="0" tIns="0" bIns="0" anchor="t">
            <a:spAutoFit/>
          </a:bodyPr>
          <a:lstStyle/>
          <a:p>
            <a:pPr algn="l">
              <a:spcAft>
                <a:spcPts val="600"/>
              </a:spcAft>
            </a:pPr>
            <a:r>
              <a:rPr sz="1700" b="1" i="0">
                <a:solidFill>
                  <a:srgbClr val="12263A"/>
                </a:solidFill>
                <a:latin typeface="Cambria"/>
              </a:rPr>
              <a:t>Forensic</a:t>
            </a:r>
          </a:p>
        </p:txBody>
      </p:sp>
      <p:sp>
        <p:nvSpPr>
          <p:cNvPr id="7" name="TextBox 6"/>
          <p:cNvSpPr txBox="1"/>
          <p:nvPr/>
        </p:nvSpPr>
        <p:spPr>
          <a:xfrm>
            <a:off x="914400" y="3108960"/>
            <a:ext cx="2971800" cy="1280160"/>
          </a:xfrm>
          <a:prstGeom prst="rect">
            <a:avLst/>
          </a:prstGeom>
          <a:noFill/>
        </p:spPr>
        <p:txBody>
          <a:bodyPr wrap="square" lIns="0" rIns="0" tIns="0" bIns="0" anchor="t">
            <a:spAutoFit/>
          </a:bodyPr>
          <a:lstStyle/>
          <a:p>
            <a:pPr algn="l">
              <a:spcAft>
                <a:spcPts val="600"/>
              </a:spcAft>
            </a:pPr>
            <a:r>
              <a:rPr sz="1300" b="0" i="0">
                <a:solidFill>
                  <a:srgbClr val="5A6672"/>
                </a:solidFill>
                <a:latin typeface="Calibri"/>
              </a:rPr>
              <a:t>Pixel and frequency detectors get worse as generators improve. A broken geometry rule stays broken however good the texture is.</a:t>
            </a:r>
          </a:p>
        </p:txBody>
      </p:sp>
      <p:sp>
        <p:nvSpPr>
          <p:cNvPr id="8" name="Rounded Rectangle 7"/>
          <p:cNvSpPr/>
          <p:nvPr/>
        </p:nvSpPr>
        <p:spPr>
          <a:xfrm>
            <a:off x="4407408" y="1828800"/>
            <a:ext cx="3520440" cy="265176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81728" y="2103120"/>
            <a:ext cx="384048" cy="384048"/>
          </a:xfrm>
          <a:prstGeom prst="ellipse">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1728" y="2651760"/>
            <a:ext cx="2971800" cy="365760"/>
          </a:xfrm>
          <a:prstGeom prst="rect">
            <a:avLst/>
          </a:prstGeom>
          <a:noFill/>
        </p:spPr>
        <p:txBody>
          <a:bodyPr wrap="square" lIns="0" rIns="0" tIns="0" bIns="0" anchor="t">
            <a:spAutoFit/>
          </a:bodyPr>
          <a:lstStyle/>
          <a:p>
            <a:pPr algn="l">
              <a:spcAft>
                <a:spcPts val="600"/>
              </a:spcAft>
            </a:pPr>
            <a:r>
              <a:rPr sz="1700" b="1" i="0">
                <a:solidFill>
                  <a:srgbClr val="12263A"/>
                </a:solidFill>
                <a:latin typeface="Cambria"/>
              </a:rPr>
              <a:t>Scientific</a:t>
            </a:r>
          </a:p>
        </p:txBody>
      </p:sp>
      <p:sp>
        <p:nvSpPr>
          <p:cNvPr id="11" name="TextBox 10"/>
          <p:cNvSpPr txBox="1"/>
          <p:nvPr/>
        </p:nvSpPr>
        <p:spPr>
          <a:xfrm>
            <a:off x="4681728" y="3108960"/>
            <a:ext cx="2971800" cy="1280160"/>
          </a:xfrm>
          <a:prstGeom prst="rect">
            <a:avLst/>
          </a:prstGeom>
          <a:noFill/>
        </p:spPr>
        <p:txBody>
          <a:bodyPr wrap="square" lIns="0" rIns="0" tIns="0" bIns="0" anchor="t">
            <a:spAutoFit/>
          </a:bodyPr>
          <a:lstStyle/>
          <a:p>
            <a:pPr algn="l">
              <a:spcAft>
                <a:spcPts val="600"/>
              </a:spcAft>
            </a:pPr>
            <a:r>
              <a:rPr sz="1300" b="0" i="0">
                <a:solidFill>
                  <a:srgbClr val="5A6672"/>
                </a:solidFill>
                <a:latin typeface="Calibri"/>
              </a:rPr>
              <a:t>Which rules a model follows tells us what it has learned about 3D space.</a:t>
            </a:r>
          </a:p>
        </p:txBody>
      </p:sp>
      <p:sp>
        <p:nvSpPr>
          <p:cNvPr id="12" name="Rounded Rectangle 11"/>
          <p:cNvSpPr/>
          <p:nvPr/>
        </p:nvSpPr>
        <p:spPr>
          <a:xfrm>
            <a:off x="8174736" y="1828800"/>
            <a:ext cx="3520440" cy="265176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49056" y="2103120"/>
            <a:ext cx="384048" cy="38404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49056" y="2651760"/>
            <a:ext cx="2971800" cy="365760"/>
          </a:xfrm>
          <a:prstGeom prst="rect">
            <a:avLst/>
          </a:prstGeom>
          <a:noFill/>
        </p:spPr>
        <p:txBody>
          <a:bodyPr wrap="square" lIns="0" rIns="0" tIns="0" bIns="0" anchor="t">
            <a:spAutoFit/>
          </a:bodyPr>
          <a:lstStyle/>
          <a:p>
            <a:pPr algn="l">
              <a:spcAft>
                <a:spcPts val="600"/>
              </a:spcAft>
            </a:pPr>
            <a:r>
              <a:rPr sz="1700" b="1" i="0">
                <a:solidFill>
                  <a:srgbClr val="12263A"/>
                </a:solidFill>
                <a:latin typeface="Cambria"/>
              </a:rPr>
              <a:t>Applied (Robotics)</a:t>
            </a:r>
          </a:p>
        </p:txBody>
      </p:sp>
      <p:sp>
        <p:nvSpPr>
          <p:cNvPr id="15" name="TextBox 14"/>
          <p:cNvSpPr txBox="1"/>
          <p:nvPr/>
        </p:nvSpPr>
        <p:spPr>
          <a:xfrm>
            <a:off x="8449056" y="3108960"/>
            <a:ext cx="2971800" cy="1280160"/>
          </a:xfrm>
          <a:prstGeom prst="rect">
            <a:avLst/>
          </a:prstGeom>
          <a:noFill/>
        </p:spPr>
        <p:txBody>
          <a:bodyPr wrap="square" lIns="0" rIns="0" tIns="0" bIns="0" anchor="t">
            <a:spAutoFit/>
          </a:bodyPr>
          <a:lstStyle/>
          <a:p>
            <a:pPr algn="l">
              <a:spcAft>
                <a:spcPts val="600"/>
              </a:spcAft>
            </a:pPr>
            <a:r>
              <a:rPr sz="1300" b="0" i="0">
                <a:solidFill>
                  <a:srgbClr val="5A6672"/>
                </a:solidFill>
                <a:latin typeface="Calibri"/>
              </a:rPr>
              <a:t>Visual servoing, navigation and structure from motion assume projective geometry. Synthetic training data must obey it.</a:t>
            </a:r>
          </a:p>
        </p:txBody>
      </p:sp>
      <p:sp>
        <p:nvSpPr>
          <p:cNvPr id="16" name="Rounded Rectangle 15"/>
          <p:cNvSpPr/>
          <p:nvPr/>
        </p:nvSpPr>
        <p:spPr>
          <a:xfrm>
            <a:off x="640080" y="4754880"/>
            <a:ext cx="10908792" cy="1371600"/>
          </a:xfrm>
          <a:prstGeom prst="roundRect">
            <a:avLst>
              <a:gd name="adj" fmla="val 6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983480"/>
            <a:ext cx="10149840" cy="914400"/>
          </a:xfrm>
          <a:prstGeom prst="rect">
            <a:avLst/>
          </a:prstGeom>
          <a:noFill/>
        </p:spPr>
        <p:txBody>
          <a:bodyPr wrap="square" lIns="0" rIns="0" tIns="0" bIns="0" anchor="t">
            <a:spAutoFit/>
          </a:bodyPr>
          <a:lstStyle/>
          <a:p>
            <a:pPr algn="l">
              <a:spcAft>
                <a:spcPts val="600"/>
              </a:spcAft>
            </a:pPr>
            <a:r>
              <a:rPr sz="1400" b="0" i="0">
                <a:solidFill>
                  <a:srgbClr val="FFFFFF"/>
                </a:solidFill>
                <a:latin typeface="Calibri"/>
              </a:rPr>
              <a:t>Background: a generator learns what photographs look like from data. Nothing inside it stores an optical centre, a focal length or a principal point. So whether its images obey camera geometry is an open question we can measure.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Objectives</a:t>
            </a:r>
          </a:p>
        </p:txBody>
      </p:sp>
      <p:sp>
        <p:nvSpPr>
          <p:cNvPr id="4" name="Rounded Rectangle 3"/>
          <p:cNvSpPr/>
          <p:nvPr/>
        </p:nvSpPr>
        <p:spPr>
          <a:xfrm>
            <a:off x="640080" y="1783080"/>
            <a:ext cx="713232" cy="493776"/>
          </a:xfrm>
          <a:prstGeom prst="roundRect">
            <a:avLst>
              <a:gd name="adj" fmla="val 2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Cambria"/>
              </a:rPr>
              <a:t>O1</a:t>
            </a:r>
          </a:p>
        </p:txBody>
      </p:sp>
      <p:sp>
        <p:nvSpPr>
          <p:cNvPr id="5" name="TextBox 4"/>
          <p:cNvSpPr txBox="1"/>
          <p:nvPr/>
        </p:nvSpPr>
        <p:spPr>
          <a:xfrm>
            <a:off x="1508760" y="1856231"/>
            <a:ext cx="10058400" cy="548640"/>
          </a:xfrm>
          <a:prstGeom prst="rect">
            <a:avLst/>
          </a:prstGeom>
          <a:noFill/>
        </p:spPr>
        <p:txBody>
          <a:bodyPr wrap="square" lIns="0" rIns="0" tIns="0" bIns="0" anchor="t">
            <a:spAutoFit/>
          </a:bodyPr>
          <a:lstStyle/>
          <a:p>
            <a:pPr algn="l">
              <a:spcAft>
                <a:spcPts val="600"/>
              </a:spcAft>
            </a:pPr>
            <a:r>
              <a:rPr sz="1450" b="0" i="0">
                <a:solidFill>
                  <a:srgbClr val="1A1A1A"/>
                </a:solidFill>
                <a:latin typeface="Calibri"/>
              </a:rPr>
              <a:t>Build and validate a pipeline for vanishing-point concurrency and single-camera coherence</a:t>
            </a:r>
          </a:p>
        </p:txBody>
      </p:sp>
      <p:sp>
        <p:nvSpPr>
          <p:cNvPr id="6" name="Rounded Rectangle 5"/>
          <p:cNvSpPr/>
          <p:nvPr/>
        </p:nvSpPr>
        <p:spPr>
          <a:xfrm>
            <a:off x="640080" y="2459736"/>
            <a:ext cx="713232" cy="493776"/>
          </a:xfrm>
          <a:prstGeom prst="roundRect">
            <a:avLst>
              <a:gd name="adj" fmla="val 20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Cambria"/>
              </a:rPr>
              <a:t>O2</a:t>
            </a:r>
          </a:p>
        </p:txBody>
      </p:sp>
      <p:sp>
        <p:nvSpPr>
          <p:cNvPr id="7" name="TextBox 6"/>
          <p:cNvSpPr txBox="1"/>
          <p:nvPr/>
        </p:nvSpPr>
        <p:spPr>
          <a:xfrm>
            <a:off x="1508760" y="2532888"/>
            <a:ext cx="10058400" cy="548640"/>
          </a:xfrm>
          <a:prstGeom prst="rect">
            <a:avLst/>
          </a:prstGeom>
          <a:noFill/>
        </p:spPr>
        <p:txBody>
          <a:bodyPr wrap="square" lIns="0" rIns="0" tIns="0" bIns="0" anchor="t">
            <a:spAutoFit/>
          </a:bodyPr>
          <a:lstStyle/>
          <a:p>
            <a:pPr algn="l">
              <a:spcAft>
                <a:spcPts val="600"/>
              </a:spcAft>
            </a:pPr>
            <a:r>
              <a:rPr sz="1450" b="0" i="0">
                <a:solidFill>
                  <a:srgbClr val="1A1A1A"/>
                </a:solidFill>
                <a:latin typeface="Calibri"/>
              </a:rPr>
              <a:t>Measure the normal range of every residual on a hand-picked benchmark and on ordinary internet photos</a:t>
            </a:r>
          </a:p>
        </p:txBody>
      </p:sp>
      <p:sp>
        <p:nvSpPr>
          <p:cNvPr id="8" name="Rounded Rectangle 7"/>
          <p:cNvSpPr/>
          <p:nvPr/>
        </p:nvSpPr>
        <p:spPr>
          <a:xfrm>
            <a:off x="640080" y="3136391"/>
            <a:ext cx="713232" cy="493776"/>
          </a:xfrm>
          <a:prstGeom prst="roundRect">
            <a:avLst>
              <a:gd name="adj" fmla="val 2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Cambria"/>
              </a:rPr>
              <a:t>O3</a:t>
            </a:r>
          </a:p>
        </p:txBody>
      </p:sp>
      <p:sp>
        <p:nvSpPr>
          <p:cNvPr id="9" name="TextBox 8"/>
          <p:cNvSpPr txBox="1"/>
          <p:nvPr/>
        </p:nvSpPr>
        <p:spPr>
          <a:xfrm>
            <a:off x="1508760" y="3209544"/>
            <a:ext cx="10058400" cy="548640"/>
          </a:xfrm>
          <a:prstGeom prst="rect">
            <a:avLst/>
          </a:prstGeom>
          <a:noFill/>
        </p:spPr>
        <p:txBody>
          <a:bodyPr wrap="square" lIns="0" rIns="0" tIns="0" bIns="0" anchor="t">
            <a:spAutoFit/>
          </a:bodyPr>
          <a:lstStyle/>
          <a:p>
            <a:pPr algn="l">
              <a:spcAft>
                <a:spcPts val="600"/>
              </a:spcAft>
            </a:pPr>
            <a:r>
              <a:rPr sz="1450" b="0" i="0">
                <a:solidFill>
                  <a:srgbClr val="1A1A1A"/>
                </a:solidFill>
                <a:latin typeface="Calibri"/>
              </a:rPr>
              <a:t>Build generated image sets with matched content from four models, settings logged</a:t>
            </a:r>
          </a:p>
        </p:txBody>
      </p:sp>
      <p:sp>
        <p:nvSpPr>
          <p:cNvPr id="10" name="Rounded Rectangle 9"/>
          <p:cNvSpPr/>
          <p:nvPr/>
        </p:nvSpPr>
        <p:spPr>
          <a:xfrm>
            <a:off x="640080" y="3813048"/>
            <a:ext cx="713232" cy="493776"/>
          </a:xfrm>
          <a:prstGeom prst="roundRect">
            <a:avLst>
              <a:gd name="adj" fmla="val 20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Cambria"/>
              </a:rPr>
              <a:t>O4</a:t>
            </a:r>
          </a:p>
        </p:txBody>
      </p:sp>
      <p:sp>
        <p:nvSpPr>
          <p:cNvPr id="11" name="TextBox 10"/>
          <p:cNvSpPr txBox="1"/>
          <p:nvPr/>
        </p:nvSpPr>
        <p:spPr>
          <a:xfrm>
            <a:off x="1508760" y="3886200"/>
            <a:ext cx="10058400" cy="548640"/>
          </a:xfrm>
          <a:prstGeom prst="rect">
            <a:avLst/>
          </a:prstGeom>
          <a:noFill/>
        </p:spPr>
        <p:txBody>
          <a:bodyPr wrap="square" lIns="0" rIns="0" tIns="0" bIns="0" anchor="t">
            <a:spAutoFit/>
          </a:bodyPr>
          <a:lstStyle/>
          <a:p>
            <a:pPr algn="l">
              <a:spcAft>
                <a:spcPts val="600"/>
              </a:spcAft>
            </a:pPr>
            <a:r>
              <a:rPr sz="1450" b="0" i="0">
                <a:solidFill>
                  <a:srgbClr val="1A1A1A"/>
                </a:solidFill>
                <a:latin typeface="Calibri"/>
              </a:rPr>
              <a:t>Define an applicability rule that never looks at the answer, and validate it</a:t>
            </a:r>
          </a:p>
        </p:txBody>
      </p:sp>
      <p:sp>
        <p:nvSpPr>
          <p:cNvPr id="12" name="Rounded Rectangle 11"/>
          <p:cNvSpPr/>
          <p:nvPr/>
        </p:nvSpPr>
        <p:spPr>
          <a:xfrm>
            <a:off x="640080" y="4489704"/>
            <a:ext cx="713232" cy="493776"/>
          </a:xfrm>
          <a:prstGeom prst="roundRect">
            <a:avLst>
              <a:gd name="adj" fmla="val 2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Cambria"/>
              </a:rPr>
              <a:t>O5</a:t>
            </a:r>
          </a:p>
        </p:txBody>
      </p:sp>
      <p:sp>
        <p:nvSpPr>
          <p:cNvPr id="13" name="TextBox 12"/>
          <p:cNvSpPr txBox="1"/>
          <p:nvPr/>
        </p:nvSpPr>
        <p:spPr>
          <a:xfrm>
            <a:off x="1508760" y="4562856"/>
            <a:ext cx="10058400" cy="548640"/>
          </a:xfrm>
          <a:prstGeom prst="rect">
            <a:avLst/>
          </a:prstGeom>
          <a:noFill/>
        </p:spPr>
        <p:txBody>
          <a:bodyPr wrap="square" lIns="0" rIns="0" tIns="0" bIns="0" anchor="t">
            <a:spAutoFit/>
          </a:bodyPr>
          <a:lstStyle/>
          <a:p>
            <a:pPr algn="l">
              <a:spcAft>
                <a:spcPts val="600"/>
              </a:spcAft>
            </a:pPr>
            <a:r>
              <a:rPr sz="1450" b="0" i="0">
                <a:solidFill>
                  <a:srgbClr val="1A1A1A"/>
                </a:solidFill>
                <a:latin typeface="Calibri"/>
              </a:rPr>
              <a:t>Compare generators under matched content and camera settings; test standard classifiers</a:t>
            </a:r>
          </a:p>
        </p:txBody>
      </p:sp>
      <p:sp>
        <p:nvSpPr>
          <p:cNvPr id="14" name="Rounded Rectangle 13"/>
          <p:cNvSpPr/>
          <p:nvPr/>
        </p:nvSpPr>
        <p:spPr>
          <a:xfrm>
            <a:off x="640080" y="5166360"/>
            <a:ext cx="713232" cy="493776"/>
          </a:xfrm>
          <a:prstGeom prst="roundRect">
            <a:avLst>
              <a:gd name="adj" fmla="val 20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Cambria"/>
              </a:rPr>
              <a:t>O6</a:t>
            </a:r>
          </a:p>
        </p:txBody>
      </p:sp>
      <p:sp>
        <p:nvSpPr>
          <p:cNvPr id="15" name="TextBox 14"/>
          <p:cNvSpPr txBox="1"/>
          <p:nvPr/>
        </p:nvSpPr>
        <p:spPr>
          <a:xfrm>
            <a:off x="1508760" y="5239512"/>
            <a:ext cx="10058400" cy="548640"/>
          </a:xfrm>
          <a:prstGeom prst="rect">
            <a:avLst/>
          </a:prstGeom>
          <a:noFill/>
        </p:spPr>
        <p:txBody>
          <a:bodyPr wrap="square" lIns="0" rIns="0" tIns="0" bIns="0" anchor="t">
            <a:spAutoFit/>
          </a:bodyPr>
          <a:lstStyle/>
          <a:p>
            <a:pPr algn="l">
              <a:spcAft>
                <a:spcPts val="600"/>
              </a:spcAft>
            </a:pPr>
            <a:r>
              <a:rPr sz="1450" b="0" i="0">
                <a:solidFill>
                  <a:srgbClr val="1A1A1A"/>
                </a:solidFill>
                <a:latin typeface="Calibri"/>
              </a:rPr>
              <a:t>Implement the shadow rule as a linear program and validate it on synthetic scenes</a:t>
            </a:r>
          </a:p>
        </p:txBody>
      </p:sp>
      <p:sp>
        <p:nvSpPr>
          <p:cNvPr id="16" name="Rounded Rectangle 15"/>
          <p:cNvSpPr/>
          <p:nvPr/>
        </p:nvSpPr>
        <p:spPr>
          <a:xfrm>
            <a:off x="640080" y="5843016"/>
            <a:ext cx="713232" cy="493776"/>
          </a:xfrm>
          <a:prstGeom prst="roundRect">
            <a:avLst>
              <a:gd name="adj" fmla="val 2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Cambria"/>
              </a:rPr>
              <a:t>O7</a:t>
            </a:r>
          </a:p>
        </p:txBody>
      </p:sp>
      <p:sp>
        <p:nvSpPr>
          <p:cNvPr id="17" name="TextBox 16"/>
          <p:cNvSpPr txBox="1"/>
          <p:nvPr/>
        </p:nvSpPr>
        <p:spPr>
          <a:xfrm>
            <a:off x="1508760" y="5916168"/>
            <a:ext cx="10058400" cy="548640"/>
          </a:xfrm>
          <a:prstGeom prst="rect">
            <a:avLst/>
          </a:prstGeom>
          <a:noFill/>
        </p:spPr>
        <p:txBody>
          <a:bodyPr wrap="square" lIns="0" rIns="0" tIns="0" bIns="0" anchor="t">
            <a:spAutoFit/>
          </a:bodyPr>
          <a:lstStyle/>
          <a:p>
            <a:pPr algn="l">
              <a:spcAft>
                <a:spcPts val="600"/>
              </a:spcAft>
            </a:pPr>
            <a:r>
              <a:rPr sz="1450" b="0" i="0">
                <a:solidFill>
                  <a:srgbClr val="1A1A1A"/>
                </a:solidFill>
                <a:latin typeface="Calibri"/>
              </a:rPr>
              <a:t>Build an app that measures any image, explains the result and gives a calibrated score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Literature Review</a:t>
            </a:r>
          </a:p>
        </p:txBody>
      </p:sp>
      <p:sp>
        <p:nvSpPr>
          <p:cNvPr id="4" name="TextBox 3"/>
          <p:cNvSpPr txBox="1"/>
          <p:nvPr/>
        </p:nvSpPr>
        <p:spPr>
          <a:xfrm>
            <a:off x="640080" y="1207008"/>
            <a:ext cx="10911535" cy="411480"/>
          </a:xfrm>
          <a:prstGeom prst="rect">
            <a:avLst/>
          </a:prstGeom>
          <a:noFill/>
        </p:spPr>
        <p:txBody>
          <a:bodyPr wrap="square" lIns="0" rIns="0" tIns="0" bIns="0" anchor="t">
            <a:spAutoFit/>
          </a:bodyPr>
          <a:lstStyle/>
          <a:p>
            <a:pPr algn="l">
              <a:spcAft>
                <a:spcPts val="600"/>
              </a:spcAft>
            </a:pPr>
            <a:r>
              <a:rPr sz="1400" b="0" i="1">
                <a:solidFill>
                  <a:srgbClr val="5A6672"/>
                </a:solidFill>
                <a:latin typeface="Calibri"/>
              </a:rPr>
              <a:t>What is established, and by whom</a:t>
            </a:r>
          </a:p>
        </p:txBody>
      </p:sp>
      <p:graphicFrame>
        <p:nvGraphicFramePr>
          <p:cNvPr id="5" name="Table 4"/>
          <p:cNvGraphicFramePr>
            <a:graphicFrameLocks noGrp="1"/>
          </p:cNvGraphicFramePr>
          <p:nvPr/>
        </p:nvGraphicFramePr>
        <p:xfrm>
          <a:off x="640080" y="1828800"/>
          <a:ext cx="10908792" cy="3291840"/>
        </p:xfrm>
        <a:graphic>
          <a:graphicData uri="http://schemas.openxmlformats.org/drawingml/2006/table">
            <a:tbl>
              <a:tblPr firstRow="1" bandRow="1">
                <a:tableStyleId>{5C22544A-7EE6-4342-B048-85BDC9FD1C3A}</a:tableStyleId>
              </a:tblPr>
              <a:tblGrid>
                <a:gridCol w="2468880"/>
                <a:gridCol w="4480560"/>
                <a:gridCol w="3959352"/>
              </a:tblGrid>
              <a:tr h="548640">
                <a:tc>
                  <a:txBody>
                    <a:bodyPr/>
                    <a:lstStyle/>
                    <a:p>
                      <a:r>
                        <a:rPr sz="1100" b="1">
                          <a:solidFill>
                            <a:srgbClr val="FFFFFF"/>
                          </a:solidFill>
                          <a:latin typeface="Calibri"/>
                        </a:rPr>
                        <a:t>Work</a:t>
                      </a:r>
                    </a:p>
                  </a:txBody>
                  <a:tcPr anchor="ctr">
                    <a:solidFill>
                      <a:srgbClr val="12263A"/>
                    </a:solidFill>
                  </a:tcPr>
                </a:tc>
                <a:tc>
                  <a:txBody>
                    <a:bodyPr/>
                    <a:lstStyle/>
                    <a:p>
                      <a:r>
                        <a:rPr sz="1100" b="1">
                          <a:solidFill>
                            <a:srgbClr val="FFFFFF"/>
                          </a:solidFill>
                          <a:latin typeface="Calibri"/>
                        </a:rPr>
                        <a:t>Contribution</a:t>
                      </a:r>
                    </a:p>
                  </a:txBody>
                  <a:tcPr anchor="ctr">
                    <a:solidFill>
                      <a:srgbClr val="12263A"/>
                    </a:solidFill>
                  </a:tcPr>
                </a:tc>
                <a:tc>
                  <a:txBody>
                    <a:bodyPr/>
                    <a:lstStyle/>
                    <a:p>
                      <a:r>
                        <a:rPr sz="1100" b="1">
                          <a:solidFill>
                            <a:srgbClr val="FFFFFF"/>
                          </a:solidFill>
                          <a:latin typeface="Calibri"/>
                        </a:rPr>
                        <a:t>Relevance here</a:t>
                      </a:r>
                    </a:p>
                  </a:txBody>
                  <a:tcPr anchor="ctr">
                    <a:solidFill>
                      <a:srgbClr val="12263A"/>
                    </a:solidFill>
                  </a:tcPr>
                </a:tc>
              </a:tr>
              <a:tr h="548640">
                <a:tc>
                  <a:txBody>
                    <a:bodyPr/>
                    <a:lstStyle/>
                    <a:p>
                      <a:r>
                        <a:rPr sz="1100">
                          <a:solidFill>
                            <a:srgbClr val="1A1A1A"/>
                          </a:solidFill>
                          <a:latin typeface="Calibri"/>
                        </a:rPr>
                        <a:t>Sarkar et al., CVPR 2024</a:t>
                      </a:r>
                    </a:p>
                  </a:txBody>
                  <a:tcPr anchor="ctr">
                    <a:solidFill>
                      <a:srgbClr val="FFFFFF"/>
                    </a:solidFill>
                  </a:tcPr>
                </a:tc>
                <a:tc>
                  <a:txBody>
                    <a:bodyPr/>
                    <a:lstStyle/>
                    <a:p>
                      <a:r>
                        <a:rPr sz="1100">
                          <a:solidFill>
                            <a:srgbClr val="1A1A1A"/>
                          </a:solidFill>
                          <a:latin typeface="Calibri"/>
                        </a:rPr>
                        <a:t>Classifiers on geometric features only (lines, perspective fields, shadows); AUC 0.88 to 0.94</a:t>
                      </a:r>
                    </a:p>
                  </a:txBody>
                  <a:tcPr anchor="ctr">
                    <a:solidFill>
                      <a:srgbClr val="FFFFFF"/>
                    </a:solidFill>
                  </a:tcPr>
                </a:tc>
                <a:tc>
                  <a:txBody>
                    <a:bodyPr/>
                    <a:lstStyle/>
                    <a:p>
                      <a:r>
                        <a:rPr sz="1100">
                          <a:solidFill>
                            <a:srgbClr val="1A1A1A"/>
                          </a:solidFill>
                          <a:latin typeface="Calibri"/>
                        </a:rPr>
                        <a:t>Anchor paper: proves the cue exists, but not which rule fails</a:t>
                      </a:r>
                    </a:p>
                  </a:txBody>
                  <a:tcPr anchor="ctr">
                    <a:solidFill>
                      <a:srgbClr val="FFFFFF"/>
                    </a:solidFill>
                  </a:tcPr>
                </a:tc>
              </a:tr>
              <a:tr h="548640">
                <a:tc>
                  <a:txBody>
                    <a:bodyPr/>
                    <a:lstStyle/>
                    <a:p>
                      <a:r>
                        <a:rPr sz="1100">
                          <a:solidFill>
                            <a:srgbClr val="1A1A1A"/>
                          </a:solidFill>
                          <a:latin typeface="Calibri"/>
                        </a:rPr>
                        <a:t>Kee, O'Brien and Farid, TOG 2013</a:t>
                      </a:r>
                    </a:p>
                  </a:txBody>
                  <a:tcPr anchor="ctr">
                    <a:solidFill>
                      <a:srgbClr val="F4F6F8"/>
                    </a:solidFill>
                  </a:tcPr>
                </a:tc>
                <a:tc>
                  <a:txBody>
                    <a:bodyPr/>
                    <a:lstStyle/>
                    <a:p>
                      <a:r>
                        <a:rPr sz="1100">
                          <a:solidFill>
                            <a:srgbClr val="1A1A1A"/>
                          </a:solidFill>
                          <a:latin typeface="Calibri"/>
                        </a:rPr>
                        <a:t>Shadow consistency as a linear program over wedge constraints</a:t>
                      </a:r>
                    </a:p>
                  </a:txBody>
                  <a:tcPr anchor="ctr">
                    <a:solidFill>
                      <a:srgbClr val="F4F6F8"/>
                    </a:solidFill>
                  </a:tcPr>
                </a:tc>
                <a:tc>
                  <a:txBody>
                    <a:bodyPr/>
                    <a:lstStyle/>
                    <a:p>
                      <a:r>
                        <a:rPr sz="1100">
                          <a:solidFill>
                            <a:srgbClr val="1A1A1A"/>
                          </a:solidFill>
                          <a:latin typeface="Calibri"/>
                        </a:rPr>
                        <a:t>Exact formulation used for our shadow rule</a:t>
                      </a:r>
                    </a:p>
                  </a:txBody>
                  <a:tcPr anchor="ctr">
                    <a:solidFill>
                      <a:srgbClr val="F4F6F8"/>
                    </a:solidFill>
                  </a:tcPr>
                </a:tc>
              </a:tr>
              <a:tr h="548640">
                <a:tc>
                  <a:txBody>
                    <a:bodyPr/>
                    <a:lstStyle/>
                    <a:p>
                      <a:r>
                        <a:rPr sz="1100">
                          <a:solidFill>
                            <a:srgbClr val="1A1A1A"/>
                          </a:solidFill>
                          <a:latin typeface="Calibri"/>
                        </a:rPr>
                        <a:t>Criminisi, Reid and Zisserman, 2000</a:t>
                      </a:r>
                    </a:p>
                  </a:txBody>
                  <a:tcPr anchor="ctr">
                    <a:solidFill>
                      <a:srgbClr val="FFFFFF"/>
                    </a:solidFill>
                  </a:tcPr>
                </a:tc>
                <a:tc>
                  <a:txBody>
                    <a:bodyPr/>
                    <a:lstStyle/>
                    <a:p>
                      <a:r>
                        <a:rPr sz="1100">
                          <a:solidFill>
                            <a:srgbClr val="1A1A1A"/>
                          </a:solidFill>
                          <a:latin typeface="Calibri"/>
                        </a:rPr>
                        <a:t>Single-view metrology from vanishing points</a:t>
                      </a:r>
                    </a:p>
                  </a:txBody>
                  <a:tcPr anchor="ctr">
                    <a:solidFill>
                      <a:srgbClr val="FFFFFF"/>
                    </a:solidFill>
                  </a:tcPr>
                </a:tc>
                <a:tc>
                  <a:txBody>
                    <a:bodyPr/>
                    <a:lstStyle/>
                    <a:p>
                      <a:r>
                        <a:rPr sz="1100">
                          <a:solidFill>
                            <a:srgbClr val="1A1A1A"/>
                          </a:solidFill>
                          <a:latin typeface="Calibri"/>
                        </a:rPr>
                        <a:t>Mathematical basis of the camera test</a:t>
                      </a:r>
                    </a:p>
                  </a:txBody>
                  <a:tcPr anchor="ctr">
                    <a:solidFill>
                      <a:srgbClr val="FFFFFF"/>
                    </a:solidFill>
                  </a:tcPr>
                </a:tc>
              </a:tr>
              <a:tr h="548640">
                <a:tc>
                  <a:txBody>
                    <a:bodyPr/>
                    <a:lstStyle/>
                    <a:p>
                      <a:r>
                        <a:rPr sz="1100">
                          <a:solidFill>
                            <a:srgbClr val="1A1A1A"/>
                          </a:solidFill>
                          <a:latin typeface="Calibri"/>
                        </a:rPr>
                        <a:t>Schindler and Dellaert, CVPR 2004</a:t>
                      </a:r>
                    </a:p>
                  </a:txBody>
                  <a:tcPr anchor="ctr">
                    <a:solidFill>
                      <a:srgbClr val="F4F6F8"/>
                    </a:solidFill>
                  </a:tcPr>
                </a:tc>
                <a:tc>
                  <a:txBody>
                    <a:bodyPr/>
                    <a:lstStyle/>
                    <a:p>
                      <a:r>
                        <a:rPr sz="1100">
                          <a:solidFill>
                            <a:srgbClr val="1A1A1A"/>
                          </a:solidFill>
                          <a:latin typeface="Calibri"/>
                        </a:rPr>
                        <a:t>Atlanta world: one vertical, several horizontal directions</a:t>
                      </a:r>
                    </a:p>
                  </a:txBody>
                  <a:tcPr anchor="ctr">
                    <a:solidFill>
                      <a:srgbClr val="F4F6F8"/>
                    </a:solidFill>
                  </a:tcPr>
                </a:tc>
                <a:tc>
                  <a:txBody>
                    <a:bodyPr/>
                    <a:lstStyle/>
                    <a:p>
                      <a:r>
                        <a:rPr sz="1100">
                          <a:solidFill>
                            <a:srgbClr val="1A1A1A"/>
                          </a:solidFill>
                          <a:latin typeface="Calibri"/>
                        </a:rPr>
                        <a:t>Why our main measure works on real streets</a:t>
                      </a:r>
                    </a:p>
                  </a:txBody>
                  <a:tcPr anchor="ctr">
                    <a:solidFill>
                      <a:srgbClr val="F4F6F8"/>
                    </a:solidFill>
                  </a:tcPr>
                </a:tc>
              </a:tr>
              <a:tr h="548640">
                <a:tc>
                  <a:txBody>
                    <a:bodyPr/>
                    <a:lstStyle/>
                    <a:p>
                      <a:r>
                        <a:rPr sz="1100">
                          <a:solidFill>
                            <a:srgbClr val="1A1A1A"/>
                          </a:solidFill>
                          <a:latin typeface="Calibri"/>
                        </a:rPr>
                        <a:t>Denis, Elder and Estrada, ECCV 2008</a:t>
                      </a:r>
                    </a:p>
                  </a:txBody>
                  <a:tcPr anchor="ctr">
                    <a:solidFill>
                      <a:srgbClr val="FFFFFF"/>
                    </a:solidFill>
                  </a:tcPr>
                </a:tc>
                <a:tc>
                  <a:txBody>
                    <a:bodyPr/>
                    <a:lstStyle/>
                    <a:p>
                      <a:r>
                        <a:rPr sz="1100">
                          <a:solidFill>
                            <a:srgbClr val="1A1A1A"/>
                          </a:solidFill>
                          <a:latin typeface="Calibri"/>
                        </a:rPr>
                        <a:t>York Urban Database: 102 calibrated images with true vanishing points</a:t>
                      </a:r>
                    </a:p>
                  </a:txBody>
                  <a:tcPr anchor="ctr">
                    <a:solidFill>
                      <a:srgbClr val="FFFFFF"/>
                    </a:solidFill>
                  </a:tcPr>
                </a:tc>
                <a:tc>
                  <a:txBody>
                    <a:bodyPr/>
                    <a:lstStyle/>
                    <a:p>
                      <a:r>
                        <a:rPr sz="1100">
                          <a:solidFill>
                            <a:srgbClr val="1A1A1A"/>
                          </a:solidFill>
                          <a:latin typeface="Calibri"/>
                        </a:rPr>
                        <a:t>Our hand-picked real reference and validation set</a:t>
                      </a:r>
                    </a:p>
                  </a:txBody>
                  <a:tcPr anchor="ctr">
                    <a:solidFill>
                      <a:srgbClr val="FFFFFF"/>
                    </a:solidFill>
                  </a:tcPr>
                </a:tc>
              </a:tr>
            </a:tbl>
          </a:graphicData>
        </a:graphic>
      </p:graphicFrame>
      <p:sp>
        <p:nvSpPr>
          <p:cNvPr id="6" name="TextBox 5"/>
          <p:cNvSpPr txBox="1"/>
          <p:nvPr/>
        </p:nvSpPr>
        <p:spPr>
          <a:xfrm>
            <a:off x="640080" y="5349240"/>
            <a:ext cx="10908792" cy="822960"/>
          </a:xfrm>
          <a:prstGeom prst="rect">
            <a:avLst/>
          </a:prstGeom>
          <a:noFill/>
        </p:spPr>
        <p:txBody>
          <a:bodyPr wrap="square" lIns="0" rIns="0" tIns="0" bIns="0" anchor="t">
            <a:spAutoFit/>
          </a:bodyPr>
          <a:lstStyle/>
          <a:p>
            <a:pPr algn="l">
              <a:spcAft>
                <a:spcPts val="600"/>
              </a:spcAft>
            </a:pPr>
            <a:r>
              <a:rPr sz="1400" b="0" i="1">
                <a:solidFill>
                  <a:srgbClr val="1C7293"/>
                </a:solidFill>
                <a:latin typeface="Calibri"/>
              </a:rPr>
              <a:t>Consensus: generated images break projective geometry. Open: which rule, by how much, and measured against which real photographs.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FFFFFF"/>
                </a:solidFill>
                <a:latin typeface="Cambria"/>
              </a:rPr>
              <a:t>Identified Research Gap</a:t>
            </a:r>
          </a:p>
        </p:txBody>
      </p:sp>
      <p:sp>
        <p:nvSpPr>
          <p:cNvPr id="4" name="Rounded Rectangle 3"/>
          <p:cNvSpPr/>
          <p:nvPr/>
        </p:nvSpPr>
        <p:spPr>
          <a:xfrm>
            <a:off x="640080" y="1874519"/>
            <a:ext cx="5303520" cy="1828800"/>
          </a:xfrm>
          <a:prstGeom prst="roundRect">
            <a:avLst>
              <a:gd name="adj" fmla="val 6000"/>
            </a:avLst>
          </a:prstGeom>
          <a:solidFill>
            <a:srgbClr val="1B33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19" y="2075688"/>
            <a:ext cx="548640" cy="457200"/>
          </a:xfrm>
          <a:prstGeom prst="rect">
            <a:avLst/>
          </a:prstGeom>
          <a:noFill/>
        </p:spPr>
        <p:txBody>
          <a:bodyPr wrap="square" lIns="0" rIns="0" tIns="0" bIns="0" anchor="t">
            <a:spAutoFit/>
          </a:bodyPr>
          <a:lstStyle/>
          <a:p>
            <a:pPr algn="l">
              <a:spcAft>
                <a:spcPts val="600"/>
              </a:spcAft>
            </a:pPr>
            <a:r>
              <a:rPr sz="2600" b="1" i="0">
                <a:solidFill>
                  <a:srgbClr val="E8A33D"/>
                </a:solidFill>
                <a:latin typeface="Cambria"/>
              </a:rPr>
              <a:t>1</a:t>
            </a:r>
          </a:p>
        </p:txBody>
      </p:sp>
      <p:sp>
        <p:nvSpPr>
          <p:cNvPr id="6" name="TextBox 5"/>
          <p:cNvSpPr txBox="1"/>
          <p:nvPr/>
        </p:nvSpPr>
        <p:spPr>
          <a:xfrm>
            <a:off x="1554480" y="2148839"/>
            <a:ext cx="4114800" cy="411480"/>
          </a:xfrm>
          <a:prstGeom prst="rect">
            <a:avLst/>
          </a:prstGeom>
          <a:noFill/>
        </p:spPr>
        <p:txBody>
          <a:bodyPr wrap="square" lIns="0" rIns="0" tIns="0" bIns="0" anchor="t">
            <a:spAutoFit/>
          </a:bodyPr>
          <a:lstStyle/>
          <a:p>
            <a:pPr algn="l">
              <a:spcAft>
                <a:spcPts val="600"/>
              </a:spcAft>
            </a:pPr>
            <a:r>
              <a:rPr sz="1600" b="1" i="0">
                <a:solidFill>
                  <a:srgbClr val="FFFFFF"/>
                </a:solidFill>
                <a:latin typeface="Cambria"/>
              </a:rPr>
              <a:t>Detection, not diagnosis</a:t>
            </a:r>
          </a:p>
        </p:txBody>
      </p:sp>
      <p:sp>
        <p:nvSpPr>
          <p:cNvPr id="7" name="TextBox 6"/>
          <p:cNvSpPr txBox="1"/>
          <p:nvPr/>
        </p:nvSpPr>
        <p:spPr>
          <a:xfrm>
            <a:off x="1554480" y="2651760"/>
            <a:ext cx="4114800" cy="914400"/>
          </a:xfrm>
          <a:prstGeom prst="rect">
            <a:avLst/>
          </a:prstGeom>
          <a:noFill/>
        </p:spPr>
        <p:txBody>
          <a:bodyPr wrap="square" lIns="0" rIns="0" tIns="0" bIns="0" anchor="t">
            <a:spAutoFit/>
          </a:bodyPr>
          <a:lstStyle/>
          <a:p>
            <a:pPr algn="l">
              <a:spcAft>
                <a:spcPts val="600"/>
              </a:spcAft>
            </a:pPr>
            <a:r>
              <a:rPr sz="1250" b="0" i="0">
                <a:solidFill>
                  <a:srgbClr val="B9CDDA"/>
                </a:solidFill>
                <a:latin typeface="Calibri"/>
              </a:rPr>
              <a:t>Learned classifiers say a violation exists, not which rule failed or by how much.</a:t>
            </a:r>
          </a:p>
        </p:txBody>
      </p:sp>
      <p:sp>
        <p:nvSpPr>
          <p:cNvPr id="8" name="Rounded Rectangle 7"/>
          <p:cNvSpPr/>
          <p:nvPr/>
        </p:nvSpPr>
        <p:spPr>
          <a:xfrm>
            <a:off x="6217920" y="1874519"/>
            <a:ext cx="5303520" cy="1828800"/>
          </a:xfrm>
          <a:prstGeom prst="roundRect">
            <a:avLst>
              <a:gd name="adj" fmla="val 6000"/>
            </a:avLst>
          </a:prstGeom>
          <a:solidFill>
            <a:srgbClr val="1B33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59" y="2075688"/>
            <a:ext cx="548640" cy="457200"/>
          </a:xfrm>
          <a:prstGeom prst="rect">
            <a:avLst/>
          </a:prstGeom>
          <a:noFill/>
        </p:spPr>
        <p:txBody>
          <a:bodyPr wrap="square" lIns="0" rIns="0" tIns="0" bIns="0" anchor="t">
            <a:spAutoFit/>
          </a:bodyPr>
          <a:lstStyle/>
          <a:p>
            <a:pPr algn="l">
              <a:spcAft>
                <a:spcPts val="600"/>
              </a:spcAft>
            </a:pPr>
            <a:r>
              <a:rPr sz="2600" b="1" i="0">
                <a:solidFill>
                  <a:srgbClr val="E8A33D"/>
                </a:solidFill>
                <a:latin typeface="Cambria"/>
              </a:rPr>
              <a:t>2</a:t>
            </a:r>
          </a:p>
        </p:txBody>
      </p:sp>
      <p:sp>
        <p:nvSpPr>
          <p:cNvPr id="10" name="TextBox 9"/>
          <p:cNvSpPr txBox="1"/>
          <p:nvPr/>
        </p:nvSpPr>
        <p:spPr>
          <a:xfrm>
            <a:off x="7132320" y="2148839"/>
            <a:ext cx="4114800" cy="411480"/>
          </a:xfrm>
          <a:prstGeom prst="rect">
            <a:avLst/>
          </a:prstGeom>
          <a:noFill/>
        </p:spPr>
        <p:txBody>
          <a:bodyPr wrap="square" lIns="0" rIns="0" tIns="0" bIns="0" anchor="t">
            <a:spAutoFit/>
          </a:bodyPr>
          <a:lstStyle/>
          <a:p>
            <a:pPr algn="l">
              <a:spcAft>
                <a:spcPts val="600"/>
              </a:spcAft>
            </a:pPr>
            <a:r>
              <a:rPr sz="1600" b="1" i="0">
                <a:solidFill>
                  <a:srgbClr val="FFFFFF"/>
                </a:solidFill>
                <a:latin typeface="Cambria"/>
              </a:rPr>
              <a:t>One real reference</a:t>
            </a:r>
          </a:p>
        </p:txBody>
      </p:sp>
      <p:sp>
        <p:nvSpPr>
          <p:cNvPr id="11" name="TextBox 10"/>
          <p:cNvSpPr txBox="1"/>
          <p:nvPr/>
        </p:nvSpPr>
        <p:spPr>
          <a:xfrm>
            <a:off x="7132320" y="2651760"/>
            <a:ext cx="4114800" cy="914400"/>
          </a:xfrm>
          <a:prstGeom prst="rect">
            <a:avLst/>
          </a:prstGeom>
          <a:noFill/>
        </p:spPr>
        <p:txBody>
          <a:bodyPr wrap="square" lIns="0" rIns="0" tIns="0" bIns="0" anchor="t">
            <a:spAutoFit/>
          </a:bodyPr>
          <a:lstStyle/>
          <a:p>
            <a:pPr algn="l">
              <a:spcAft>
                <a:spcPts val="600"/>
              </a:spcAft>
            </a:pPr>
            <a:r>
              <a:rPr sz="1250" b="0" i="0">
                <a:solidFill>
                  <a:srgbClr val="B9CDDA"/>
                </a:solidFill>
                <a:latin typeface="Calibri"/>
              </a:rPr>
              <a:t>Studies compare against one hand-picked dataset. Whether the conclusion depends on that choice is unexamined.</a:t>
            </a:r>
          </a:p>
        </p:txBody>
      </p:sp>
      <p:sp>
        <p:nvSpPr>
          <p:cNvPr id="12" name="Rounded Rectangle 11"/>
          <p:cNvSpPr/>
          <p:nvPr/>
        </p:nvSpPr>
        <p:spPr>
          <a:xfrm>
            <a:off x="640080" y="4023360"/>
            <a:ext cx="5303520" cy="1828800"/>
          </a:xfrm>
          <a:prstGeom prst="roundRect">
            <a:avLst>
              <a:gd name="adj" fmla="val 6000"/>
            </a:avLst>
          </a:prstGeom>
          <a:solidFill>
            <a:srgbClr val="1B33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19" y="4224528"/>
            <a:ext cx="548640" cy="457200"/>
          </a:xfrm>
          <a:prstGeom prst="rect">
            <a:avLst/>
          </a:prstGeom>
          <a:noFill/>
        </p:spPr>
        <p:txBody>
          <a:bodyPr wrap="square" lIns="0" rIns="0" tIns="0" bIns="0" anchor="t">
            <a:spAutoFit/>
          </a:bodyPr>
          <a:lstStyle/>
          <a:p>
            <a:pPr algn="l">
              <a:spcAft>
                <a:spcPts val="600"/>
              </a:spcAft>
            </a:pPr>
            <a:r>
              <a:rPr sz="2600" b="1" i="0">
                <a:solidFill>
                  <a:srgbClr val="E8A33D"/>
                </a:solidFill>
                <a:latin typeface="Cambria"/>
              </a:rPr>
              <a:t>3</a:t>
            </a:r>
          </a:p>
        </p:txBody>
      </p:sp>
      <p:sp>
        <p:nvSpPr>
          <p:cNvPr id="14" name="TextBox 13"/>
          <p:cNvSpPr txBox="1"/>
          <p:nvPr/>
        </p:nvSpPr>
        <p:spPr>
          <a:xfrm>
            <a:off x="1554480" y="4297680"/>
            <a:ext cx="4114800" cy="411480"/>
          </a:xfrm>
          <a:prstGeom prst="rect">
            <a:avLst/>
          </a:prstGeom>
          <a:noFill/>
        </p:spPr>
        <p:txBody>
          <a:bodyPr wrap="square" lIns="0" rIns="0" tIns="0" bIns="0" anchor="t">
            <a:spAutoFit/>
          </a:bodyPr>
          <a:lstStyle/>
          <a:p>
            <a:pPr algn="l">
              <a:spcAft>
                <a:spcPts val="600"/>
              </a:spcAft>
            </a:pPr>
            <a:r>
              <a:rPr sz="1600" b="1" i="0">
                <a:solidFill>
                  <a:srgbClr val="FFFFFF"/>
                </a:solidFill>
                <a:latin typeface="Cambria"/>
              </a:rPr>
              <a:t>Local vs global unmeasured</a:t>
            </a:r>
          </a:p>
        </p:txBody>
      </p:sp>
      <p:sp>
        <p:nvSpPr>
          <p:cNvPr id="15" name="TextBox 14"/>
          <p:cNvSpPr txBox="1"/>
          <p:nvPr/>
        </p:nvSpPr>
        <p:spPr>
          <a:xfrm>
            <a:off x="1554480" y="4800600"/>
            <a:ext cx="4114800" cy="914400"/>
          </a:xfrm>
          <a:prstGeom prst="rect">
            <a:avLst/>
          </a:prstGeom>
          <a:noFill/>
        </p:spPr>
        <p:txBody>
          <a:bodyPr wrap="square" lIns="0" rIns="0" tIns="0" bIns="0" anchor="t">
            <a:spAutoFit/>
          </a:bodyPr>
          <a:lstStyle/>
          <a:p>
            <a:pPr algn="l">
              <a:spcAft>
                <a:spcPts val="600"/>
              </a:spcAft>
            </a:pPr>
            <a:r>
              <a:rPr sz="1250" b="0" i="0">
                <a:solidFill>
                  <a:srgbClr val="B9CDDA"/>
                </a:solidFill>
                <a:latin typeface="Calibri"/>
              </a:rPr>
              <a:t>No study separates getting the scene's directions wrong from getting the camera wrong.</a:t>
            </a:r>
          </a:p>
        </p:txBody>
      </p:sp>
      <p:sp>
        <p:nvSpPr>
          <p:cNvPr id="16" name="Rounded Rectangle 15"/>
          <p:cNvSpPr/>
          <p:nvPr/>
        </p:nvSpPr>
        <p:spPr>
          <a:xfrm>
            <a:off x="6217920" y="4023360"/>
            <a:ext cx="5303520" cy="1828800"/>
          </a:xfrm>
          <a:prstGeom prst="roundRect">
            <a:avLst>
              <a:gd name="adj" fmla="val 6000"/>
            </a:avLst>
          </a:prstGeom>
          <a:solidFill>
            <a:srgbClr val="1B33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59" y="4224528"/>
            <a:ext cx="548640" cy="457200"/>
          </a:xfrm>
          <a:prstGeom prst="rect">
            <a:avLst/>
          </a:prstGeom>
          <a:noFill/>
        </p:spPr>
        <p:txBody>
          <a:bodyPr wrap="square" lIns="0" rIns="0" tIns="0" bIns="0" anchor="t">
            <a:spAutoFit/>
          </a:bodyPr>
          <a:lstStyle/>
          <a:p>
            <a:pPr algn="l">
              <a:spcAft>
                <a:spcPts val="600"/>
              </a:spcAft>
            </a:pPr>
            <a:r>
              <a:rPr sz="2600" b="1" i="0">
                <a:solidFill>
                  <a:srgbClr val="E8A33D"/>
                </a:solidFill>
                <a:latin typeface="Cambria"/>
              </a:rPr>
              <a:t>4</a:t>
            </a:r>
          </a:p>
        </p:txBody>
      </p:sp>
      <p:sp>
        <p:nvSpPr>
          <p:cNvPr id="18" name="TextBox 17"/>
          <p:cNvSpPr txBox="1"/>
          <p:nvPr/>
        </p:nvSpPr>
        <p:spPr>
          <a:xfrm>
            <a:off x="7132320" y="4297680"/>
            <a:ext cx="4114800" cy="411480"/>
          </a:xfrm>
          <a:prstGeom prst="rect">
            <a:avLst/>
          </a:prstGeom>
          <a:noFill/>
        </p:spPr>
        <p:txBody>
          <a:bodyPr wrap="square" lIns="0" rIns="0" tIns="0" bIns="0" anchor="t">
            <a:spAutoFit/>
          </a:bodyPr>
          <a:lstStyle/>
          <a:p>
            <a:pPr algn="l">
              <a:spcAft>
                <a:spcPts val="600"/>
              </a:spcAft>
            </a:pPr>
            <a:r>
              <a:rPr sz="1600" b="1" i="0">
                <a:solidFill>
                  <a:srgbClr val="FFFFFF"/>
                </a:solidFill>
                <a:latin typeface="Cambria"/>
              </a:rPr>
              <a:t>Applicability ignored</a:t>
            </a:r>
          </a:p>
        </p:txBody>
      </p:sp>
      <p:sp>
        <p:nvSpPr>
          <p:cNvPr id="19" name="TextBox 18"/>
          <p:cNvSpPr txBox="1"/>
          <p:nvPr/>
        </p:nvSpPr>
        <p:spPr>
          <a:xfrm>
            <a:off x="7132320" y="4800600"/>
            <a:ext cx="4114800" cy="914400"/>
          </a:xfrm>
          <a:prstGeom prst="rect">
            <a:avLst/>
          </a:prstGeom>
          <a:noFill/>
        </p:spPr>
        <p:txBody>
          <a:bodyPr wrap="square" lIns="0" rIns="0" tIns="0" bIns="0" anchor="t">
            <a:spAutoFit/>
          </a:bodyPr>
          <a:lstStyle/>
          <a:p>
            <a:pPr algn="l">
              <a:spcAft>
                <a:spcPts val="600"/>
              </a:spcAft>
            </a:pPr>
            <a:r>
              <a:rPr sz="1250" b="0" i="0">
                <a:solidFill>
                  <a:srgbClr val="B9CDDA"/>
                </a:solidFill>
                <a:latin typeface="Calibri"/>
              </a:rPr>
              <a:t>The three-vanishing-point test does not apply to non-box-shaped scenes, yet it is applied to them anyway.</a:t>
            </a:r>
          </a:p>
        </p:txBody>
      </p:sp>
      <p:sp>
        <p:nvSpPr>
          <p:cNvPr id="20" name="TextBox 19"/>
          <p:cNvSpPr txBox="1"/>
          <p:nvPr/>
        </p:nvSpPr>
        <p:spPr>
          <a:xfrm>
            <a:off x="640080" y="6263640"/>
            <a:ext cx="10908792" cy="365760"/>
          </a:xfrm>
          <a:prstGeom prst="rect">
            <a:avLst/>
          </a:prstGeom>
          <a:noFill/>
        </p:spPr>
        <p:txBody>
          <a:bodyPr wrap="square" lIns="0" rIns="0" tIns="0" bIns="0" anchor="t">
            <a:spAutoFit/>
          </a:bodyPr>
          <a:lstStyle/>
          <a:p>
            <a:pPr algn="l">
              <a:spcAft>
                <a:spcPts val="600"/>
              </a:spcAft>
            </a:pPr>
            <a:r>
              <a:rPr sz="1300" b="0" i="1">
                <a:solidFill>
                  <a:srgbClr val="E8A33D"/>
                </a:solidFill>
                <a:latin typeface="Calibri"/>
              </a:rPr>
              <a:t>This project addresses gaps 1 to 3, and solves gap 4 as part of the method.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Proposed Methodology</a:t>
            </a:r>
          </a:p>
        </p:txBody>
      </p:sp>
      <p:sp>
        <p:nvSpPr>
          <p:cNvPr id="4" name="TextBox 3"/>
          <p:cNvSpPr txBox="1"/>
          <p:nvPr/>
        </p:nvSpPr>
        <p:spPr>
          <a:xfrm>
            <a:off x="640080" y="1207008"/>
            <a:ext cx="10911535" cy="411480"/>
          </a:xfrm>
          <a:prstGeom prst="rect">
            <a:avLst/>
          </a:prstGeom>
          <a:noFill/>
        </p:spPr>
        <p:txBody>
          <a:bodyPr wrap="square" lIns="0" rIns="0" tIns="0" bIns="0" anchor="t">
            <a:spAutoFit/>
          </a:bodyPr>
          <a:lstStyle/>
          <a:p>
            <a:pPr algn="l">
              <a:spcAft>
                <a:spcPts val="600"/>
              </a:spcAft>
            </a:pPr>
            <a:r>
              <a:rPr sz="1400" b="0" i="1">
                <a:solidFill>
                  <a:srgbClr val="5A6672"/>
                </a:solidFill>
                <a:latin typeface="Calibri"/>
              </a:rPr>
              <a:t>Each level is one rule a pinhole camera cannot break</a:t>
            </a:r>
          </a:p>
        </p:txBody>
      </p:sp>
      <p:graphicFrame>
        <p:nvGraphicFramePr>
          <p:cNvPr id="5" name="Table 4"/>
          <p:cNvGraphicFramePr>
            <a:graphicFrameLocks noGrp="1"/>
          </p:cNvGraphicFramePr>
          <p:nvPr/>
        </p:nvGraphicFramePr>
        <p:xfrm>
          <a:off x="640080" y="1828800"/>
          <a:ext cx="10908792" cy="3017520"/>
        </p:xfrm>
        <a:graphic>
          <a:graphicData uri="http://schemas.openxmlformats.org/drawingml/2006/table">
            <a:tbl>
              <a:tblPr firstRow="1" bandRow="1">
                <a:tableStyleId>{5C22544A-7EE6-4342-B048-85BDC9FD1C3A}</a:tableStyleId>
              </a:tblPr>
              <a:tblGrid>
                <a:gridCol w="1554480"/>
                <a:gridCol w="4754880"/>
                <a:gridCol w="2377440"/>
                <a:gridCol w="2221992"/>
              </a:tblGrid>
              <a:tr h="502920">
                <a:tc>
                  <a:txBody>
                    <a:bodyPr/>
                    <a:lstStyle/>
                    <a:p>
                      <a:r>
                        <a:rPr sz="1100" b="1">
                          <a:solidFill>
                            <a:srgbClr val="FFFFFF"/>
                          </a:solidFill>
                          <a:latin typeface="Calibri"/>
                        </a:rPr>
                        <a:t>Level</a:t>
                      </a:r>
                    </a:p>
                  </a:txBody>
                  <a:tcPr anchor="ctr">
                    <a:solidFill>
                      <a:srgbClr val="12263A"/>
                    </a:solidFill>
                  </a:tcPr>
                </a:tc>
                <a:tc>
                  <a:txBody>
                    <a:bodyPr/>
                    <a:lstStyle/>
                    <a:p>
                      <a:r>
                        <a:rPr sz="1100" b="1">
                          <a:solidFill>
                            <a:srgbClr val="FFFFFF"/>
                          </a:solidFill>
                          <a:latin typeface="Calibri"/>
                        </a:rPr>
                        <a:t>Rule</a:t>
                      </a:r>
                    </a:p>
                  </a:txBody>
                  <a:tcPr anchor="ctr">
                    <a:solidFill>
                      <a:srgbClr val="12263A"/>
                    </a:solidFill>
                  </a:tcPr>
                </a:tc>
                <a:tc>
                  <a:txBody>
                    <a:bodyPr/>
                    <a:lstStyle/>
                    <a:p>
                      <a:r>
                        <a:rPr sz="1100" b="1">
                          <a:solidFill>
                            <a:srgbClr val="FFFFFF"/>
                          </a:solidFill>
                          <a:latin typeface="Calibri"/>
                        </a:rPr>
                        <a:t>Residual</a:t>
                      </a:r>
                    </a:p>
                  </a:txBody>
                  <a:tcPr anchor="ctr">
                    <a:solidFill>
                      <a:srgbClr val="12263A"/>
                    </a:solidFill>
                  </a:tcPr>
                </a:tc>
                <a:tc>
                  <a:txBody>
                    <a:bodyPr/>
                    <a:lstStyle/>
                    <a:p>
                      <a:r>
                        <a:rPr sz="1100" b="1">
                          <a:solidFill>
                            <a:srgbClr val="FFFFFF"/>
                          </a:solidFill>
                          <a:latin typeface="Calibri"/>
                        </a:rPr>
                        <a:t>Status</a:t>
                      </a:r>
                    </a:p>
                  </a:txBody>
                  <a:tcPr anchor="ctr">
                    <a:solidFill>
                      <a:srgbClr val="12263A"/>
                    </a:solidFill>
                  </a:tcPr>
                </a:tc>
              </a:tr>
              <a:tr h="502920">
                <a:tc>
                  <a:txBody>
                    <a:bodyPr/>
                    <a:lstStyle/>
                    <a:p>
                      <a:r>
                        <a:rPr sz="1100">
                          <a:solidFill>
                            <a:srgbClr val="1A1A1A"/>
                          </a:solidFill>
                          <a:latin typeface="Calibri"/>
                        </a:rPr>
                        <a:t>L2</a:t>
                      </a:r>
                    </a:p>
                  </a:txBody>
                  <a:tcPr anchor="ctr">
                    <a:solidFill>
                      <a:srgbClr val="FFFFFF"/>
                    </a:solidFill>
                  </a:tcPr>
                </a:tc>
                <a:tc>
                  <a:txBody>
                    <a:bodyPr/>
                    <a:lstStyle/>
                    <a:p>
                      <a:r>
                        <a:rPr sz="1100">
                          <a:solidFill>
                            <a:srgbClr val="1A1A1A"/>
                          </a:solidFill>
                          <a:latin typeface="Calibri"/>
                        </a:rPr>
                        <a:t>Lines parallel in 3D meet at one vanishing point</a:t>
                      </a:r>
                    </a:p>
                  </a:txBody>
                  <a:tcPr anchor="ctr">
                    <a:solidFill>
                      <a:srgbClr val="FFFFFF"/>
                    </a:solidFill>
                  </a:tcPr>
                </a:tc>
                <a:tc>
                  <a:txBody>
                    <a:bodyPr/>
                    <a:lstStyle/>
                    <a:p>
                      <a:r>
                        <a:rPr sz="1100">
                          <a:solidFill>
                            <a:srgbClr val="1A1A1A"/>
                          </a:solidFill>
                          <a:latin typeface="Calibri"/>
                        </a:rPr>
                        <a:t>Angle (deg)</a:t>
                      </a:r>
                    </a:p>
                  </a:txBody>
                  <a:tcPr anchor="ctr">
                    <a:solidFill>
                      <a:srgbClr val="FFFFFF"/>
                    </a:solidFill>
                  </a:tcPr>
                </a:tc>
                <a:tc>
                  <a:txBody>
                    <a:bodyPr/>
                    <a:lstStyle/>
                    <a:p>
                      <a:r>
                        <a:rPr sz="1100">
                          <a:solidFill>
                            <a:srgbClr val="1A1A1A"/>
                          </a:solidFill>
                          <a:latin typeface="Calibri"/>
                        </a:rPr>
                        <a:t>Built</a:t>
                      </a:r>
                    </a:p>
                  </a:txBody>
                  <a:tcPr anchor="ctr">
                    <a:solidFill>
                      <a:srgbClr val="FFFFFF"/>
                    </a:solidFill>
                  </a:tcPr>
                </a:tc>
              </a:tr>
              <a:tr h="502920">
                <a:tc>
                  <a:txBody>
                    <a:bodyPr/>
                    <a:lstStyle/>
                    <a:p>
                      <a:r>
                        <a:rPr sz="1100">
                          <a:solidFill>
                            <a:srgbClr val="1A1A1A"/>
                          </a:solidFill>
                          <a:latin typeface="Calibri"/>
                        </a:rPr>
                        <a:t>L3</a:t>
                      </a:r>
                    </a:p>
                  </a:txBody>
                  <a:tcPr anchor="ctr">
                    <a:solidFill>
                      <a:srgbClr val="F4F6F8"/>
                    </a:solidFill>
                  </a:tcPr>
                </a:tc>
                <a:tc>
                  <a:txBody>
                    <a:bodyPr/>
                    <a:lstStyle/>
                    <a:p>
                      <a:r>
                        <a:rPr sz="1100">
                          <a:solidFill>
                            <a:srgbClr val="1A1A1A"/>
                          </a:solidFill>
                          <a:latin typeface="Calibri"/>
                        </a:rPr>
                        <a:t>Three directions at right angles fix one focal length and principal point</a:t>
                      </a:r>
                    </a:p>
                  </a:txBody>
                  <a:tcPr anchor="ctr">
                    <a:solidFill>
                      <a:srgbClr val="F4F6F8"/>
                    </a:solidFill>
                  </a:tcPr>
                </a:tc>
                <a:tc>
                  <a:txBody>
                    <a:bodyPr/>
                    <a:lstStyle/>
                    <a:p>
                      <a:r>
                        <a:rPr sz="1100">
                          <a:solidFill>
                            <a:srgbClr val="1A1A1A"/>
                          </a:solidFill>
                          <a:latin typeface="Calibri"/>
                        </a:rPr>
                        <a:t>Deviation from 90 deg</a:t>
                      </a:r>
                    </a:p>
                  </a:txBody>
                  <a:tcPr anchor="ctr">
                    <a:solidFill>
                      <a:srgbClr val="F4F6F8"/>
                    </a:solidFill>
                  </a:tcPr>
                </a:tc>
                <a:tc>
                  <a:txBody>
                    <a:bodyPr/>
                    <a:lstStyle/>
                    <a:p>
                      <a:r>
                        <a:rPr sz="1100">
                          <a:solidFill>
                            <a:srgbClr val="1A1A1A"/>
                          </a:solidFill>
                          <a:latin typeface="Calibri"/>
                        </a:rPr>
                        <a:t>Built (secondary)</a:t>
                      </a:r>
                    </a:p>
                  </a:txBody>
                  <a:tcPr anchor="ctr">
                    <a:solidFill>
                      <a:srgbClr val="F4F6F8"/>
                    </a:solidFill>
                  </a:tcPr>
                </a:tc>
              </a:tr>
              <a:tr h="502920">
                <a:tc>
                  <a:txBody>
                    <a:bodyPr/>
                    <a:lstStyle/>
                    <a:p>
                      <a:r>
                        <a:rPr sz="1100">
                          <a:solidFill>
                            <a:srgbClr val="1A1A1A"/>
                          </a:solidFill>
                          <a:latin typeface="Calibri"/>
                        </a:rPr>
                        <a:t>L3b</a:t>
                      </a:r>
                    </a:p>
                  </a:txBody>
                  <a:tcPr anchor="ctr">
                    <a:solidFill>
                      <a:srgbClr val="FFFFFF"/>
                    </a:solidFill>
                  </a:tcPr>
                </a:tc>
                <a:tc>
                  <a:txBody>
                    <a:bodyPr/>
                    <a:lstStyle/>
                    <a:p>
                      <a:r>
                        <a:rPr sz="1100">
                          <a:solidFill>
                            <a:srgbClr val="1A1A1A"/>
                          </a:solidFill>
                          <a:latin typeface="Calibri"/>
                        </a:rPr>
                        <a:t>Every horizontal direction gives the same focal length with the vertical</a:t>
                      </a:r>
                    </a:p>
                  </a:txBody>
                  <a:tcPr anchor="ctr">
                    <a:solidFill>
                      <a:srgbClr val="FFFFFF"/>
                    </a:solidFill>
                  </a:tcPr>
                </a:tc>
                <a:tc>
                  <a:txBody>
                    <a:bodyPr/>
                    <a:lstStyle/>
                    <a:p>
                      <a:r>
                        <a:rPr sz="1100">
                          <a:solidFill>
                            <a:srgbClr val="1A1A1A"/>
                          </a:solidFill>
                          <a:latin typeface="Calibri"/>
                        </a:rPr>
                        <a:t>Spread of log focal length</a:t>
                      </a:r>
                    </a:p>
                  </a:txBody>
                  <a:tcPr anchor="ctr">
                    <a:solidFill>
                      <a:srgbClr val="FFFFFF"/>
                    </a:solidFill>
                  </a:tcPr>
                </a:tc>
                <a:tc>
                  <a:txBody>
                    <a:bodyPr/>
                    <a:lstStyle/>
                    <a:p>
                      <a:r>
                        <a:rPr sz="1100">
                          <a:solidFill>
                            <a:srgbClr val="1A1A1A"/>
                          </a:solidFill>
                          <a:latin typeface="Calibri"/>
                        </a:rPr>
                        <a:t>PRIMARY measure</a:t>
                      </a:r>
                    </a:p>
                  </a:txBody>
                  <a:tcPr anchor="ctr">
                    <a:solidFill>
                      <a:srgbClr val="FFFFFF"/>
                    </a:solidFill>
                  </a:tcPr>
                </a:tc>
              </a:tr>
              <a:tr h="502920">
                <a:tc>
                  <a:txBody>
                    <a:bodyPr/>
                    <a:lstStyle/>
                    <a:p>
                      <a:r>
                        <a:rPr sz="1100">
                          <a:solidFill>
                            <a:srgbClr val="1A1A1A"/>
                          </a:solidFill>
                          <a:latin typeface="Calibri"/>
                        </a:rPr>
                        <a:t>L7</a:t>
                      </a:r>
                    </a:p>
                  </a:txBody>
                  <a:tcPr anchor="ctr">
                    <a:solidFill>
                      <a:srgbClr val="F4F6F8"/>
                    </a:solidFill>
                  </a:tcPr>
                </a:tc>
                <a:tc>
                  <a:txBody>
                    <a:bodyPr/>
                    <a:lstStyle/>
                    <a:p>
                      <a:r>
                        <a:rPr sz="1100">
                          <a:solidFill>
                            <a:srgbClr val="1A1A1A"/>
                          </a:solidFill>
                          <a:latin typeface="Calibri"/>
                        </a:rPr>
                        <a:t>All cast shadows agree with one light source</a:t>
                      </a:r>
                    </a:p>
                  </a:txBody>
                  <a:tcPr anchor="ctr">
                    <a:solidFill>
                      <a:srgbClr val="F4F6F8"/>
                    </a:solidFill>
                  </a:tcPr>
                </a:tc>
                <a:tc>
                  <a:txBody>
                    <a:bodyPr/>
                    <a:lstStyle/>
                    <a:p>
                      <a:r>
                        <a:rPr sz="1100">
                          <a:solidFill>
                            <a:srgbClr val="1A1A1A"/>
                          </a:solidFill>
                          <a:latin typeface="Calibri"/>
                        </a:rPr>
                        <a:t>LP violation (px)</a:t>
                      </a:r>
                    </a:p>
                  </a:txBody>
                  <a:tcPr anchor="ctr">
                    <a:solidFill>
                      <a:srgbClr val="F4F6F8"/>
                    </a:solidFill>
                  </a:tcPr>
                </a:tc>
                <a:tc>
                  <a:txBody>
                    <a:bodyPr/>
                    <a:lstStyle/>
                    <a:p>
                      <a:r>
                        <a:rPr sz="1100">
                          <a:solidFill>
                            <a:srgbClr val="1A1A1A"/>
                          </a:solidFill>
                          <a:latin typeface="Calibri"/>
                        </a:rPr>
                        <a:t>Geometry validated</a:t>
                      </a:r>
                    </a:p>
                  </a:txBody>
                  <a:tcPr anchor="ctr">
                    <a:solidFill>
                      <a:srgbClr val="F4F6F8"/>
                    </a:solidFill>
                  </a:tcPr>
                </a:tc>
              </a:tr>
              <a:tr h="502920">
                <a:tc>
                  <a:txBody>
                    <a:bodyPr/>
                    <a:lstStyle/>
                    <a:p>
                      <a:r>
                        <a:rPr sz="1100">
                          <a:solidFill>
                            <a:srgbClr val="1A1A1A"/>
                          </a:solidFill>
                          <a:latin typeface="Calibri"/>
                        </a:rPr>
                        <a:t>L1, L4 to L6, L8, L9</a:t>
                      </a:r>
                    </a:p>
                  </a:txBody>
                  <a:tcPr anchor="ctr">
                    <a:solidFill>
                      <a:srgbClr val="FFFFFF"/>
                    </a:solidFill>
                  </a:tcPr>
                </a:tc>
                <a:tc>
                  <a:txBody>
                    <a:bodyPr/>
                    <a:lstStyle/>
                    <a:p>
                      <a:r>
                        <a:rPr sz="1100">
                          <a:solidFill>
                            <a:srgbClr val="1A1A1A"/>
                          </a:solidFill>
                          <a:latin typeface="Calibri"/>
                        </a:rPr>
                        <a:t>Straightness, horizon, cross-ratio, conics, reflections</a:t>
                      </a:r>
                    </a:p>
                  </a:txBody>
                  <a:tcPr anchor="ctr">
                    <a:solidFill>
                      <a:srgbClr val="FFFFFF"/>
                    </a:solidFill>
                  </a:tcPr>
                </a:tc>
                <a:tc>
                  <a:txBody>
                    <a:bodyPr/>
                    <a:lstStyle/>
                    <a:p>
                      <a:r>
                        <a:rPr sz="1100">
                          <a:solidFill>
                            <a:srgbClr val="1A1A1A"/>
                          </a:solidFill>
                          <a:latin typeface="Calibri"/>
                        </a:rPr>
                        <a:t>Various</a:t>
                      </a:r>
                    </a:p>
                  </a:txBody>
                  <a:tcPr anchor="ctr">
                    <a:solidFill>
                      <a:srgbClr val="FFFFFF"/>
                    </a:solidFill>
                  </a:tcPr>
                </a:tc>
                <a:tc>
                  <a:txBody>
                    <a:bodyPr/>
                    <a:lstStyle/>
                    <a:p>
                      <a:r>
                        <a:rPr sz="1100">
                          <a:solidFill>
                            <a:srgbClr val="1A1A1A"/>
                          </a:solidFill>
                          <a:latin typeface="Calibri"/>
                        </a:rPr>
                        <a:t>Future work</a:t>
                      </a:r>
                    </a:p>
                  </a:txBody>
                  <a:tcPr anchor="ctr">
                    <a:solidFill>
                      <a:srgbClr val="FFFFFF"/>
                    </a:solidFill>
                  </a:tcPr>
                </a:tc>
              </a:tr>
            </a:tbl>
          </a:graphicData>
        </a:graphic>
      </p:graphicFrame>
      <p:sp>
        <p:nvSpPr>
          <p:cNvPr id="6" name="Rounded Rectangle 5"/>
          <p:cNvSpPr/>
          <p:nvPr/>
        </p:nvSpPr>
        <p:spPr>
          <a:xfrm>
            <a:off x="640080" y="5120640"/>
            <a:ext cx="10908792" cy="10972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321808"/>
            <a:ext cx="10332720" cy="731520"/>
          </a:xfrm>
          <a:prstGeom prst="rect">
            <a:avLst/>
          </a:prstGeom>
          <a:noFill/>
        </p:spPr>
        <p:txBody>
          <a:bodyPr wrap="square" lIns="0" rIns="0" tIns="0" bIns="0" anchor="t">
            <a:spAutoFit/>
          </a:bodyPr>
          <a:lstStyle/>
          <a:p>
            <a:pPr algn="l">
              <a:spcAft>
                <a:spcPts val="600"/>
              </a:spcAft>
            </a:pPr>
            <a:r>
              <a:rPr sz="1400" b="1" i="0">
                <a:solidFill>
                  <a:srgbClr val="12263A"/>
                </a:solidFill>
                <a:latin typeface="Calibri"/>
              </a:rPr>
              <a:t>Key design decision: the vanishing-point finder is never told to look for right angles. The camera test asks whether the directions are at right angles, so building that in would make the test meaningless.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System Architecture and Workflow</a:t>
            </a:r>
          </a:p>
        </p:txBody>
      </p:sp>
      <p:sp>
        <p:nvSpPr>
          <p:cNvPr id="4" name="Rounded Rectangle 3"/>
          <p:cNvSpPr/>
          <p:nvPr/>
        </p:nvSpPr>
        <p:spPr>
          <a:xfrm>
            <a:off x="640080" y="2103120"/>
            <a:ext cx="1627632" cy="1143000"/>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50" b="1">
                <a:solidFill>
                  <a:srgbClr val="FFFFFF"/>
                </a:solidFill>
                <a:latin typeface="Calibri"/>
              </a:rPr>
              <a:t>Image</a:t>
            </a:r>
          </a:p>
        </p:txBody>
      </p:sp>
      <p:sp>
        <p:nvSpPr>
          <p:cNvPr id="5" name="Right Arrow 4"/>
          <p:cNvSpPr/>
          <p:nvPr/>
        </p:nvSpPr>
        <p:spPr>
          <a:xfrm>
            <a:off x="2286000" y="2574036"/>
            <a:ext cx="210312" cy="201168"/>
          </a:xfrm>
          <a:prstGeom prst="rightArrow">
            <a:avLst/>
          </a:prstGeom>
          <a:solidFill>
            <a:srgbClr val="5A66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514600" y="2103120"/>
            <a:ext cx="1627632" cy="1143000"/>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50" b="1">
                <a:solidFill>
                  <a:srgbClr val="FFFFFF"/>
                </a:solidFill>
                <a:latin typeface="Calibri"/>
              </a:rPr>
              <a:t>LSD line</a:t>
            </a:r>
          </a:p>
          <a:p>
            <a:pPr algn="ctr"/>
            <a:r>
              <a:rPr sz="1250" b="1">
                <a:solidFill>
                  <a:srgbClr val="FFFFFF"/>
                </a:solidFill>
                <a:latin typeface="Calibri"/>
              </a:rPr>
              <a:t>detection</a:t>
            </a:r>
          </a:p>
        </p:txBody>
      </p:sp>
      <p:sp>
        <p:nvSpPr>
          <p:cNvPr id="7" name="Right Arrow 6"/>
          <p:cNvSpPr/>
          <p:nvPr/>
        </p:nvSpPr>
        <p:spPr>
          <a:xfrm>
            <a:off x="4160520" y="2574036"/>
            <a:ext cx="210312" cy="201168"/>
          </a:xfrm>
          <a:prstGeom prst="rightArrow">
            <a:avLst/>
          </a:prstGeom>
          <a:solidFill>
            <a:srgbClr val="5A66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0" y="2103120"/>
            <a:ext cx="1627632" cy="1143000"/>
          </a:xfrm>
          <a:prstGeom prst="roundRect">
            <a:avLst>
              <a:gd name="adj" fmla="val 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50" b="1">
                <a:solidFill>
                  <a:srgbClr val="FFFFFF"/>
                </a:solidFill>
                <a:latin typeface="Calibri"/>
              </a:rPr>
              <a:t>RANSAC VP</a:t>
            </a:r>
          </a:p>
          <a:p>
            <a:pPr algn="ctr"/>
            <a:r>
              <a:rPr sz="1250" b="1">
                <a:solidFill>
                  <a:srgbClr val="FFFFFF"/>
                </a:solidFill>
                <a:latin typeface="Calibri"/>
              </a:rPr>
              <a:t>estimation</a:t>
            </a:r>
          </a:p>
        </p:txBody>
      </p:sp>
      <p:sp>
        <p:nvSpPr>
          <p:cNvPr id="9" name="Right Arrow 8"/>
          <p:cNvSpPr/>
          <p:nvPr/>
        </p:nvSpPr>
        <p:spPr>
          <a:xfrm>
            <a:off x="6035040" y="2574036"/>
            <a:ext cx="210312" cy="201168"/>
          </a:xfrm>
          <a:prstGeom prst="rightArrow">
            <a:avLst/>
          </a:prstGeom>
          <a:solidFill>
            <a:srgbClr val="5A66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63640" y="2103120"/>
            <a:ext cx="1627632" cy="1143000"/>
          </a:xfrm>
          <a:prstGeom prst="roundRect">
            <a:avLst>
              <a:gd name="adj" fmla="val 6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50" b="1">
                <a:solidFill>
                  <a:srgbClr val="FFFFFF"/>
                </a:solidFill>
                <a:latin typeface="Calibri"/>
              </a:rPr>
              <a:t>Applicability</a:t>
            </a:r>
          </a:p>
          <a:p>
            <a:pPr algn="ctr"/>
            <a:r>
              <a:rPr sz="1250" b="1">
                <a:solidFill>
                  <a:srgbClr val="FFFFFF"/>
                </a:solidFill>
                <a:latin typeface="Calibri"/>
              </a:rPr>
              <a:t>rule</a:t>
            </a:r>
          </a:p>
        </p:txBody>
      </p:sp>
      <p:sp>
        <p:nvSpPr>
          <p:cNvPr id="11" name="Right Arrow 10"/>
          <p:cNvSpPr/>
          <p:nvPr/>
        </p:nvSpPr>
        <p:spPr>
          <a:xfrm>
            <a:off x="7909559" y="2574036"/>
            <a:ext cx="210312" cy="201168"/>
          </a:xfrm>
          <a:prstGeom prst="rightArrow">
            <a:avLst/>
          </a:prstGeom>
          <a:solidFill>
            <a:srgbClr val="5A66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38159" y="2103120"/>
            <a:ext cx="1627632" cy="1143000"/>
          </a:xfrm>
          <a:prstGeom prst="roundRect">
            <a:avLst>
              <a:gd name="adj" fmla="val 6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50" b="1">
                <a:solidFill>
                  <a:srgbClr val="FFFFFF"/>
                </a:solidFill>
                <a:latin typeface="Calibri"/>
              </a:rPr>
              <a:t>Residuals</a:t>
            </a:r>
          </a:p>
          <a:p>
            <a:pPr algn="ctr"/>
            <a:r>
              <a:rPr sz="1250" b="1">
                <a:solidFill>
                  <a:srgbClr val="FFFFFF"/>
                </a:solidFill>
                <a:latin typeface="Calibri"/>
              </a:rPr>
              <a:t>L2 / L3 / L3b / L7</a:t>
            </a:r>
          </a:p>
        </p:txBody>
      </p:sp>
      <p:sp>
        <p:nvSpPr>
          <p:cNvPr id="13" name="Right Arrow 12"/>
          <p:cNvSpPr/>
          <p:nvPr/>
        </p:nvSpPr>
        <p:spPr>
          <a:xfrm>
            <a:off x="9784079" y="2574036"/>
            <a:ext cx="210312" cy="201168"/>
          </a:xfrm>
          <a:prstGeom prst="rightArrow">
            <a:avLst/>
          </a:prstGeom>
          <a:solidFill>
            <a:srgbClr val="5A66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012680" y="2103120"/>
            <a:ext cx="1627632" cy="1143000"/>
          </a:xfrm>
          <a:prstGeom prst="roundRect">
            <a:avLst>
              <a:gd name="adj" fmla="val 6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50" b="1">
                <a:solidFill>
                  <a:srgbClr val="FFFFFF"/>
                </a:solidFill>
                <a:latin typeface="Calibri"/>
              </a:rPr>
              <a:t>Compare with real</a:t>
            </a:r>
          </a:p>
          <a:p>
            <a:pPr algn="ctr"/>
            <a:r>
              <a:rPr sz="1250" b="1">
                <a:solidFill>
                  <a:srgbClr val="FFFFFF"/>
                </a:solidFill>
                <a:latin typeface="Calibri"/>
              </a:rPr>
              <a:t>photographs</a:t>
            </a:r>
          </a:p>
        </p:txBody>
      </p:sp>
      <p:sp>
        <p:nvSpPr>
          <p:cNvPr id="15" name="TextBox 14"/>
          <p:cNvSpPr txBox="1"/>
          <p:nvPr/>
        </p:nvSpPr>
        <p:spPr>
          <a:xfrm>
            <a:off x="640080" y="3401568"/>
            <a:ext cx="10908792" cy="502920"/>
          </a:xfrm>
          <a:prstGeom prst="rect">
            <a:avLst/>
          </a:prstGeom>
          <a:noFill/>
        </p:spPr>
        <p:txBody>
          <a:bodyPr wrap="square" lIns="0" rIns="0" tIns="0" bIns="0" anchor="t">
            <a:spAutoFit/>
          </a:bodyPr>
          <a:lstStyle/>
          <a:p>
            <a:pPr algn="l">
              <a:spcAft>
                <a:spcPts val="600"/>
              </a:spcAft>
            </a:pPr>
            <a:r>
              <a:rPr sz="1250" b="0" i="1">
                <a:solidFill>
                  <a:srgbClr val="E8A33D"/>
                </a:solidFill>
                <a:latin typeface="Calibri"/>
              </a:rPr>
              <a:t>Images that fail the rule are reported as a selection rate: how often one camera can even be identified is itself a result about the generator.</a:t>
            </a:r>
          </a:p>
        </p:txBody>
      </p:sp>
      <p:sp>
        <p:nvSpPr>
          <p:cNvPr id="16" name="Rounded Rectangle 15"/>
          <p:cNvSpPr/>
          <p:nvPr/>
        </p:nvSpPr>
        <p:spPr>
          <a:xfrm>
            <a:off x="640080" y="3977639"/>
            <a:ext cx="5303520" cy="22402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160520"/>
            <a:ext cx="4754880" cy="365760"/>
          </a:xfrm>
          <a:prstGeom prst="rect">
            <a:avLst/>
          </a:prstGeom>
          <a:noFill/>
        </p:spPr>
        <p:txBody>
          <a:bodyPr wrap="square" lIns="0" rIns="0" tIns="0" bIns="0" anchor="t">
            <a:spAutoFit/>
          </a:bodyPr>
          <a:lstStyle/>
          <a:p>
            <a:pPr algn="l">
              <a:spcAft>
                <a:spcPts val="600"/>
              </a:spcAft>
            </a:pPr>
            <a:r>
              <a:rPr sz="1200" b="1" i="0">
                <a:solidFill>
                  <a:srgbClr val="12263A"/>
                </a:solidFill>
                <a:latin typeface="Calibri"/>
              </a:rPr>
              <a:t>APPLICABILITY RULE (evidence only)</a:t>
            </a:r>
          </a:p>
        </p:txBody>
      </p:sp>
      <p:sp>
        <p:nvSpPr>
          <p:cNvPr id="18" name="TextBox 17"/>
          <p:cNvSpPr txBox="1"/>
          <p:nvPr/>
        </p:nvSpPr>
        <p:spPr>
          <a:xfrm>
            <a:off x="914400" y="4572000"/>
            <a:ext cx="4754880" cy="1554480"/>
          </a:xfrm>
          <a:prstGeom prst="rect">
            <a:avLst/>
          </a:prstGeom>
          <a:noFill/>
        </p:spPr>
        <p:txBody>
          <a:bodyPr wrap="square" lIns="0" rIns="0" tIns="0" bIns="0">
            <a:spAutoFit/>
          </a:bodyPr>
          <a:lstStyle/>
          <a:p>
            <a:pPr>
              <a:spcAft>
                <a:spcPts val="500"/>
              </a:spcAft>
            </a:pPr>
            <a:r>
              <a:rPr sz="1250" b="0">
                <a:solidFill>
                  <a:srgbClr val="1A1A1A"/>
                </a:solidFill>
                <a:latin typeface="Calibri"/>
              </a:rPr>
              <a:t>•  3 line families, each ≥ 8% of the line length</a:t>
            </a:r>
          </a:p>
          <a:p>
            <a:pPr>
              <a:spcAft>
                <a:spcPts val="500"/>
              </a:spcAft>
            </a:pPr>
            <a:r>
              <a:rPr sz="1250" b="0">
                <a:solidFill>
                  <a:srgbClr val="1A1A1A"/>
                </a:solidFill>
                <a:latin typeface="Calibri"/>
              </a:rPr>
              <a:t>•  each vanishing point pinned to &lt; 1° (bootstrap)</a:t>
            </a:r>
          </a:p>
          <a:p>
            <a:pPr>
              <a:spcAft>
                <a:spcPts val="500"/>
              </a:spcAft>
            </a:pPr>
            <a:r>
              <a:rPr sz="1250" b="0">
                <a:solidFill>
                  <a:srgbClr val="1A1A1A"/>
                </a:solidFill>
                <a:latin typeface="Calibri"/>
              </a:rPr>
              <a:t>•  each pair ≥ 10° apart and ≥ 5× its uncertainty</a:t>
            </a:r>
          </a:p>
          <a:p>
            <a:pPr>
              <a:spcAft>
                <a:spcPts val="500"/>
              </a:spcAft>
            </a:pPr>
            <a:r>
              <a:rPr sz="1250" b="0">
                <a:solidFill>
                  <a:srgbClr val="1A1A1A"/>
                </a:solidFill>
                <a:latin typeface="Calibri"/>
              </a:rPr>
              <a:t>•  each family spread over ≥ 12% of the diagonal</a:t>
            </a:r>
          </a:p>
        </p:txBody>
      </p:sp>
      <p:sp>
        <p:nvSpPr>
          <p:cNvPr id="19" name="Rounded Rectangle 18"/>
          <p:cNvSpPr/>
          <p:nvPr/>
        </p:nvSpPr>
        <p:spPr>
          <a:xfrm>
            <a:off x="6245352" y="3977639"/>
            <a:ext cx="5303520" cy="2240280"/>
          </a:xfrm>
          <a:prstGeom prst="roundRect">
            <a:avLst>
              <a:gd name="adj" fmla="val 6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19672" y="4160520"/>
            <a:ext cx="4754880" cy="365760"/>
          </a:xfrm>
          <a:prstGeom prst="rect">
            <a:avLst/>
          </a:prstGeom>
          <a:noFill/>
        </p:spPr>
        <p:txBody>
          <a:bodyPr wrap="square" lIns="0" rIns="0" tIns="0" bIns="0" anchor="t">
            <a:spAutoFit/>
          </a:bodyPr>
          <a:lstStyle/>
          <a:p>
            <a:pPr algn="l">
              <a:spcAft>
                <a:spcPts val="600"/>
              </a:spcAft>
            </a:pPr>
            <a:r>
              <a:rPr sz="1200" b="1" i="0">
                <a:solidFill>
                  <a:srgbClr val="E8A33D"/>
                </a:solidFill>
                <a:latin typeface="Calibri"/>
              </a:rPr>
              <a:t>WHY IT IS NOT CIRCULAR</a:t>
            </a:r>
          </a:p>
        </p:txBody>
      </p:sp>
      <p:sp>
        <p:nvSpPr>
          <p:cNvPr id="21" name="TextBox 20"/>
          <p:cNvSpPr txBox="1"/>
          <p:nvPr/>
        </p:nvSpPr>
        <p:spPr>
          <a:xfrm>
            <a:off x="6519672" y="4572000"/>
            <a:ext cx="4754880" cy="1554480"/>
          </a:xfrm>
          <a:prstGeom prst="rect">
            <a:avLst/>
          </a:prstGeom>
          <a:noFill/>
        </p:spPr>
        <p:txBody>
          <a:bodyPr wrap="square" lIns="0" rIns="0" tIns="0" bIns="0">
            <a:spAutoFit/>
          </a:bodyPr>
          <a:lstStyle/>
          <a:p>
            <a:pPr>
              <a:spcAft>
                <a:spcPts val="500"/>
              </a:spcAft>
            </a:pPr>
            <a:r>
              <a:rPr sz="1250" b="0">
                <a:solidFill>
                  <a:srgbClr val="FFFFFF"/>
                </a:solidFill>
                <a:latin typeface="Calibri"/>
              </a:rPr>
              <a:t>•  Right angles, focal length and the orthocentre are EXCLUDED</a:t>
            </a:r>
          </a:p>
          <a:p>
            <a:pPr>
              <a:spcAft>
                <a:spcPts val="500"/>
              </a:spcAft>
            </a:pPr>
            <a:r>
              <a:rPr sz="1250" b="0">
                <a:solidFill>
                  <a:srgbClr val="FFFFFF"/>
                </a:solidFill>
                <a:latin typeface="Calibri"/>
              </a:rPr>
              <a:t>•  Admitted images: 90% of vanishing points within 5° of the truth (57% for rejected)</a:t>
            </a:r>
          </a:p>
          <a:p>
            <a:pPr>
              <a:spcAft>
                <a:spcPts val="500"/>
              </a:spcAft>
            </a:pPr>
            <a:r>
              <a:rPr sz="1250" b="0">
                <a:solidFill>
                  <a:srgbClr val="FFFFFF"/>
                </a:solidFill>
                <a:latin typeface="Calibri"/>
              </a:rPr>
              <a:t>•  Unit test: injecting a camera violation does not change the decision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Implementation</a:t>
            </a:r>
          </a:p>
        </p:txBody>
      </p:sp>
      <p:sp>
        <p:nvSpPr>
          <p:cNvPr id="4" name="Rounded Rectangle 3"/>
          <p:cNvSpPr/>
          <p:nvPr/>
        </p:nvSpPr>
        <p:spPr>
          <a:xfrm>
            <a:off x="640080" y="1783080"/>
            <a:ext cx="3383280" cy="4434840"/>
          </a:xfrm>
          <a:prstGeom prst="roundRect">
            <a:avLst>
              <a:gd name="adj" fmla="val 6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2834640" cy="365760"/>
          </a:xfrm>
          <a:prstGeom prst="rect">
            <a:avLst/>
          </a:prstGeom>
          <a:noFill/>
        </p:spPr>
        <p:txBody>
          <a:bodyPr wrap="square" lIns="0" rIns="0" tIns="0" bIns="0" anchor="t">
            <a:spAutoFit/>
          </a:bodyPr>
          <a:lstStyle/>
          <a:p>
            <a:pPr algn="l">
              <a:spcAft>
                <a:spcPts val="600"/>
              </a:spcAft>
            </a:pPr>
            <a:r>
              <a:rPr sz="1200" b="1" i="0">
                <a:solidFill>
                  <a:srgbClr val="E8A33D"/>
                </a:solidFill>
                <a:latin typeface="Calibri"/>
              </a:rPr>
              <a:t>ENVIRONMENT</a:t>
            </a:r>
          </a:p>
        </p:txBody>
      </p:sp>
      <p:sp>
        <p:nvSpPr>
          <p:cNvPr id="6" name="TextBox 5"/>
          <p:cNvSpPr txBox="1"/>
          <p:nvPr/>
        </p:nvSpPr>
        <p:spPr>
          <a:xfrm>
            <a:off x="914400" y="2468880"/>
            <a:ext cx="2834640" cy="3657600"/>
          </a:xfrm>
          <a:prstGeom prst="rect">
            <a:avLst/>
          </a:prstGeom>
          <a:noFill/>
        </p:spPr>
        <p:txBody>
          <a:bodyPr wrap="square" lIns="0" rIns="0" tIns="0" bIns="0">
            <a:spAutoFit/>
          </a:bodyPr>
          <a:lstStyle/>
          <a:p>
            <a:pPr>
              <a:spcAft>
                <a:spcPts val="600"/>
              </a:spcAft>
            </a:pPr>
            <a:r>
              <a:rPr sz="1250" b="0">
                <a:solidFill>
                  <a:srgbClr val="FFFFFF"/>
                </a:solidFill>
                <a:latin typeface="Calibri"/>
              </a:rPr>
              <a:t>•  Python 3.14</a:t>
            </a:r>
          </a:p>
          <a:p>
            <a:pPr>
              <a:spcAft>
                <a:spcPts val="600"/>
              </a:spcAft>
            </a:pPr>
            <a:r>
              <a:rPr sz="1250" b="0">
                <a:solidFill>
                  <a:srgbClr val="FFFFFF"/>
                </a:solidFill>
                <a:latin typeface="Calibri"/>
              </a:rPr>
              <a:t>•  OpenCV 4.13 (LSD, morphology)</a:t>
            </a:r>
          </a:p>
          <a:p>
            <a:pPr>
              <a:spcAft>
                <a:spcPts val="600"/>
              </a:spcAft>
            </a:pPr>
            <a:r>
              <a:rPr sz="1250" b="0">
                <a:solidFill>
                  <a:srgbClr val="FFFFFF"/>
                </a:solidFill>
                <a:latin typeface="Calibri"/>
              </a:rPr>
              <a:t>•  NumPy, SciPy (LP, least squares)</a:t>
            </a:r>
          </a:p>
          <a:p>
            <a:pPr>
              <a:spcAft>
                <a:spcPts val="600"/>
              </a:spcAft>
            </a:pPr>
            <a:r>
              <a:rPr sz="1250" b="0">
                <a:solidFill>
                  <a:srgbClr val="FFFFFF"/>
                </a:solidFill>
                <a:latin typeface="Calibri"/>
              </a:rPr>
              <a:t>•  scikit-learn, statsmodels</a:t>
            </a:r>
          </a:p>
          <a:p>
            <a:pPr>
              <a:spcAft>
                <a:spcPts val="600"/>
              </a:spcAft>
            </a:pPr>
            <a:r>
              <a:rPr sz="1250" b="0">
                <a:solidFill>
                  <a:srgbClr val="FFFFFF"/>
                </a:solidFill>
                <a:latin typeface="Calibri"/>
              </a:rPr>
              <a:t>•  PyTorch 2.14 + CUDA 13</a:t>
            </a:r>
          </a:p>
          <a:p>
            <a:pPr>
              <a:spcAft>
                <a:spcPts val="600"/>
              </a:spcAft>
            </a:pPr>
            <a:r>
              <a:rPr sz="1250" b="0">
                <a:solidFill>
                  <a:srgbClr val="FFFFFF"/>
                </a:solidFill>
                <a:latin typeface="Calibri"/>
              </a:rPr>
              <a:t>•  diffusers 0.40</a:t>
            </a:r>
          </a:p>
          <a:p>
            <a:pPr>
              <a:spcAft>
                <a:spcPts val="600"/>
              </a:spcAft>
            </a:pPr>
            <a:r>
              <a:rPr sz="1250" b="0">
                <a:solidFill>
                  <a:srgbClr val="FFFFFF"/>
                </a:solidFill>
                <a:latin typeface="Calibri"/>
              </a:rPr>
              <a:t>•  Streamlit 1.58 (demo app)</a:t>
            </a:r>
          </a:p>
          <a:p>
            <a:pPr>
              <a:spcAft>
                <a:spcPts val="600"/>
              </a:spcAft>
            </a:pPr>
            <a:r>
              <a:rPr sz="1250" b="0">
                <a:solidFill>
                  <a:srgbClr val="FFFFFF"/>
                </a:solidFill>
                <a:latin typeface="Calibri"/>
              </a:rPr>
              <a:t>•  RTX 5060 Laptop, 8 GB VRAM</a:t>
            </a:r>
          </a:p>
        </p:txBody>
      </p:sp>
      <p:sp>
        <p:nvSpPr>
          <p:cNvPr id="7" name="Rounded Rectangle 6"/>
          <p:cNvSpPr/>
          <p:nvPr/>
        </p:nvSpPr>
        <p:spPr>
          <a:xfrm>
            <a:off x="4251960" y="1783080"/>
            <a:ext cx="3383280" cy="443484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2011680"/>
            <a:ext cx="2834640" cy="365760"/>
          </a:xfrm>
          <a:prstGeom prst="rect">
            <a:avLst/>
          </a:prstGeom>
          <a:noFill/>
        </p:spPr>
        <p:txBody>
          <a:bodyPr wrap="square" lIns="0" rIns="0" tIns="0" bIns="0" anchor="t">
            <a:spAutoFit/>
          </a:bodyPr>
          <a:lstStyle/>
          <a:p>
            <a:pPr algn="l">
              <a:spcAft>
                <a:spcPts val="600"/>
              </a:spcAft>
            </a:pPr>
            <a:r>
              <a:rPr sz="1200" b="1" i="0">
                <a:solidFill>
                  <a:srgbClr val="12263A"/>
                </a:solidFill>
                <a:latin typeface="Calibri"/>
              </a:rPr>
              <a:t>PACKAGE  projgeo</a:t>
            </a:r>
          </a:p>
        </p:txBody>
      </p:sp>
      <p:sp>
        <p:nvSpPr>
          <p:cNvPr id="9" name="TextBox 8"/>
          <p:cNvSpPr txBox="1"/>
          <p:nvPr/>
        </p:nvSpPr>
        <p:spPr>
          <a:xfrm>
            <a:off x="4526280" y="2468880"/>
            <a:ext cx="2834640" cy="3657600"/>
          </a:xfrm>
          <a:prstGeom prst="rect">
            <a:avLst/>
          </a:prstGeom>
          <a:noFill/>
        </p:spPr>
        <p:txBody>
          <a:bodyPr wrap="square" lIns="0" rIns="0" tIns="0" bIns="0">
            <a:spAutoFit/>
          </a:bodyPr>
          <a:lstStyle/>
          <a:p>
            <a:pPr>
              <a:spcAft>
                <a:spcPts val="600"/>
              </a:spcAft>
            </a:pPr>
            <a:r>
              <a:rPr sz="1250" b="0">
                <a:solidFill>
                  <a:srgbClr val="1A1A1A"/>
                </a:solidFill>
                <a:latin typeface="Calibri"/>
              </a:rPr>
              <a:t>•  lines: LSD detection</a:t>
            </a:r>
          </a:p>
          <a:p>
            <a:pPr>
              <a:spcAft>
                <a:spcPts val="600"/>
              </a:spcAft>
            </a:pPr>
            <a:r>
              <a:rPr sz="1250" b="0">
                <a:solidFill>
                  <a:srgbClr val="1A1A1A"/>
                </a:solidFill>
                <a:latin typeface="Calibri"/>
              </a:rPr>
              <a:t>•  vp: RANSAC + refinement</a:t>
            </a:r>
          </a:p>
          <a:p>
            <a:pPr>
              <a:spcAft>
                <a:spcPts val="600"/>
              </a:spcAft>
            </a:pPr>
            <a:r>
              <a:rPr sz="1250" b="0">
                <a:solidFill>
                  <a:srgbClr val="1A1A1A"/>
                </a:solidFill>
                <a:latin typeface="Calibri"/>
              </a:rPr>
              <a:t>•  selection: applicability rule</a:t>
            </a:r>
          </a:p>
          <a:p>
            <a:pPr>
              <a:spcAft>
                <a:spcPts val="600"/>
              </a:spcAft>
            </a:pPr>
            <a:r>
              <a:rPr sz="1250" b="0">
                <a:solidFill>
                  <a:srgbClr val="1A1A1A"/>
                </a:solidFill>
                <a:latin typeface="Calibri"/>
              </a:rPr>
              <a:t>•  camera: focal length, Atlanta test</a:t>
            </a:r>
          </a:p>
          <a:p>
            <a:pPr>
              <a:spcAft>
                <a:spcPts val="600"/>
              </a:spcAft>
            </a:pPr>
            <a:r>
              <a:rPr sz="1250" b="0">
                <a:solidFill>
                  <a:srgbClr val="1A1A1A"/>
                </a:solidFill>
                <a:latin typeface="Calibri"/>
              </a:rPr>
              <a:t>•  explain: one image, end to end</a:t>
            </a:r>
          </a:p>
          <a:p>
            <a:pPr>
              <a:spcAft>
                <a:spcPts val="600"/>
              </a:spcAft>
            </a:pPr>
            <a:r>
              <a:rPr sz="1250" b="0">
                <a:solidFill>
                  <a:srgbClr val="1A1A1A"/>
                </a:solidFill>
                <a:latin typeface="Calibri"/>
              </a:rPr>
              <a:t>•  stats: confidence intervals</a:t>
            </a:r>
          </a:p>
          <a:p>
            <a:pPr>
              <a:spcAft>
                <a:spcPts val="600"/>
              </a:spcAft>
            </a:pPr>
            <a:r>
              <a:rPr sz="1250" b="0">
                <a:solidFill>
                  <a:srgbClr val="1A1A1A"/>
                </a:solidFill>
                <a:latin typeface="Calibri"/>
              </a:rPr>
              <a:t>•  appmodel: the app's score</a:t>
            </a:r>
          </a:p>
          <a:p>
            <a:pPr>
              <a:spcAft>
                <a:spcPts val="600"/>
              </a:spcAft>
            </a:pPr>
            <a:r>
              <a:rPr sz="1250" b="0">
                <a:solidFill>
                  <a:srgbClr val="1A1A1A"/>
                </a:solidFill>
                <a:latin typeface="Calibri"/>
              </a:rPr>
              <a:t>•  shadows, synth: L7 and tests</a:t>
            </a:r>
          </a:p>
        </p:txBody>
      </p:sp>
      <p:sp>
        <p:nvSpPr>
          <p:cNvPr id="10" name="Rounded Rectangle 9"/>
          <p:cNvSpPr/>
          <p:nvPr/>
        </p:nvSpPr>
        <p:spPr>
          <a:xfrm>
            <a:off x="7863840" y="1783080"/>
            <a:ext cx="3685032" cy="443484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2011680"/>
            <a:ext cx="3108960" cy="365760"/>
          </a:xfrm>
          <a:prstGeom prst="rect">
            <a:avLst/>
          </a:prstGeom>
          <a:noFill/>
        </p:spPr>
        <p:txBody>
          <a:bodyPr wrap="square" lIns="0" rIns="0" tIns="0" bIns="0" anchor="t">
            <a:spAutoFit/>
          </a:bodyPr>
          <a:lstStyle/>
          <a:p>
            <a:pPr algn="l">
              <a:spcAft>
                <a:spcPts val="600"/>
              </a:spcAft>
            </a:pPr>
            <a:r>
              <a:rPr sz="1200" b="1" i="0">
                <a:solidFill>
                  <a:srgbClr val="12263A"/>
                </a:solidFill>
                <a:latin typeface="Calibri"/>
              </a:rPr>
              <a:t>VALIDATION (25 TESTS)</a:t>
            </a:r>
          </a:p>
        </p:txBody>
      </p:sp>
      <p:sp>
        <p:nvSpPr>
          <p:cNvPr id="12" name="TextBox 11"/>
          <p:cNvSpPr txBox="1"/>
          <p:nvPr/>
        </p:nvSpPr>
        <p:spPr>
          <a:xfrm>
            <a:off x="8138160" y="2468880"/>
            <a:ext cx="3108960" cy="3657600"/>
          </a:xfrm>
          <a:prstGeom prst="rect">
            <a:avLst/>
          </a:prstGeom>
          <a:noFill/>
        </p:spPr>
        <p:txBody>
          <a:bodyPr wrap="square" lIns="0" rIns="0" tIns="0" bIns="0">
            <a:spAutoFit/>
          </a:bodyPr>
          <a:lstStyle/>
          <a:p>
            <a:pPr>
              <a:spcAft>
                <a:spcPts val="700"/>
              </a:spcAft>
            </a:pPr>
            <a:r>
              <a:rPr sz="1250" b="0">
                <a:solidFill>
                  <a:srgbClr val="1A1A1A"/>
                </a:solidFill>
                <a:latin typeface="Calibri"/>
              </a:rPr>
              <a:t>•  Synthetic scenes with known cameras</a:t>
            </a:r>
          </a:p>
          <a:p>
            <a:pPr>
              <a:spcAft>
                <a:spcPts val="700"/>
              </a:spcAft>
            </a:pPr>
            <a:r>
              <a:rPr sz="1250" b="0">
                <a:solidFill>
                  <a:srgbClr val="1A1A1A"/>
                </a:solidFill>
                <a:latin typeface="Calibri"/>
              </a:rPr>
              <a:t>•  4 violation injectors: concurrency, VP shift, drift, two-camera split</a:t>
            </a:r>
          </a:p>
          <a:p>
            <a:pPr>
              <a:spcAft>
                <a:spcPts val="700"/>
              </a:spcAft>
            </a:pPr>
            <a:r>
              <a:rPr sz="1250" b="0">
                <a:solidFill>
                  <a:srgbClr val="1A1A1A"/>
                </a:solidFill>
                <a:latin typeface="Calibri"/>
              </a:rPr>
              <a:t>•  Each residual must react to its OWN rule and stay flat for the others</a:t>
            </a:r>
          </a:p>
          <a:p>
            <a:pPr>
              <a:spcAft>
                <a:spcPts val="700"/>
              </a:spcAft>
            </a:pPr>
            <a:r>
              <a:rPr sz="1250" b="0">
                <a:solidFill>
                  <a:srgbClr val="1A1A1A"/>
                </a:solidFill>
                <a:latin typeface="Calibri"/>
              </a:rPr>
              <a:t>•  Residuals must rise steadily with the injected violation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Data Acquisition</a:t>
            </a:r>
          </a:p>
        </p:txBody>
      </p:sp>
      <p:sp>
        <p:nvSpPr>
          <p:cNvPr id="4" name="TextBox 3"/>
          <p:cNvSpPr txBox="1"/>
          <p:nvPr/>
        </p:nvSpPr>
        <p:spPr>
          <a:xfrm>
            <a:off x="640080" y="1207008"/>
            <a:ext cx="10911535" cy="411480"/>
          </a:xfrm>
          <a:prstGeom prst="rect">
            <a:avLst/>
          </a:prstGeom>
          <a:noFill/>
        </p:spPr>
        <p:txBody>
          <a:bodyPr wrap="square" lIns="0" rIns="0" tIns="0" bIns="0" anchor="t">
            <a:spAutoFit/>
          </a:bodyPr>
          <a:lstStyle/>
          <a:p>
            <a:pPr algn="l">
              <a:spcAft>
                <a:spcPts val="600"/>
              </a:spcAft>
            </a:pPr>
            <a:r>
              <a:rPr sz="1400" b="0" i="1">
                <a:solidFill>
                  <a:srgbClr val="5A6672"/>
                </a:solidFill>
                <a:latin typeface="Calibri"/>
              </a:rPr>
              <a:t>Matched content by construction; every setting logged</a:t>
            </a:r>
          </a:p>
        </p:txBody>
      </p:sp>
      <p:graphicFrame>
        <p:nvGraphicFramePr>
          <p:cNvPr id="5" name="Table 4"/>
          <p:cNvGraphicFramePr>
            <a:graphicFrameLocks noGrp="1"/>
          </p:cNvGraphicFramePr>
          <p:nvPr/>
        </p:nvGraphicFramePr>
        <p:xfrm>
          <a:off x="640080" y="1783080"/>
          <a:ext cx="10908792" cy="3017520"/>
        </p:xfrm>
        <a:graphic>
          <a:graphicData uri="http://schemas.openxmlformats.org/drawingml/2006/table">
            <a:tbl>
              <a:tblPr firstRow="1" bandRow="1">
                <a:tableStyleId>{5C22544A-7EE6-4342-B048-85BDC9FD1C3A}</a:tableStyleId>
              </a:tblPr>
              <a:tblGrid>
                <a:gridCol w="2651760"/>
                <a:gridCol w="2743200"/>
                <a:gridCol w="5513832"/>
              </a:tblGrid>
              <a:tr h="377190">
                <a:tc>
                  <a:txBody>
                    <a:bodyPr/>
                    <a:lstStyle/>
                    <a:p>
                      <a:r>
                        <a:rPr sz="1150" b="1">
                          <a:solidFill>
                            <a:srgbClr val="FFFFFF"/>
                          </a:solidFill>
                          <a:latin typeface="Calibri"/>
                        </a:rPr>
                        <a:t>Dataset</a:t>
                      </a:r>
                    </a:p>
                  </a:txBody>
                  <a:tcPr anchor="ctr">
                    <a:solidFill>
                      <a:srgbClr val="12263A"/>
                    </a:solidFill>
                  </a:tcPr>
                </a:tc>
                <a:tc>
                  <a:txBody>
                    <a:bodyPr/>
                    <a:lstStyle/>
                    <a:p>
                      <a:r>
                        <a:rPr sz="1150" b="1">
                          <a:solidFill>
                            <a:srgbClr val="FFFFFF"/>
                          </a:solidFill>
                          <a:latin typeface="Calibri"/>
                        </a:rPr>
                        <a:t>Size</a:t>
                      </a:r>
                    </a:p>
                  </a:txBody>
                  <a:tcPr anchor="ctr">
                    <a:solidFill>
                      <a:srgbClr val="12263A"/>
                    </a:solidFill>
                  </a:tcPr>
                </a:tc>
                <a:tc>
                  <a:txBody>
                    <a:bodyPr/>
                    <a:lstStyle/>
                    <a:p>
                      <a:r>
                        <a:rPr sz="1150" b="1">
                          <a:solidFill>
                            <a:srgbClr val="FFFFFF"/>
                          </a:solidFill>
                          <a:latin typeface="Calibri"/>
                        </a:rPr>
                        <a:t>Role</a:t>
                      </a:r>
                    </a:p>
                  </a:txBody>
                  <a:tcPr anchor="ctr">
                    <a:solidFill>
                      <a:srgbClr val="12263A"/>
                    </a:solidFill>
                  </a:tcPr>
                </a:tc>
              </a:tr>
              <a:tr h="377190">
                <a:tc>
                  <a:txBody>
                    <a:bodyPr/>
                    <a:lstStyle/>
                    <a:p>
                      <a:r>
                        <a:rPr sz="1150">
                          <a:solidFill>
                            <a:srgbClr val="1A1A1A"/>
                          </a:solidFill>
                          <a:latin typeface="Calibri"/>
                        </a:rPr>
                        <a:t>York Urban</a:t>
                      </a:r>
                    </a:p>
                  </a:txBody>
                  <a:tcPr anchor="ctr">
                    <a:solidFill>
                      <a:srgbClr val="FFFFFF"/>
                    </a:solidFill>
                  </a:tcPr>
                </a:tc>
                <a:tc>
                  <a:txBody>
                    <a:bodyPr/>
                    <a:lstStyle/>
                    <a:p>
                      <a:r>
                        <a:rPr sz="1150">
                          <a:solidFill>
                            <a:srgbClr val="1A1A1A"/>
                          </a:solidFill>
                          <a:latin typeface="Calibri"/>
                        </a:rPr>
                        <a:t>102 images</a:t>
                      </a:r>
                    </a:p>
                  </a:txBody>
                  <a:tcPr anchor="ctr">
                    <a:solidFill>
                      <a:srgbClr val="FFFFFF"/>
                    </a:solidFill>
                  </a:tcPr>
                </a:tc>
                <a:tc>
                  <a:txBody>
                    <a:bodyPr/>
                    <a:lstStyle/>
                    <a:p>
                      <a:r>
                        <a:rPr sz="1150">
                          <a:solidFill>
                            <a:srgbClr val="1A1A1A"/>
                          </a:solidFill>
                          <a:latin typeface="Calibri"/>
                        </a:rPr>
                        <a:t>Hand-picked real reference with true vanishing points</a:t>
                      </a:r>
                    </a:p>
                  </a:txBody>
                  <a:tcPr anchor="ctr">
                    <a:solidFill>
                      <a:srgbClr val="FFFFFF"/>
                    </a:solidFill>
                  </a:tcPr>
                </a:tc>
              </a:tr>
              <a:tr h="377190">
                <a:tc>
                  <a:txBody>
                    <a:bodyPr/>
                    <a:lstStyle/>
                    <a:p>
                      <a:r>
                        <a:rPr sz="1150">
                          <a:solidFill>
                            <a:srgbClr val="1A1A1A"/>
                          </a:solidFill>
                          <a:latin typeface="Calibri"/>
                        </a:rPr>
                        <a:t>Wikimedia Commons</a:t>
                      </a:r>
                    </a:p>
                  </a:txBody>
                  <a:tcPr anchor="ctr">
                    <a:solidFill>
                      <a:srgbClr val="F4F6F8"/>
                    </a:solidFill>
                  </a:tcPr>
                </a:tc>
                <a:tc>
                  <a:txBody>
                    <a:bodyPr/>
                    <a:lstStyle/>
                    <a:p>
                      <a:r>
                        <a:rPr sz="1150">
                          <a:solidFill>
                            <a:srgbClr val="1A1A1A"/>
                          </a:solidFill>
                          <a:latin typeface="Calibri"/>
                        </a:rPr>
                        <a:t>358 images, 135 camera models</a:t>
                      </a:r>
                    </a:p>
                  </a:txBody>
                  <a:tcPr anchor="ctr">
                    <a:solidFill>
                      <a:srgbClr val="F4F6F8"/>
                    </a:solidFill>
                  </a:tcPr>
                </a:tc>
                <a:tc>
                  <a:txBody>
                    <a:bodyPr/>
                    <a:lstStyle/>
                    <a:p>
                      <a:r>
                        <a:rPr sz="1150">
                          <a:solidFill>
                            <a:srgbClr val="1A1A1A"/>
                          </a:solidFill>
                          <a:latin typeface="Calibri"/>
                        </a:rPr>
                        <a:t>Ordinary real photos, many cameras, EXIF focal lengths</a:t>
                      </a:r>
                    </a:p>
                  </a:txBody>
                  <a:tcPr anchor="ctr">
                    <a:solidFill>
                      <a:srgbClr val="F4F6F8"/>
                    </a:solidFill>
                  </a:tcPr>
                </a:tc>
              </a:tr>
              <a:tr h="377190">
                <a:tc>
                  <a:txBody>
                    <a:bodyPr/>
                    <a:lstStyle/>
                    <a:p>
                      <a:r>
                        <a:rPr sz="1150">
                          <a:solidFill>
                            <a:srgbClr val="1A1A1A"/>
                          </a:solidFill>
                          <a:latin typeface="Calibri"/>
                        </a:rPr>
                        <a:t>Stable Diffusion 1.5</a:t>
                      </a:r>
                    </a:p>
                  </a:txBody>
                  <a:tcPr anchor="ctr">
                    <a:solidFill>
                      <a:srgbClr val="FFFFFF"/>
                    </a:solidFill>
                  </a:tcPr>
                </a:tc>
                <a:tc>
                  <a:txBody>
                    <a:bodyPr/>
                    <a:lstStyle/>
                    <a:p>
                      <a:r>
                        <a:rPr sz="1150">
                          <a:solidFill>
                            <a:srgbClr val="1A1A1A"/>
                          </a:solidFill>
                          <a:latin typeface="Calibri"/>
                        </a:rPr>
                        <a:t>450 images</a:t>
                      </a:r>
                    </a:p>
                  </a:txBody>
                  <a:tcPr anchor="ctr">
                    <a:solidFill>
                      <a:srgbClr val="FFFFFF"/>
                    </a:solidFill>
                  </a:tcPr>
                </a:tc>
                <a:tc>
                  <a:txBody>
                    <a:bodyPr/>
                    <a:lstStyle/>
                    <a:p>
                      <a:r>
                        <a:rPr sz="1150">
                          <a:solidFill>
                            <a:srgbClr val="1A1A1A"/>
                          </a:solidFill>
                          <a:latin typeface="Calibri"/>
                        </a:rPr>
                        <a:t>Older open model, run on our GPU</a:t>
                      </a:r>
                    </a:p>
                  </a:txBody>
                  <a:tcPr anchor="ctr">
                    <a:solidFill>
                      <a:srgbClr val="FFFFFF"/>
                    </a:solidFill>
                  </a:tcPr>
                </a:tc>
              </a:tr>
              <a:tr h="377190">
                <a:tc>
                  <a:txBody>
                    <a:bodyPr/>
                    <a:lstStyle/>
                    <a:p>
                      <a:r>
                        <a:rPr sz="1150">
                          <a:solidFill>
                            <a:srgbClr val="1A1A1A"/>
                          </a:solidFill>
                          <a:latin typeface="Calibri"/>
                        </a:rPr>
                        <a:t>SDXL</a:t>
                      </a:r>
                    </a:p>
                  </a:txBody>
                  <a:tcPr anchor="ctr">
                    <a:solidFill>
                      <a:srgbClr val="F4F6F8"/>
                    </a:solidFill>
                  </a:tcPr>
                </a:tc>
                <a:tc>
                  <a:txBody>
                    <a:bodyPr/>
                    <a:lstStyle/>
                    <a:p>
                      <a:r>
                        <a:rPr sz="1150">
                          <a:solidFill>
                            <a:srgbClr val="1A1A1A"/>
                          </a:solidFill>
                          <a:latin typeface="Calibri"/>
                        </a:rPr>
                        <a:t>650 images</a:t>
                      </a:r>
                    </a:p>
                  </a:txBody>
                  <a:tcPr anchor="ctr">
                    <a:solidFill>
                      <a:srgbClr val="F4F6F8"/>
                    </a:solidFill>
                  </a:tcPr>
                </a:tc>
                <a:tc>
                  <a:txBody>
                    <a:bodyPr/>
                    <a:lstStyle/>
                    <a:p>
                      <a:r>
                        <a:rPr sz="1150">
                          <a:solidFill>
                            <a:srgbClr val="1A1A1A"/>
                          </a:solidFill>
                          <a:latin typeface="Calibri"/>
                        </a:rPr>
                        <a:t>Newer open model, plus 1:1 and 16:9 variants</a:t>
                      </a:r>
                    </a:p>
                  </a:txBody>
                  <a:tcPr anchor="ctr">
                    <a:solidFill>
                      <a:srgbClr val="F4F6F8"/>
                    </a:solidFill>
                  </a:tcPr>
                </a:tc>
              </a:tr>
              <a:tr h="377190">
                <a:tc>
                  <a:txBody>
                    <a:bodyPr/>
                    <a:lstStyle/>
                    <a:p>
                      <a:r>
                        <a:rPr sz="1150">
                          <a:solidFill>
                            <a:srgbClr val="1A1A1A"/>
                          </a:solidFill>
                          <a:latin typeface="Calibri"/>
                        </a:rPr>
                        <a:t>Gemini (“nano banana”)</a:t>
                      </a:r>
                    </a:p>
                  </a:txBody>
                  <a:tcPr anchor="ctr">
                    <a:solidFill>
                      <a:srgbClr val="FFFFFF"/>
                    </a:solidFill>
                  </a:tcPr>
                </a:tc>
                <a:tc>
                  <a:txBody>
                    <a:bodyPr/>
                    <a:lstStyle/>
                    <a:p>
                      <a:r>
                        <a:rPr sz="1150">
                          <a:solidFill>
                            <a:srgbClr val="1A1A1A"/>
                          </a:solidFill>
                          <a:latin typeface="Calibri"/>
                        </a:rPr>
                        <a:t>181 images</a:t>
                      </a:r>
                    </a:p>
                  </a:txBody>
                  <a:tcPr anchor="ctr">
                    <a:solidFill>
                      <a:srgbClr val="FFFFFF"/>
                    </a:solidFill>
                  </a:tcPr>
                </a:tc>
                <a:tc>
                  <a:txBody>
                    <a:bodyPr/>
                    <a:lstStyle/>
                    <a:p>
                      <a:r>
                        <a:rPr sz="1150">
                          <a:solidFill>
                            <a:srgbClr val="1A1A1A"/>
                          </a:solidFill>
                          <a:latin typeface="Calibri"/>
                        </a:rPr>
                        <a:t>Closed frontier model, September 2026</a:t>
                      </a:r>
                    </a:p>
                  </a:txBody>
                  <a:tcPr anchor="ctr">
                    <a:solidFill>
                      <a:srgbClr val="FFFFFF"/>
                    </a:solidFill>
                  </a:tcPr>
                </a:tc>
              </a:tr>
              <a:tr h="377190">
                <a:tc>
                  <a:txBody>
                    <a:bodyPr/>
                    <a:lstStyle/>
                    <a:p>
                      <a:r>
                        <a:rPr sz="1150">
                          <a:solidFill>
                            <a:srgbClr val="1A1A1A"/>
                          </a:solidFill>
                          <a:latin typeface="Calibri"/>
                        </a:rPr>
                        <a:t>ChatGPT image model</a:t>
                      </a:r>
                    </a:p>
                  </a:txBody>
                  <a:tcPr anchor="ctr">
                    <a:solidFill>
                      <a:srgbClr val="F4F6F8"/>
                    </a:solidFill>
                  </a:tcPr>
                </a:tc>
                <a:tc>
                  <a:txBody>
                    <a:bodyPr/>
                    <a:lstStyle/>
                    <a:p>
                      <a:r>
                        <a:rPr sz="1150">
                          <a:solidFill>
                            <a:srgbClr val="1A1A1A"/>
                          </a:solidFill>
                          <a:latin typeface="Calibri"/>
                        </a:rPr>
                        <a:t>51 images</a:t>
                      </a:r>
                    </a:p>
                  </a:txBody>
                  <a:tcPr anchor="ctr">
                    <a:solidFill>
                      <a:srgbClr val="F4F6F8"/>
                    </a:solidFill>
                  </a:tcPr>
                </a:tc>
                <a:tc>
                  <a:txBody>
                    <a:bodyPr/>
                    <a:lstStyle/>
                    <a:p>
                      <a:r>
                        <a:rPr sz="1150">
                          <a:solidFill>
                            <a:srgbClr val="1A1A1A"/>
                          </a:solidFill>
                          <a:latin typeface="Calibri"/>
                        </a:rPr>
                        <a:t>Closed frontier model, September 2026</a:t>
                      </a:r>
                    </a:p>
                  </a:txBody>
                  <a:tcPr anchor="ctr">
                    <a:solidFill>
                      <a:srgbClr val="F4F6F8"/>
                    </a:solidFill>
                  </a:tcPr>
                </a:tc>
              </a:tr>
              <a:tr h="377190">
                <a:tc>
                  <a:txBody>
                    <a:bodyPr/>
                    <a:lstStyle/>
                    <a:p>
                      <a:r>
                        <a:rPr sz="1150">
                          <a:solidFill>
                            <a:srgbClr val="1A1A1A"/>
                          </a:solidFill>
                          <a:latin typeface="Calibri"/>
                        </a:rPr>
                        <a:t>Synthetic scenes</a:t>
                      </a:r>
                    </a:p>
                  </a:txBody>
                  <a:tcPr anchor="ctr">
                    <a:solidFill>
                      <a:srgbClr val="FFFFFF"/>
                    </a:solidFill>
                  </a:tcPr>
                </a:tc>
                <a:tc>
                  <a:txBody>
                    <a:bodyPr/>
                    <a:lstStyle/>
                    <a:p>
                      <a:r>
                        <a:rPr sz="1150">
                          <a:solidFill>
                            <a:srgbClr val="1A1A1A"/>
                          </a:solidFill>
                          <a:latin typeface="Calibri"/>
                        </a:rPr>
                        <a:t>on demand</a:t>
                      </a:r>
                    </a:p>
                  </a:txBody>
                  <a:tcPr anchor="ctr">
                    <a:solidFill>
                      <a:srgbClr val="FFFFFF"/>
                    </a:solidFill>
                  </a:tcPr>
                </a:tc>
                <a:tc>
                  <a:txBody>
                    <a:bodyPr/>
                    <a:lstStyle/>
                    <a:p>
                      <a:r>
                        <a:rPr sz="1150">
                          <a:solidFill>
                            <a:srgbClr val="1A1A1A"/>
                          </a:solidFill>
                          <a:latin typeface="Calibri"/>
                        </a:rPr>
                        <a:t>Ground truth for testing</a:t>
                      </a:r>
                    </a:p>
                  </a:txBody>
                  <a:tcPr anchor="ctr">
                    <a:solidFill>
                      <a:srgbClr val="FFFFFF"/>
                    </a:solidFill>
                  </a:tcPr>
                </a:tc>
              </a:tr>
            </a:tbl>
          </a:graphicData>
        </a:graphic>
      </p:graphicFrame>
      <p:sp>
        <p:nvSpPr>
          <p:cNvPr id="6" name="Rounded Rectangle 5"/>
          <p:cNvSpPr/>
          <p:nvPr/>
        </p:nvSpPr>
        <p:spPr>
          <a:xfrm>
            <a:off x="640080" y="4983480"/>
            <a:ext cx="10908792" cy="13716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138928"/>
            <a:ext cx="10332720" cy="1097280"/>
          </a:xfrm>
          <a:prstGeom prst="rect">
            <a:avLst/>
          </a:prstGeom>
          <a:noFill/>
        </p:spPr>
        <p:txBody>
          <a:bodyPr wrap="square" lIns="0" rIns="0" tIns="0" bIns="0" anchor="t">
            <a:spAutoFit/>
          </a:bodyPr>
          <a:lstStyle/>
          <a:p>
            <a:pPr algn="l">
              <a:spcAft>
                <a:spcPts val="600"/>
              </a:spcAft>
            </a:pPr>
            <a:r>
              <a:rPr sz="1300" b="0" i="0">
                <a:solidFill>
                  <a:srgbClr val="1A1A1A"/>
                </a:solidFill>
                <a:latin typeface="Calibri"/>
              </a:rPr>
              <a:t>Three prompt sets. Set 1: building fronts, streets, corridors (also used for Gemini and ChatGPT). Set 2: corners, to guarantee three directions; too few lines, so selection fell from 40% to 30%. Set 3 adds repeating straight features (tiles, shelving, window grids) and reaches 48%. Every comparison uses a single prompt set.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Results 1: The Tool Is Trustworthy</a:t>
            </a:r>
          </a:p>
        </p:txBody>
      </p:sp>
      <p:sp>
        <p:nvSpPr>
          <p:cNvPr id="4" name="TextBox 3"/>
          <p:cNvSpPr txBox="1"/>
          <p:nvPr/>
        </p:nvSpPr>
        <p:spPr>
          <a:xfrm>
            <a:off x="640080" y="1207008"/>
            <a:ext cx="10911535" cy="411480"/>
          </a:xfrm>
          <a:prstGeom prst="rect">
            <a:avLst/>
          </a:prstGeom>
          <a:noFill/>
        </p:spPr>
        <p:txBody>
          <a:bodyPr wrap="square" lIns="0" rIns="0" tIns="0" bIns="0" anchor="t">
            <a:spAutoFit/>
          </a:bodyPr>
          <a:lstStyle/>
          <a:p>
            <a:pPr algn="l">
              <a:spcAft>
                <a:spcPts val="600"/>
              </a:spcAft>
            </a:pPr>
            <a:r>
              <a:rPr sz="1400" b="0" i="1">
                <a:solidFill>
                  <a:srgbClr val="5A6672"/>
                </a:solidFill>
                <a:latin typeface="Calibri"/>
              </a:rPr>
              <a:t>Validation before any comparison</a:t>
            </a:r>
          </a:p>
        </p:txBody>
      </p:sp>
      <p:sp>
        <p:nvSpPr>
          <p:cNvPr id="5" name="TextBox 4"/>
          <p:cNvSpPr txBox="1"/>
          <p:nvPr/>
        </p:nvSpPr>
        <p:spPr>
          <a:xfrm>
            <a:off x="640080" y="1920240"/>
            <a:ext cx="2468880" cy="685800"/>
          </a:xfrm>
          <a:prstGeom prst="rect">
            <a:avLst/>
          </a:prstGeom>
          <a:noFill/>
        </p:spPr>
        <p:txBody>
          <a:bodyPr wrap="square" lIns="0" rIns="0" tIns="0" bIns="0" anchor="t">
            <a:spAutoFit/>
          </a:bodyPr>
          <a:lstStyle/>
          <a:p>
            <a:pPr algn="ctr">
              <a:spcAft>
                <a:spcPts val="600"/>
              </a:spcAft>
            </a:pPr>
            <a:r>
              <a:rPr sz="4000" b="1" i="0">
                <a:solidFill>
                  <a:srgbClr val="1C7293"/>
                </a:solidFill>
                <a:latin typeface="Cambria"/>
              </a:rPr>
              <a:t>0.3°</a:t>
            </a:r>
          </a:p>
        </p:txBody>
      </p:sp>
      <p:sp>
        <p:nvSpPr>
          <p:cNvPr id="6" name="TextBox 5"/>
          <p:cNvSpPr txBox="1"/>
          <p:nvPr/>
        </p:nvSpPr>
        <p:spPr>
          <a:xfrm>
            <a:off x="640080" y="2578608"/>
            <a:ext cx="2468880" cy="640080"/>
          </a:xfrm>
          <a:prstGeom prst="rect">
            <a:avLst/>
          </a:prstGeom>
          <a:noFill/>
        </p:spPr>
        <p:txBody>
          <a:bodyPr wrap="square" lIns="0" rIns="0" tIns="0" bIns="0" anchor="t">
            <a:spAutoFit/>
          </a:bodyPr>
          <a:lstStyle/>
          <a:p>
            <a:pPr algn="ctr">
              <a:spcAft>
                <a:spcPts val="600"/>
              </a:spcAft>
            </a:pPr>
            <a:r>
              <a:rPr sz="1150" b="0" i="0">
                <a:solidFill>
                  <a:srgbClr val="5A6672"/>
                </a:solidFill>
                <a:latin typeface="Calibri"/>
              </a:rPr>
              <a:t>vanishing-point error on synthetic scenes with known cameras</a:t>
            </a:r>
          </a:p>
        </p:txBody>
      </p:sp>
      <p:sp>
        <p:nvSpPr>
          <p:cNvPr id="7" name="TextBox 6"/>
          <p:cNvSpPr txBox="1"/>
          <p:nvPr/>
        </p:nvSpPr>
        <p:spPr>
          <a:xfrm>
            <a:off x="3291840" y="1920240"/>
            <a:ext cx="2468880" cy="685800"/>
          </a:xfrm>
          <a:prstGeom prst="rect">
            <a:avLst/>
          </a:prstGeom>
          <a:noFill/>
        </p:spPr>
        <p:txBody>
          <a:bodyPr wrap="square" lIns="0" rIns="0" tIns="0" bIns="0" anchor="t">
            <a:spAutoFit/>
          </a:bodyPr>
          <a:lstStyle/>
          <a:p>
            <a:pPr algn="ctr">
              <a:spcAft>
                <a:spcPts val="600"/>
              </a:spcAft>
            </a:pPr>
            <a:r>
              <a:rPr sz="4000" b="1" i="0">
                <a:solidFill>
                  <a:srgbClr val="1C7293"/>
                </a:solidFill>
                <a:latin typeface="Cambria"/>
              </a:rPr>
              <a:t>&lt; 1%</a:t>
            </a:r>
          </a:p>
        </p:txBody>
      </p:sp>
      <p:sp>
        <p:nvSpPr>
          <p:cNvPr id="8" name="TextBox 7"/>
          <p:cNvSpPr txBox="1"/>
          <p:nvPr/>
        </p:nvSpPr>
        <p:spPr>
          <a:xfrm>
            <a:off x="3291840" y="2578608"/>
            <a:ext cx="2468880" cy="640080"/>
          </a:xfrm>
          <a:prstGeom prst="rect">
            <a:avLst/>
          </a:prstGeom>
          <a:noFill/>
        </p:spPr>
        <p:txBody>
          <a:bodyPr wrap="square" lIns="0" rIns="0" tIns="0" bIns="0" anchor="t">
            <a:spAutoFit/>
          </a:bodyPr>
          <a:lstStyle/>
          <a:p>
            <a:pPr algn="ctr">
              <a:spcAft>
                <a:spcPts val="600"/>
              </a:spcAft>
            </a:pPr>
            <a:r>
              <a:rPr sz="1150" b="0" i="0">
                <a:solidFill>
                  <a:srgbClr val="5A6672"/>
                </a:solidFill>
                <a:latin typeface="Calibri"/>
              </a:rPr>
              <a:t>focal-length error on synthetic scenes</a:t>
            </a:r>
          </a:p>
        </p:txBody>
      </p:sp>
      <p:sp>
        <p:nvSpPr>
          <p:cNvPr id="9" name="TextBox 8"/>
          <p:cNvSpPr txBox="1"/>
          <p:nvPr/>
        </p:nvSpPr>
        <p:spPr>
          <a:xfrm>
            <a:off x="5943600" y="1920240"/>
            <a:ext cx="2468880" cy="685800"/>
          </a:xfrm>
          <a:prstGeom prst="rect">
            <a:avLst/>
          </a:prstGeom>
          <a:noFill/>
        </p:spPr>
        <p:txBody>
          <a:bodyPr wrap="square" lIns="0" rIns="0" tIns="0" bIns="0" anchor="t">
            <a:spAutoFit/>
          </a:bodyPr>
          <a:lstStyle/>
          <a:p>
            <a:pPr algn="ctr">
              <a:spcAft>
                <a:spcPts val="600"/>
              </a:spcAft>
            </a:pPr>
            <a:r>
              <a:rPr sz="4000" b="1" i="0">
                <a:solidFill>
                  <a:srgbClr val="1C7293"/>
                </a:solidFill>
                <a:latin typeface="Cambria"/>
              </a:rPr>
              <a:t>81 / 94%</a:t>
            </a:r>
          </a:p>
        </p:txBody>
      </p:sp>
      <p:sp>
        <p:nvSpPr>
          <p:cNvPr id="10" name="TextBox 9"/>
          <p:cNvSpPr txBox="1"/>
          <p:nvPr/>
        </p:nvSpPr>
        <p:spPr>
          <a:xfrm>
            <a:off x="5943600" y="2578608"/>
            <a:ext cx="2468880" cy="640080"/>
          </a:xfrm>
          <a:prstGeom prst="rect">
            <a:avLst/>
          </a:prstGeom>
          <a:noFill/>
        </p:spPr>
        <p:txBody>
          <a:bodyPr wrap="square" lIns="0" rIns="0" tIns="0" bIns="0" anchor="t">
            <a:spAutoFit/>
          </a:bodyPr>
          <a:lstStyle/>
          <a:p>
            <a:pPr algn="ctr">
              <a:spcAft>
                <a:spcPts val="600"/>
              </a:spcAft>
            </a:pPr>
            <a:r>
              <a:rPr sz="1150" b="0" i="0">
                <a:solidFill>
                  <a:srgbClr val="5A6672"/>
                </a:solidFill>
                <a:latin typeface="Calibri"/>
              </a:rPr>
              <a:t>of York Urban's true vanishing points found within 2° / 5°</a:t>
            </a:r>
          </a:p>
        </p:txBody>
      </p:sp>
      <p:sp>
        <p:nvSpPr>
          <p:cNvPr id="11" name="TextBox 10"/>
          <p:cNvSpPr txBox="1"/>
          <p:nvPr/>
        </p:nvSpPr>
        <p:spPr>
          <a:xfrm>
            <a:off x="8595360" y="1920240"/>
            <a:ext cx="2468880" cy="685800"/>
          </a:xfrm>
          <a:prstGeom prst="rect">
            <a:avLst/>
          </a:prstGeom>
          <a:noFill/>
        </p:spPr>
        <p:txBody>
          <a:bodyPr wrap="square" lIns="0" rIns="0" tIns="0" bIns="0" anchor="t">
            <a:spAutoFit/>
          </a:bodyPr>
          <a:lstStyle/>
          <a:p>
            <a:pPr algn="ctr">
              <a:spcAft>
                <a:spcPts val="600"/>
              </a:spcAft>
            </a:pPr>
            <a:r>
              <a:rPr sz="4000" b="1" i="0">
                <a:solidFill>
                  <a:srgbClr val="E8A33D"/>
                </a:solidFill>
                <a:latin typeface="Cambria"/>
              </a:rPr>
              <a:t>1.02</a:t>
            </a:r>
          </a:p>
        </p:txBody>
      </p:sp>
      <p:sp>
        <p:nvSpPr>
          <p:cNvPr id="12" name="TextBox 11"/>
          <p:cNvSpPr txBox="1"/>
          <p:nvPr/>
        </p:nvSpPr>
        <p:spPr>
          <a:xfrm>
            <a:off x="8595360" y="2578608"/>
            <a:ext cx="2468880" cy="640080"/>
          </a:xfrm>
          <a:prstGeom prst="rect">
            <a:avLst/>
          </a:prstGeom>
          <a:noFill/>
        </p:spPr>
        <p:txBody>
          <a:bodyPr wrap="square" lIns="0" rIns="0" tIns="0" bIns="0" anchor="t">
            <a:spAutoFit/>
          </a:bodyPr>
          <a:lstStyle/>
          <a:p>
            <a:pPr algn="ctr">
              <a:spcAft>
                <a:spcPts val="600"/>
              </a:spcAft>
            </a:pPr>
            <a:r>
              <a:rPr sz="1150" b="0" i="0">
                <a:solidFill>
                  <a:srgbClr val="5A6672"/>
                </a:solidFill>
                <a:latin typeface="Calibri"/>
              </a:rPr>
              <a:t>median ratio of fitted to TRUE focal length (IQR 0.99 to 1.05)</a:t>
            </a:r>
          </a:p>
        </p:txBody>
      </p:sp>
      <p:pic>
        <p:nvPicPr>
          <p:cNvPr id="13" name="Picture 12" descr="commons_focal_validation.png"/>
          <p:cNvPicPr>
            <a:picLocks noChangeAspect="1"/>
          </p:cNvPicPr>
          <p:nvPr/>
        </p:nvPicPr>
        <p:blipFill>
          <a:blip r:embed="rId2"/>
          <a:stretch>
            <a:fillRect/>
          </a:stretch>
        </p:blipFill>
        <p:spPr>
          <a:xfrm>
            <a:off x="1005840" y="3566160"/>
            <a:ext cx="2743200" cy="2743200"/>
          </a:xfrm>
          <a:prstGeom prst="rect">
            <a:avLst/>
          </a:prstGeom>
        </p:spPr>
      </p:pic>
      <p:sp>
        <p:nvSpPr>
          <p:cNvPr id="14" name="Rounded Rectangle 13"/>
          <p:cNvSpPr/>
          <p:nvPr/>
        </p:nvSpPr>
        <p:spPr>
          <a:xfrm>
            <a:off x="5120640" y="3566160"/>
            <a:ext cx="6400800" cy="27432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0" y="3794760"/>
            <a:ext cx="5852160" cy="2286000"/>
          </a:xfrm>
          <a:prstGeom prst="rect">
            <a:avLst/>
          </a:prstGeom>
          <a:noFill/>
        </p:spPr>
        <p:txBody>
          <a:bodyPr wrap="square" lIns="0" rIns="0" tIns="0" bIns="0" anchor="t">
            <a:spAutoFit/>
          </a:bodyPr>
          <a:lstStyle/>
          <a:p>
            <a:pPr algn="l">
              <a:spcAft>
                <a:spcPts val="400"/>
              </a:spcAft>
            </a:pPr>
            <a:r>
              <a:rPr sz="1350" b="0" i="0">
                <a:solidFill>
                  <a:srgbClr val="1A1A1A"/>
                </a:solidFill>
                <a:latin typeface="Calibri"/>
              </a:rPr>
              <a:t>The pipeline finds the real camera in real photos.</a:t>
            </a:r>
          </a:p>
          <a:p>
            <a:pPr algn="l">
              <a:spcAft>
                <a:spcPts val="400"/>
              </a:spcAft>
            </a:pPr>
            <a:r>
              <a:rPr sz="1350" b="0" i="0">
                <a:solidFill>
                  <a:srgbClr val="1A1A1A"/>
                </a:solidFill>
                <a:latin typeface="Calibri"/>
              </a:rPr>
              <a:t/>
            </a:r>
          </a:p>
          <a:p>
            <a:pPr algn="l">
              <a:spcAft>
                <a:spcPts val="400"/>
              </a:spcAft>
            </a:pPr>
            <a:r>
              <a:rPr sz="1350" b="0" i="0">
                <a:solidFill>
                  <a:srgbClr val="1A1A1A"/>
                </a:solidFill>
                <a:latin typeface="Calibri"/>
              </a:rPr>
              <a:t>Left: fitted focal length against EXIF focal length for photos from 135 camera models. Dashed lines mark a ±20% band.</a:t>
            </a:r>
          </a:p>
          <a:p>
            <a:pPr algn="l">
              <a:spcAft>
                <a:spcPts val="400"/>
              </a:spcAft>
            </a:pPr>
            <a:r>
              <a:rPr sz="1350" b="0" i="0">
                <a:solidFill>
                  <a:srgbClr val="1A1A1A"/>
                </a:solidFill>
                <a:latin typeface="Calibri"/>
              </a:rPr>
              <a:t/>
            </a:r>
          </a:p>
          <a:p>
            <a:pPr algn="l">
              <a:spcAft>
                <a:spcPts val="400"/>
              </a:spcAft>
            </a:pPr>
            <a:r>
              <a:rPr sz="1350" b="0" i="0">
                <a:solidFill>
                  <a:srgbClr val="1A1A1A"/>
                </a:solidFill>
                <a:latin typeface="Calibri"/>
              </a:rPr>
              <a:t>We need this before trusting anything the tool says about AI images.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FFFFFF"/>
                </a:solidFill>
                <a:latin typeface="Cambria"/>
              </a:rPr>
              <a:t>Results 2: The Real Reference Decides the Verdict</a:t>
            </a:r>
          </a:p>
        </p:txBody>
      </p:sp>
      <p:sp>
        <p:nvSpPr>
          <p:cNvPr id="4" name="Rounded Rectangle 3"/>
          <p:cNvSpPr/>
          <p:nvPr/>
        </p:nvSpPr>
        <p:spPr>
          <a:xfrm>
            <a:off x="640080" y="1920240"/>
            <a:ext cx="5303520" cy="1828800"/>
          </a:xfrm>
          <a:prstGeom prst="roundRect">
            <a:avLst>
              <a:gd name="adj" fmla="val 6000"/>
            </a:avLst>
          </a:prstGeom>
          <a:solidFill>
            <a:srgbClr val="1B33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48840"/>
            <a:ext cx="4754880" cy="1463040"/>
          </a:xfrm>
          <a:prstGeom prst="rect">
            <a:avLst/>
          </a:prstGeom>
          <a:noFill/>
        </p:spPr>
        <p:txBody>
          <a:bodyPr wrap="square" lIns="0" rIns="0" tIns="0" bIns="0" anchor="t">
            <a:spAutoFit/>
          </a:bodyPr>
          <a:lstStyle/>
          <a:p>
            <a:pPr algn="l">
              <a:spcAft>
                <a:spcPts val="400"/>
              </a:spcAft>
            </a:pPr>
            <a:r>
              <a:rPr sz="1350" b="0" i="0">
                <a:solidFill>
                  <a:srgbClr val="FFFFFF"/>
                </a:solidFill>
                <a:latin typeface="Calibri"/>
              </a:rPr>
              <a:t>Measured naively, ORDINARY real photos score 12.2° on the right-angle test: worse than SD 1.5 and far worse than SDXL.</a:t>
            </a:r>
          </a:p>
          <a:p>
            <a:pPr algn="l">
              <a:spcAft>
                <a:spcPts val="400"/>
              </a:spcAft>
            </a:pPr>
            <a:r>
              <a:rPr sz="1350" b="0" i="0">
                <a:solidFill>
                  <a:srgbClr val="FFFFFF"/>
                </a:solidFill>
                <a:latin typeface="Calibri"/>
              </a:rPr>
              <a:t/>
            </a:r>
          </a:p>
          <a:p>
            <a:pPr algn="l">
              <a:spcAft>
                <a:spcPts val="400"/>
              </a:spcAft>
            </a:pPr>
            <a:r>
              <a:rPr sz="1350" b="0" i="0">
                <a:solidFill>
                  <a:srgbClr val="FFFFFF"/>
                </a:solidFill>
                <a:latin typeface="Calibri"/>
              </a:rPr>
              <a:t>Taken at face value, AI images would look more camera-consistent than photos.</a:t>
            </a:r>
          </a:p>
        </p:txBody>
      </p:sp>
      <p:sp>
        <p:nvSpPr>
          <p:cNvPr id="6" name="Rounded Rectangle 5"/>
          <p:cNvSpPr/>
          <p:nvPr/>
        </p:nvSpPr>
        <p:spPr>
          <a:xfrm>
            <a:off x="6245352" y="1920240"/>
            <a:ext cx="5303520" cy="1828800"/>
          </a:xfrm>
          <a:prstGeom prst="roundRect">
            <a:avLst>
              <a:gd name="adj" fmla="val 6000"/>
            </a:avLst>
          </a:prstGeom>
          <a:solidFill>
            <a:srgbClr val="1B33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9672" y="2148840"/>
            <a:ext cx="4754880" cy="1463040"/>
          </a:xfrm>
          <a:prstGeom prst="rect">
            <a:avLst/>
          </a:prstGeom>
          <a:noFill/>
        </p:spPr>
        <p:txBody>
          <a:bodyPr wrap="square" lIns="0" rIns="0" tIns="0" bIns="0" anchor="t">
            <a:spAutoFit/>
          </a:bodyPr>
          <a:lstStyle/>
          <a:p>
            <a:pPr algn="l">
              <a:spcAft>
                <a:spcPts val="400"/>
              </a:spcAft>
            </a:pPr>
            <a:r>
              <a:rPr sz="1350" b="0" i="0">
                <a:solidFill>
                  <a:srgbClr val="FFFFFF"/>
                </a:solidFill>
                <a:latin typeface="Calibri"/>
              </a:rPr>
              <a:t>Why: angled streets and facades have three clear directions that are simply NOT at right angles.</a:t>
            </a:r>
          </a:p>
          <a:p>
            <a:pPr algn="l">
              <a:spcAft>
                <a:spcPts val="400"/>
              </a:spcAft>
            </a:pPr>
            <a:r>
              <a:rPr sz="1350" b="0" i="0">
                <a:solidFill>
                  <a:srgbClr val="FFFFFF"/>
                </a:solidFill>
                <a:latin typeface="Calibri"/>
              </a:rPr>
              <a:t/>
            </a:r>
          </a:p>
          <a:p>
            <a:pPr algn="l">
              <a:spcAft>
                <a:spcPts val="400"/>
              </a:spcAft>
            </a:pPr>
            <a:r>
              <a:rPr sz="1350" b="0" i="0">
                <a:solidFill>
                  <a:srgbClr val="FFFFFF"/>
                </a:solidFill>
                <a:latin typeface="Calibri"/>
              </a:rPr>
              <a:t>These are Atlanta worlds. The right-angle test does not apply to them. The fault is in the test, not the photos.</a:t>
            </a:r>
          </a:p>
        </p:txBody>
      </p:sp>
      <p:sp>
        <p:nvSpPr>
          <p:cNvPr id="8" name="TextBox 7"/>
          <p:cNvSpPr txBox="1"/>
          <p:nvPr/>
        </p:nvSpPr>
        <p:spPr>
          <a:xfrm>
            <a:off x="1371600" y="4114800"/>
            <a:ext cx="2743200" cy="685800"/>
          </a:xfrm>
          <a:prstGeom prst="rect">
            <a:avLst/>
          </a:prstGeom>
          <a:noFill/>
        </p:spPr>
        <p:txBody>
          <a:bodyPr wrap="square" lIns="0" rIns="0" tIns="0" bIns="0" anchor="t">
            <a:spAutoFit/>
          </a:bodyPr>
          <a:lstStyle/>
          <a:p>
            <a:pPr algn="ctr">
              <a:spcAft>
                <a:spcPts val="600"/>
              </a:spcAft>
            </a:pPr>
            <a:r>
              <a:rPr sz="3600" b="1" i="0">
                <a:solidFill>
                  <a:srgbClr val="E8A33D"/>
                </a:solidFill>
                <a:latin typeface="Cambria"/>
              </a:rPr>
              <a:t>12.2°</a:t>
            </a:r>
          </a:p>
        </p:txBody>
      </p:sp>
      <p:sp>
        <p:nvSpPr>
          <p:cNvPr id="9" name="TextBox 8"/>
          <p:cNvSpPr txBox="1"/>
          <p:nvPr/>
        </p:nvSpPr>
        <p:spPr>
          <a:xfrm>
            <a:off x="1371600" y="4773168"/>
            <a:ext cx="2743200" cy="640080"/>
          </a:xfrm>
          <a:prstGeom prst="rect">
            <a:avLst/>
          </a:prstGeom>
          <a:noFill/>
        </p:spPr>
        <p:txBody>
          <a:bodyPr wrap="square" lIns="0" rIns="0" tIns="0" bIns="0" anchor="t">
            <a:spAutoFit/>
          </a:bodyPr>
          <a:lstStyle/>
          <a:p>
            <a:pPr algn="ctr">
              <a:spcAft>
                <a:spcPts val="600"/>
              </a:spcAft>
            </a:pPr>
            <a:r>
              <a:rPr sz="1150" b="0" i="0">
                <a:solidFill>
                  <a:srgbClr val="B9CDDA"/>
                </a:solidFill>
                <a:latin typeface="Calibri"/>
              </a:rPr>
              <a:t>ordinary real photos, no applicability rule</a:t>
            </a:r>
          </a:p>
        </p:txBody>
      </p:sp>
      <p:sp>
        <p:nvSpPr>
          <p:cNvPr id="10" name="TextBox 9"/>
          <p:cNvSpPr txBox="1"/>
          <p:nvPr/>
        </p:nvSpPr>
        <p:spPr>
          <a:xfrm>
            <a:off x="4663440" y="4114800"/>
            <a:ext cx="2743200" cy="685800"/>
          </a:xfrm>
          <a:prstGeom prst="rect">
            <a:avLst/>
          </a:prstGeom>
          <a:noFill/>
        </p:spPr>
        <p:txBody>
          <a:bodyPr wrap="square" lIns="0" rIns="0" tIns="0" bIns="0" anchor="t">
            <a:spAutoFit/>
          </a:bodyPr>
          <a:lstStyle/>
          <a:p>
            <a:pPr algn="ctr">
              <a:spcAft>
                <a:spcPts val="600"/>
              </a:spcAft>
            </a:pPr>
            <a:r>
              <a:rPr sz="3600" b="1" i="0">
                <a:solidFill>
                  <a:srgbClr val="1C7293"/>
                </a:solidFill>
                <a:latin typeface="Cambria"/>
              </a:rPr>
              <a:t>2.82°</a:t>
            </a:r>
          </a:p>
        </p:txBody>
      </p:sp>
      <p:sp>
        <p:nvSpPr>
          <p:cNvPr id="11" name="TextBox 10"/>
          <p:cNvSpPr txBox="1"/>
          <p:nvPr/>
        </p:nvSpPr>
        <p:spPr>
          <a:xfrm>
            <a:off x="4663440" y="4773168"/>
            <a:ext cx="2743200" cy="640080"/>
          </a:xfrm>
          <a:prstGeom prst="rect">
            <a:avLst/>
          </a:prstGeom>
          <a:noFill/>
        </p:spPr>
        <p:txBody>
          <a:bodyPr wrap="square" lIns="0" rIns="0" tIns="0" bIns="0" anchor="t">
            <a:spAutoFit/>
          </a:bodyPr>
          <a:lstStyle/>
          <a:p>
            <a:pPr algn="ctr">
              <a:spcAft>
                <a:spcPts val="600"/>
              </a:spcAft>
            </a:pPr>
            <a:r>
              <a:rPr sz="1150" b="0" i="0">
                <a:solidFill>
                  <a:srgbClr val="B9CDDA"/>
                </a:solidFill>
                <a:latin typeface="Calibri"/>
              </a:rPr>
              <a:t>same photos, after the rule</a:t>
            </a:r>
          </a:p>
        </p:txBody>
      </p:sp>
      <p:sp>
        <p:nvSpPr>
          <p:cNvPr id="12" name="TextBox 11"/>
          <p:cNvSpPr txBox="1"/>
          <p:nvPr/>
        </p:nvSpPr>
        <p:spPr>
          <a:xfrm>
            <a:off x="7955279" y="4114800"/>
            <a:ext cx="2743200" cy="685800"/>
          </a:xfrm>
          <a:prstGeom prst="rect">
            <a:avLst/>
          </a:prstGeom>
          <a:noFill/>
        </p:spPr>
        <p:txBody>
          <a:bodyPr wrap="square" lIns="0" rIns="0" tIns="0" bIns="0" anchor="t">
            <a:spAutoFit/>
          </a:bodyPr>
          <a:lstStyle/>
          <a:p>
            <a:pPr algn="ctr">
              <a:spcAft>
                <a:spcPts val="600"/>
              </a:spcAft>
            </a:pPr>
            <a:r>
              <a:rPr sz="3600" b="1" i="0">
                <a:solidFill>
                  <a:srgbClr val="FFFFFF"/>
                </a:solidFill>
                <a:latin typeface="Cambria"/>
              </a:rPr>
              <a:t>0.15</a:t>
            </a:r>
          </a:p>
        </p:txBody>
      </p:sp>
      <p:sp>
        <p:nvSpPr>
          <p:cNvPr id="13" name="TextBox 12"/>
          <p:cNvSpPr txBox="1"/>
          <p:nvPr/>
        </p:nvSpPr>
        <p:spPr>
          <a:xfrm>
            <a:off x="7955279" y="4773168"/>
            <a:ext cx="2743200" cy="640080"/>
          </a:xfrm>
          <a:prstGeom prst="rect">
            <a:avLst/>
          </a:prstGeom>
          <a:noFill/>
        </p:spPr>
        <p:txBody>
          <a:bodyPr wrap="square" lIns="0" rIns="0" tIns="0" bIns="0" anchor="t">
            <a:spAutoFit/>
          </a:bodyPr>
          <a:lstStyle/>
          <a:p>
            <a:pPr algn="ctr">
              <a:spcAft>
                <a:spcPts val="600"/>
              </a:spcAft>
            </a:pPr>
            <a:r>
              <a:rPr sz="1150" b="0" i="0">
                <a:solidFill>
                  <a:srgbClr val="B9CDDA"/>
                </a:solidFill>
                <a:latin typeface="Calibri"/>
              </a:rPr>
              <a:t>log-focal spread, Atlanta measure</a:t>
            </a:r>
          </a:p>
        </p:txBody>
      </p:sp>
      <p:sp>
        <p:nvSpPr>
          <p:cNvPr id="14" name="TextBox 13"/>
          <p:cNvSpPr txBox="1"/>
          <p:nvPr/>
        </p:nvSpPr>
        <p:spPr>
          <a:xfrm>
            <a:off x="640080" y="5943600"/>
            <a:ext cx="10908792" cy="457200"/>
          </a:xfrm>
          <a:prstGeom prst="rect">
            <a:avLst/>
          </a:prstGeom>
          <a:noFill/>
        </p:spPr>
        <p:txBody>
          <a:bodyPr wrap="square" lIns="0" rIns="0" tIns="0" bIns="0" anchor="t">
            <a:spAutoFit/>
          </a:bodyPr>
          <a:lstStyle/>
          <a:p>
            <a:pPr algn="l">
              <a:spcAft>
                <a:spcPts val="600"/>
              </a:spcAft>
            </a:pPr>
            <a:r>
              <a:rPr sz="1350" b="0" i="1">
                <a:solidFill>
                  <a:srgbClr val="E8A33D"/>
                </a:solidFill>
                <a:latin typeface="Calibri"/>
              </a:rPr>
              <a:t>So the main measure became Atlanta focal consistency, which works on both kinds of scene.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Results 3: Primary Finding</a:t>
            </a:r>
          </a:p>
        </p:txBody>
      </p:sp>
      <p:sp>
        <p:nvSpPr>
          <p:cNvPr id="4" name="TextBox 3"/>
          <p:cNvSpPr txBox="1"/>
          <p:nvPr/>
        </p:nvSpPr>
        <p:spPr>
          <a:xfrm>
            <a:off x="640080" y="1207008"/>
            <a:ext cx="10911535" cy="411480"/>
          </a:xfrm>
          <a:prstGeom prst="rect">
            <a:avLst/>
          </a:prstGeom>
          <a:noFill/>
        </p:spPr>
        <p:txBody>
          <a:bodyPr wrap="square" lIns="0" rIns="0" tIns="0" bIns="0" anchor="t">
            <a:spAutoFit/>
          </a:bodyPr>
          <a:lstStyle/>
          <a:p>
            <a:pPr algn="l">
              <a:spcAft>
                <a:spcPts val="600"/>
              </a:spcAft>
            </a:pPr>
            <a:r>
              <a:rPr sz="1400" b="0" i="1">
                <a:solidFill>
                  <a:srgbClr val="5A6672"/>
                </a:solidFill>
                <a:latin typeface="Calibri"/>
              </a:rPr>
              <a:t>Atlanta focal consistency on images that pass the applicability rule</a:t>
            </a:r>
          </a:p>
        </p:txBody>
      </p:sp>
      <p:graphicFrame>
        <p:nvGraphicFramePr>
          <p:cNvPr id="5" name="Table 4"/>
          <p:cNvGraphicFramePr>
            <a:graphicFrameLocks noGrp="1"/>
          </p:cNvGraphicFramePr>
          <p:nvPr/>
        </p:nvGraphicFramePr>
        <p:xfrm>
          <a:off x="640080" y="1783080"/>
          <a:ext cx="10908792" cy="2103120"/>
        </p:xfrm>
        <a:graphic>
          <a:graphicData uri="http://schemas.openxmlformats.org/drawingml/2006/table">
            <a:tbl>
              <a:tblPr firstRow="1" bandRow="1">
                <a:tableStyleId>{5C22544A-7EE6-4342-B048-85BDC9FD1C3A}</a:tableStyleId>
              </a:tblPr>
              <a:tblGrid>
                <a:gridCol w="3154680"/>
                <a:gridCol w="1938528"/>
                <a:gridCol w="1938528"/>
                <a:gridCol w="1938528"/>
                <a:gridCol w="1938528"/>
              </a:tblGrid>
              <a:tr h="420624">
                <a:tc>
                  <a:txBody>
                    <a:bodyPr/>
                    <a:lstStyle/>
                    <a:p>
                      <a:r>
                        <a:rPr sz="1100" b="1">
                          <a:solidFill>
                            <a:srgbClr val="FFFFFF"/>
                          </a:solidFill>
                          <a:latin typeface="Calibri"/>
                        </a:rPr>
                        <a:t>Quantity</a:t>
                      </a:r>
                    </a:p>
                  </a:txBody>
                  <a:tcPr anchor="ctr">
                    <a:solidFill>
                      <a:srgbClr val="12263A"/>
                    </a:solidFill>
                  </a:tcPr>
                </a:tc>
                <a:tc>
                  <a:txBody>
                    <a:bodyPr/>
                    <a:lstStyle/>
                    <a:p>
                      <a:r>
                        <a:rPr sz="1100" b="1">
                          <a:solidFill>
                            <a:srgbClr val="FFFFFF"/>
                          </a:solidFill>
                          <a:latin typeface="Calibri"/>
                        </a:rPr>
                        <a:t>York Urban (real)</a:t>
                      </a:r>
                    </a:p>
                  </a:txBody>
                  <a:tcPr anchor="ctr">
                    <a:solidFill>
                      <a:srgbClr val="12263A"/>
                    </a:solidFill>
                  </a:tcPr>
                </a:tc>
                <a:tc>
                  <a:txBody>
                    <a:bodyPr/>
                    <a:lstStyle/>
                    <a:p>
                      <a:r>
                        <a:rPr sz="1100" b="1">
                          <a:solidFill>
                            <a:srgbClr val="FFFFFF"/>
                          </a:solidFill>
                          <a:latin typeface="Calibri"/>
                        </a:rPr>
                        <a:t>Commons (real)</a:t>
                      </a:r>
                    </a:p>
                  </a:txBody>
                  <a:tcPr anchor="ctr">
                    <a:solidFill>
                      <a:srgbClr val="12263A"/>
                    </a:solidFill>
                  </a:tcPr>
                </a:tc>
                <a:tc>
                  <a:txBody>
                    <a:bodyPr/>
                    <a:lstStyle/>
                    <a:p>
                      <a:r>
                        <a:rPr sz="1100" b="1">
                          <a:solidFill>
                            <a:srgbClr val="FFFFFF"/>
                          </a:solidFill>
                          <a:latin typeface="Calibri"/>
                        </a:rPr>
                        <a:t>SD 1.5</a:t>
                      </a:r>
                    </a:p>
                  </a:txBody>
                  <a:tcPr anchor="ctr">
                    <a:solidFill>
                      <a:srgbClr val="12263A"/>
                    </a:solidFill>
                  </a:tcPr>
                </a:tc>
                <a:tc>
                  <a:txBody>
                    <a:bodyPr/>
                    <a:lstStyle/>
                    <a:p>
                      <a:r>
                        <a:rPr sz="1100" b="1">
                          <a:solidFill>
                            <a:srgbClr val="FFFFFF"/>
                          </a:solidFill>
                          <a:latin typeface="Calibri"/>
                        </a:rPr>
                        <a:t>SDXL</a:t>
                      </a:r>
                    </a:p>
                  </a:txBody>
                  <a:tcPr anchor="ctr">
                    <a:solidFill>
                      <a:srgbClr val="12263A"/>
                    </a:solidFill>
                  </a:tcPr>
                </a:tc>
              </a:tr>
              <a:tr h="420624">
                <a:tc>
                  <a:txBody>
                    <a:bodyPr/>
                    <a:lstStyle/>
                    <a:p>
                      <a:r>
                        <a:rPr sz="1100">
                          <a:solidFill>
                            <a:srgbClr val="1A1A1A"/>
                          </a:solidFill>
                          <a:latin typeface="Calibri"/>
                        </a:rPr>
                        <a:t>Images admitted by the rule</a:t>
                      </a:r>
                    </a:p>
                  </a:txBody>
                  <a:tcPr anchor="ctr">
                    <a:solidFill>
                      <a:srgbClr val="FFFFFF"/>
                    </a:solidFill>
                  </a:tcPr>
                </a:tc>
                <a:tc>
                  <a:txBody>
                    <a:bodyPr/>
                    <a:lstStyle/>
                    <a:p>
                      <a:r>
                        <a:rPr sz="1100">
                          <a:solidFill>
                            <a:srgbClr val="1A1A1A"/>
                          </a:solidFill>
                          <a:latin typeface="Calibri"/>
                        </a:rPr>
                        <a:t>72</a:t>
                      </a:r>
                    </a:p>
                  </a:txBody>
                  <a:tcPr anchor="ctr">
                    <a:solidFill>
                      <a:srgbClr val="FFFFFF"/>
                    </a:solidFill>
                  </a:tcPr>
                </a:tc>
                <a:tc>
                  <a:txBody>
                    <a:bodyPr/>
                    <a:lstStyle/>
                    <a:p>
                      <a:r>
                        <a:rPr sz="1100">
                          <a:solidFill>
                            <a:srgbClr val="1A1A1A"/>
                          </a:solidFill>
                          <a:latin typeface="Calibri"/>
                        </a:rPr>
                        <a:t>121</a:t>
                      </a:r>
                    </a:p>
                  </a:txBody>
                  <a:tcPr anchor="ctr">
                    <a:solidFill>
                      <a:srgbClr val="FFFFFF"/>
                    </a:solidFill>
                  </a:tcPr>
                </a:tc>
                <a:tc>
                  <a:txBody>
                    <a:bodyPr/>
                    <a:lstStyle/>
                    <a:p>
                      <a:r>
                        <a:rPr sz="1100">
                          <a:solidFill>
                            <a:srgbClr val="1A1A1A"/>
                          </a:solidFill>
                          <a:latin typeface="Calibri"/>
                        </a:rPr>
                        <a:t>92</a:t>
                      </a:r>
                    </a:p>
                  </a:txBody>
                  <a:tcPr anchor="ctr">
                    <a:solidFill>
                      <a:srgbClr val="FFFFFF"/>
                    </a:solidFill>
                  </a:tcPr>
                </a:tc>
                <a:tc>
                  <a:txBody>
                    <a:bodyPr/>
                    <a:lstStyle/>
                    <a:p>
                      <a:r>
                        <a:rPr sz="1100">
                          <a:solidFill>
                            <a:srgbClr val="1A1A1A"/>
                          </a:solidFill>
                          <a:latin typeface="Calibri"/>
                        </a:rPr>
                        <a:t>112</a:t>
                      </a:r>
                    </a:p>
                  </a:txBody>
                  <a:tcPr anchor="ctr">
                    <a:solidFill>
                      <a:srgbClr val="FFFFFF"/>
                    </a:solidFill>
                  </a:tcPr>
                </a:tc>
              </a:tr>
              <a:tr h="420624">
                <a:tc>
                  <a:txBody>
                    <a:bodyPr/>
                    <a:lstStyle/>
                    <a:p>
                      <a:r>
                        <a:rPr sz="1100">
                          <a:solidFill>
                            <a:srgbClr val="1A1A1A"/>
                          </a:solidFill>
                          <a:latin typeface="Calibri"/>
                        </a:rPr>
                        <a:t>Usable for log-focal spread</a:t>
                      </a:r>
                    </a:p>
                  </a:txBody>
                  <a:tcPr anchor="ctr">
                    <a:solidFill>
                      <a:srgbClr val="F4F6F8"/>
                    </a:solidFill>
                  </a:tcPr>
                </a:tc>
                <a:tc>
                  <a:txBody>
                    <a:bodyPr/>
                    <a:lstStyle/>
                    <a:p>
                      <a:r>
                        <a:rPr sz="1100">
                          <a:solidFill>
                            <a:srgbClr val="1A1A1A"/>
                          </a:solidFill>
                          <a:latin typeface="Calibri"/>
                        </a:rPr>
                        <a:t>65</a:t>
                      </a:r>
                    </a:p>
                  </a:txBody>
                  <a:tcPr anchor="ctr">
                    <a:solidFill>
                      <a:srgbClr val="F4F6F8"/>
                    </a:solidFill>
                  </a:tcPr>
                </a:tc>
                <a:tc>
                  <a:txBody>
                    <a:bodyPr/>
                    <a:lstStyle/>
                    <a:p>
                      <a:r>
                        <a:rPr sz="1100">
                          <a:solidFill>
                            <a:srgbClr val="1A1A1A"/>
                          </a:solidFill>
                          <a:latin typeface="Calibri"/>
                        </a:rPr>
                        <a:t>91</a:t>
                      </a:r>
                    </a:p>
                  </a:txBody>
                  <a:tcPr anchor="ctr">
                    <a:solidFill>
                      <a:srgbClr val="F4F6F8"/>
                    </a:solidFill>
                  </a:tcPr>
                </a:tc>
                <a:tc>
                  <a:txBody>
                    <a:bodyPr/>
                    <a:lstStyle/>
                    <a:p>
                      <a:r>
                        <a:rPr sz="1100">
                          <a:solidFill>
                            <a:srgbClr val="1A1A1A"/>
                          </a:solidFill>
                          <a:latin typeface="Calibri"/>
                        </a:rPr>
                        <a:t>53</a:t>
                      </a:r>
                    </a:p>
                  </a:txBody>
                  <a:tcPr anchor="ctr">
                    <a:solidFill>
                      <a:srgbClr val="F4F6F8"/>
                    </a:solidFill>
                  </a:tcPr>
                </a:tc>
                <a:tc>
                  <a:txBody>
                    <a:bodyPr/>
                    <a:lstStyle/>
                    <a:p>
                      <a:r>
                        <a:rPr sz="1100">
                          <a:solidFill>
                            <a:srgbClr val="1A1A1A"/>
                          </a:solidFill>
                          <a:latin typeface="Calibri"/>
                        </a:rPr>
                        <a:t>65</a:t>
                      </a:r>
                    </a:p>
                  </a:txBody>
                  <a:tcPr anchor="ctr">
                    <a:solidFill>
                      <a:srgbClr val="F4F6F8"/>
                    </a:solidFill>
                  </a:tcPr>
                </a:tc>
              </a:tr>
              <a:tr h="420624">
                <a:tc>
                  <a:txBody>
                    <a:bodyPr/>
                    <a:lstStyle/>
                    <a:p>
                      <a:r>
                        <a:rPr sz="1100">
                          <a:solidFill>
                            <a:srgbClr val="1A1A1A"/>
                          </a:solidFill>
                          <a:latin typeface="Calibri"/>
                        </a:rPr>
                        <a:t>Log-focal spread, median [95% CI]</a:t>
                      </a:r>
                    </a:p>
                  </a:txBody>
                  <a:tcPr anchor="ctr">
                    <a:solidFill>
                      <a:srgbClr val="FFFFFF"/>
                    </a:solidFill>
                  </a:tcPr>
                </a:tc>
                <a:tc>
                  <a:txBody>
                    <a:bodyPr/>
                    <a:lstStyle/>
                    <a:p>
                      <a:r>
                        <a:rPr sz="1100">
                          <a:solidFill>
                            <a:srgbClr val="1A1A1A"/>
                          </a:solidFill>
                          <a:latin typeface="Calibri"/>
                        </a:rPr>
                        <a:t>0.142 [0.106, 0.221]</a:t>
                      </a:r>
                    </a:p>
                  </a:txBody>
                  <a:tcPr anchor="ctr">
                    <a:solidFill>
                      <a:srgbClr val="FFFFFF"/>
                    </a:solidFill>
                  </a:tcPr>
                </a:tc>
                <a:tc>
                  <a:txBody>
                    <a:bodyPr/>
                    <a:lstStyle/>
                    <a:p>
                      <a:r>
                        <a:rPr sz="1100">
                          <a:solidFill>
                            <a:srgbClr val="1A1A1A"/>
                          </a:solidFill>
                          <a:latin typeface="Calibri"/>
                        </a:rPr>
                        <a:t>0.152 [0.093, 0.220]</a:t>
                      </a:r>
                    </a:p>
                  </a:txBody>
                  <a:tcPr anchor="ctr">
                    <a:solidFill>
                      <a:srgbClr val="FFFFFF"/>
                    </a:solidFill>
                  </a:tcPr>
                </a:tc>
                <a:tc>
                  <a:txBody>
                    <a:bodyPr/>
                    <a:lstStyle/>
                    <a:p>
                      <a:r>
                        <a:rPr sz="1100">
                          <a:solidFill>
                            <a:srgbClr val="1A1A1A"/>
                          </a:solidFill>
                          <a:latin typeface="Calibri"/>
                        </a:rPr>
                        <a:t>0.465 [0.324, 0.709]</a:t>
                      </a:r>
                    </a:p>
                  </a:txBody>
                  <a:tcPr anchor="ctr">
                    <a:solidFill>
                      <a:srgbClr val="FFFFFF"/>
                    </a:solidFill>
                  </a:tcPr>
                </a:tc>
                <a:tc>
                  <a:txBody>
                    <a:bodyPr/>
                    <a:lstStyle/>
                    <a:p>
                      <a:r>
                        <a:rPr sz="1100">
                          <a:solidFill>
                            <a:srgbClr val="1A1A1A"/>
                          </a:solidFill>
                          <a:latin typeface="Calibri"/>
                        </a:rPr>
                        <a:t>0.355 [0.272, 0.529]</a:t>
                      </a:r>
                    </a:p>
                  </a:txBody>
                  <a:tcPr anchor="ctr">
                    <a:solidFill>
                      <a:srgbClr val="FFFFFF"/>
                    </a:solidFill>
                  </a:tcPr>
                </a:tc>
              </a:tr>
              <a:tr h="420624">
                <a:tc>
                  <a:txBody>
                    <a:bodyPr/>
                    <a:lstStyle/>
                    <a:p>
                      <a:r>
                        <a:rPr sz="1100">
                          <a:solidFill>
                            <a:srgbClr val="1A1A1A"/>
                          </a:solidFill>
                          <a:latin typeface="Calibri"/>
                        </a:rPr>
                        <a:t>Images with an impossible pair</a:t>
                      </a:r>
                    </a:p>
                  </a:txBody>
                  <a:tcPr anchor="ctr">
                    <a:solidFill>
                      <a:srgbClr val="F4F6F8"/>
                    </a:solidFill>
                  </a:tcPr>
                </a:tc>
                <a:tc>
                  <a:txBody>
                    <a:bodyPr/>
                    <a:lstStyle/>
                    <a:p>
                      <a:r>
                        <a:rPr sz="1100">
                          <a:solidFill>
                            <a:srgbClr val="1A1A1A"/>
                          </a:solidFill>
                          <a:latin typeface="Calibri"/>
                        </a:rPr>
                        <a:t>28%</a:t>
                      </a:r>
                    </a:p>
                  </a:txBody>
                  <a:tcPr anchor="ctr">
                    <a:solidFill>
                      <a:srgbClr val="F4F6F8"/>
                    </a:solidFill>
                  </a:tcPr>
                </a:tc>
                <a:tc>
                  <a:txBody>
                    <a:bodyPr/>
                    <a:lstStyle/>
                    <a:p>
                      <a:r>
                        <a:rPr sz="1100">
                          <a:solidFill>
                            <a:srgbClr val="1A1A1A"/>
                          </a:solidFill>
                          <a:latin typeface="Calibri"/>
                        </a:rPr>
                        <a:t>44%</a:t>
                      </a:r>
                    </a:p>
                  </a:txBody>
                  <a:tcPr anchor="ctr">
                    <a:solidFill>
                      <a:srgbClr val="F4F6F8"/>
                    </a:solidFill>
                  </a:tcPr>
                </a:tc>
                <a:tc>
                  <a:txBody>
                    <a:bodyPr/>
                    <a:lstStyle/>
                    <a:p>
                      <a:r>
                        <a:rPr sz="1100">
                          <a:solidFill>
                            <a:srgbClr val="1A1A1A"/>
                          </a:solidFill>
                          <a:latin typeface="Calibri"/>
                        </a:rPr>
                        <a:t>68%</a:t>
                      </a:r>
                    </a:p>
                  </a:txBody>
                  <a:tcPr anchor="ctr">
                    <a:solidFill>
                      <a:srgbClr val="F4F6F8"/>
                    </a:solidFill>
                  </a:tcPr>
                </a:tc>
                <a:tc>
                  <a:txBody>
                    <a:bodyPr/>
                    <a:lstStyle/>
                    <a:p>
                      <a:r>
                        <a:rPr sz="1100">
                          <a:solidFill>
                            <a:srgbClr val="1A1A1A"/>
                          </a:solidFill>
                          <a:latin typeface="Calibri"/>
                        </a:rPr>
                        <a:t>58%</a:t>
                      </a:r>
                    </a:p>
                  </a:txBody>
                  <a:tcPr anchor="ctr">
                    <a:solidFill>
                      <a:srgbClr val="F4F6F8"/>
                    </a:solidFill>
                  </a:tcPr>
                </a:tc>
              </a:tr>
            </a:tbl>
          </a:graphicData>
        </a:graphic>
      </p:graphicFrame>
      <p:sp>
        <p:nvSpPr>
          <p:cNvPr id="6" name="Rounded Rectangle 5"/>
          <p:cNvSpPr/>
          <p:nvPr/>
        </p:nvSpPr>
        <p:spPr>
          <a:xfrm>
            <a:off x="640080" y="4114800"/>
            <a:ext cx="10908792" cy="1051560"/>
          </a:xfrm>
          <a:prstGeom prst="roundRect">
            <a:avLst>
              <a:gd name="adj" fmla="val 6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279392"/>
            <a:ext cx="10332720" cy="777240"/>
          </a:xfrm>
          <a:prstGeom prst="rect">
            <a:avLst/>
          </a:prstGeom>
          <a:noFill/>
        </p:spPr>
        <p:txBody>
          <a:bodyPr wrap="square" lIns="0" rIns="0" tIns="0" bIns="0" anchor="t">
            <a:spAutoFit/>
          </a:bodyPr>
          <a:lstStyle/>
          <a:p>
            <a:pPr algn="l">
              <a:spcAft>
                <a:spcPts val="600"/>
              </a:spcAft>
            </a:pPr>
            <a:r>
              <a:rPr sz="1600" b="1" i="0">
                <a:solidFill>
                  <a:srgbClr val="FFFFFF"/>
                </a:solidFill>
                <a:latin typeface="Calibri"/>
              </a:rPr>
              <a:t>In a real photo the horizontal directions agree on ONE focal length to within about 15%. In AI images they disagree by 35 to 60%.  (p ≈ 3×10⁻⁵ against either real set)</a:t>
            </a:r>
          </a:p>
        </p:txBody>
      </p:sp>
      <p:sp>
        <p:nvSpPr>
          <p:cNvPr id="8" name="TextBox 7"/>
          <p:cNvSpPr txBox="1"/>
          <p:nvPr/>
        </p:nvSpPr>
        <p:spPr>
          <a:xfrm>
            <a:off x="640080" y="5394960"/>
            <a:ext cx="10908792" cy="1097280"/>
          </a:xfrm>
          <a:prstGeom prst="rect">
            <a:avLst/>
          </a:prstGeom>
          <a:noFill/>
        </p:spPr>
        <p:txBody>
          <a:bodyPr wrap="square" lIns="0" rIns="0" tIns="0" bIns="0">
            <a:spAutoFit/>
          </a:bodyPr>
          <a:lstStyle/>
          <a:p>
            <a:pPr>
              <a:spcAft>
                <a:spcPts val="600"/>
              </a:spcAft>
            </a:pPr>
            <a:r>
              <a:rPr sz="1350" b="0">
                <a:solidFill>
                  <a:srgbClr val="1A1A1A"/>
                </a:solidFill>
                <a:latin typeface="Calibri"/>
              </a:rPr>
              <a:t>•  The two real sets agree with each other, so the result does not depend on which real photos are used.</a:t>
            </a:r>
          </a:p>
          <a:p>
            <a:pPr>
              <a:spcAft>
                <a:spcPts val="600"/>
              </a:spcAft>
            </a:pPr>
            <a:r>
              <a:rPr sz="1350" b="0">
                <a:solidFill>
                  <a:srgbClr val="1A1A1A"/>
                </a:solidFill>
                <a:latin typeface="Calibri"/>
              </a:rPr>
              <a:t>•  Both generators sit clearly above both real sets, with non-overlapping intervals.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Results 4: Distributions and Scaling</a:t>
            </a:r>
          </a:p>
        </p:txBody>
      </p:sp>
      <p:pic>
        <p:nvPicPr>
          <p:cNvPr id="4" name="Picture 3" descr="atlanta_dots_slide.png"/>
          <p:cNvPicPr>
            <a:picLocks noChangeAspect="1"/>
          </p:cNvPicPr>
          <p:nvPr/>
        </p:nvPicPr>
        <p:blipFill>
          <a:blip r:embed="rId2"/>
          <a:stretch>
            <a:fillRect/>
          </a:stretch>
        </p:blipFill>
        <p:spPr>
          <a:xfrm>
            <a:off x="640080" y="1783080"/>
            <a:ext cx="6949440" cy="3438612"/>
          </a:xfrm>
          <a:prstGeom prst="rect">
            <a:avLst/>
          </a:prstGeom>
        </p:spPr>
      </p:pic>
      <p:sp>
        <p:nvSpPr>
          <p:cNvPr id="5" name="TextBox 4"/>
          <p:cNvSpPr txBox="1"/>
          <p:nvPr/>
        </p:nvSpPr>
        <p:spPr>
          <a:xfrm>
            <a:off x="640080" y="5349240"/>
            <a:ext cx="6949440" cy="640080"/>
          </a:xfrm>
          <a:prstGeom prst="rect">
            <a:avLst/>
          </a:prstGeom>
          <a:noFill/>
        </p:spPr>
        <p:txBody>
          <a:bodyPr wrap="square" lIns="0" rIns="0" tIns="0" bIns="0" anchor="t">
            <a:spAutoFit/>
          </a:bodyPr>
          <a:lstStyle/>
          <a:p>
            <a:pPr algn="l">
              <a:spcAft>
                <a:spcPts val="600"/>
              </a:spcAft>
            </a:pPr>
            <a:r>
              <a:rPr sz="1150" b="0" i="1">
                <a:solidFill>
                  <a:srgbClr val="5A6672"/>
                </a:solidFill>
                <a:latin typeface="Calibri"/>
              </a:rPr>
              <a:t>Dots: medians. Lines: 95% intervals. Grey band: the range of the real-photo intervals. Left: focal disagreement. Right: share of images with a pair no camera could produce.</a:t>
            </a:r>
          </a:p>
        </p:txBody>
      </p:sp>
      <p:sp>
        <p:nvSpPr>
          <p:cNvPr id="6" name="Rounded Rectangle 5"/>
          <p:cNvSpPr/>
          <p:nvPr/>
        </p:nvSpPr>
        <p:spPr>
          <a:xfrm>
            <a:off x="7863840" y="1828800"/>
            <a:ext cx="3685032" cy="41148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0" y="2057400"/>
            <a:ext cx="3108960" cy="457200"/>
          </a:xfrm>
          <a:prstGeom prst="rect">
            <a:avLst/>
          </a:prstGeom>
          <a:noFill/>
        </p:spPr>
        <p:txBody>
          <a:bodyPr wrap="square" lIns="0" rIns="0" tIns="0" bIns="0" anchor="t">
            <a:spAutoFit/>
          </a:bodyPr>
          <a:lstStyle/>
          <a:p>
            <a:pPr algn="l">
              <a:spcAft>
                <a:spcPts val="600"/>
              </a:spcAft>
            </a:pPr>
            <a:r>
              <a:rPr sz="1500" b="1" i="0">
                <a:solidFill>
                  <a:srgbClr val="12263A"/>
                </a:solidFill>
                <a:latin typeface="Cambria"/>
              </a:rPr>
              <a:t>SD 1.5 → SDXL</a:t>
            </a:r>
          </a:p>
        </p:txBody>
      </p:sp>
      <p:sp>
        <p:nvSpPr>
          <p:cNvPr id="8" name="TextBox 7"/>
          <p:cNvSpPr txBox="1"/>
          <p:nvPr/>
        </p:nvSpPr>
        <p:spPr>
          <a:xfrm>
            <a:off x="8138160" y="2606040"/>
            <a:ext cx="3108960" cy="3108960"/>
          </a:xfrm>
          <a:prstGeom prst="rect">
            <a:avLst/>
          </a:prstGeom>
          <a:noFill/>
        </p:spPr>
        <p:txBody>
          <a:bodyPr wrap="square" lIns="0" rIns="0" tIns="0" bIns="0" anchor="t">
            <a:spAutoFit/>
          </a:bodyPr>
          <a:lstStyle/>
          <a:p>
            <a:pPr algn="l">
              <a:spcAft>
                <a:spcPts val="300"/>
              </a:spcAft>
            </a:pPr>
            <a:r>
              <a:rPr sz="1250" b="0" i="0">
                <a:solidFill>
                  <a:srgbClr val="1A1A1A"/>
                </a:solidFill>
                <a:latin typeface="Calibri"/>
              </a:rPr>
              <a:t>Same prompts, matched field of view and line density, 250 images per model.</a:t>
            </a:r>
          </a:p>
          <a:p>
            <a:pPr algn="l">
              <a:spcAft>
                <a:spcPts val="300"/>
              </a:spcAft>
            </a:pPr>
            <a:r>
              <a:rPr sz="1250" b="0" i="0">
                <a:solidFill>
                  <a:srgbClr val="1A1A1A"/>
                </a:solidFill>
                <a:latin typeface="Calibri"/>
              </a:rPr>
              <a:t/>
            </a:r>
          </a:p>
          <a:p>
            <a:pPr algn="l">
              <a:spcAft>
                <a:spcPts val="300"/>
              </a:spcAft>
            </a:pPr>
            <a:r>
              <a:rPr sz="1250" b="0" i="0">
                <a:solidFill>
                  <a:srgbClr val="1A1A1A"/>
                </a:solidFill>
                <a:latin typeface="Calibri"/>
              </a:rPr>
              <a:t>Orientation: 2.93° → 1.94°   (p = 0.0002, improves)</a:t>
            </a:r>
          </a:p>
          <a:p>
            <a:pPr algn="l">
              <a:spcAft>
                <a:spcPts val="300"/>
              </a:spcAft>
            </a:pPr>
            <a:r>
              <a:rPr sz="1250" b="0" i="0">
                <a:solidFill>
                  <a:srgbClr val="1A1A1A"/>
                </a:solidFill>
                <a:latin typeface="Calibri"/>
              </a:rPr>
              <a:t/>
            </a:r>
          </a:p>
          <a:p>
            <a:pPr algn="l">
              <a:spcAft>
                <a:spcPts val="300"/>
              </a:spcAft>
            </a:pPr>
            <a:r>
              <a:rPr sz="1250" b="0" i="0">
                <a:solidFill>
                  <a:srgbClr val="1A1A1A"/>
                </a:solidFill>
                <a:latin typeface="Calibri"/>
              </a:rPr>
              <a:t>Focal coherence: 0.465 → 0.355   (p = 0.55, UNCHANGED)</a:t>
            </a:r>
          </a:p>
          <a:p>
            <a:pPr algn="l">
              <a:spcAft>
                <a:spcPts val="300"/>
              </a:spcAft>
            </a:pPr>
            <a:r>
              <a:rPr sz="1250" b="0" i="0">
                <a:solidFill>
                  <a:srgbClr val="1A1A1A"/>
                </a:solidFill>
                <a:latin typeface="Calibri"/>
              </a:rPr>
              <a:t/>
            </a:r>
          </a:p>
          <a:p>
            <a:pPr algn="l">
              <a:spcAft>
                <a:spcPts val="300"/>
              </a:spcAft>
            </a:pPr>
            <a:r>
              <a:rPr sz="1250" b="0" i="0">
                <a:solidFill>
                  <a:srgbClr val="1A1A1A"/>
                </a:solidFill>
                <a:latin typeface="Calibri"/>
              </a:rPr>
              <a:t>A bigger model gets the directions right. It does not learn to commit to one camera.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Results 5: Is It an Artefact?</a:t>
            </a:r>
          </a:p>
        </p:txBody>
      </p:sp>
      <p:sp>
        <p:nvSpPr>
          <p:cNvPr id="4" name="TextBox 3"/>
          <p:cNvSpPr txBox="1"/>
          <p:nvPr/>
        </p:nvSpPr>
        <p:spPr>
          <a:xfrm>
            <a:off x="640080" y="1207008"/>
            <a:ext cx="10911535" cy="411480"/>
          </a:xfrm>
          <a:prstGeom prst="rect">
            <a:avLst/>
          </a:prstGeom>
          <a:noFill/>
        </p:spPr>
        <p:txBody>
          <a:bodyPr wrap="square" lIns="0" rIns="0" tIns="0" bIns="0" anchor="t">
            <a:spAutoFit/>
          </a:bodyPr>
          <a:lstStyle/>
          <a:p>
            <a:pPr algn="l">
              <a:spcAft>
                <a:spcPts val="600"/>
              </a:spcAft>
            </a:pPr>
            <a:r>
              <a:rPr sz="1400" b="0" i="1">
                <a:solidFill>
                  <a:srgbClr val="5A6672"/>
                </a:solidFill>
                <a:latin typeface="Calibri"/>
              </a:rPr>
              <a:t>Two checks, both suggested by looking closely at single images</a:t>
            </a:r>
          </a:p>
        </p:txBody>
      </p:sp>
      <p:sp>
        <p:nvSpPr>
          <p:cNvPr id="5" name="Rounded Rectangle 4"/>
          <p:cNvSpPr/>
          <p:nvPr/>
        </p:nvSpPr>
        <p:spPr>
          <a:xfrm>
            <a:off x="640080" y="1783080"/>
            <a:ext cx="5303520" cy="22402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65960"/>
            <a:ext cx="4754880" cy="365760"/>
          </a:xfrm>
          <a:prstGeom prst="rect">
            <a:avLst/>
          </a:prstGeom>
          <a:noFill/>
        </p:spPr>
        <p:txBody>
          <a:bodyPr wrap="square" lIns="0" rIns="0" tIns="0" bIns="0" anchor="t">
            <a:spAutoFit/>
          </a:bodyPr>
          <a:lstStyle/>
          <a:p>
            <a:pPr algn="l">
              <a:spcAft>
                <a:spcPts val="600"/>
              </a:spcAft>
            </a:pPr>
            <a:r>
              <a:rPr sz="1200" b="1" i="0">
                <a:solidFill>
                  <a:srgbClr val="12263A"/>
                </a:solidFill>
                <a:latin typeface="Calibri"/>
              </a:rPr>
              <a:t>CHECK 1: THE WRONG “VERTICAL”</a:t>
            </a:r>
          </a:p>
        </p:txBody>
      </p:sp>
      <p:sp>
        <p:nvSpPr>
          <p:cNvPr id="7" name="TextBox 6"/>
          <p:cNvSpPr txBox="1"/>
          <p:nvPr/>
        </p:nvSpPr>
        <p:spPr>
          <a:xfrm>
            <a:off x="914400" y="2377440"/>
            <a:ext cx="4754880" cy="1554480"/>
          </a:xfrm>
          <a:prstGeom prst="rect">
            <a:avLst/>
          </a:prstGeom>
          <a:noFill/>
        </p:spPr>
        <p:txBody>
          <a:bodyPr wrap="square" lIns="0" rIns="0" tIns="0" bIns="0" anchor="t">
            <a:spAutoFit/>
          </a:bodyPr>
          <a:lstStyle/>
          <a:p>
            <a:pPr algn="l">
              <a:spcAft>
                <a:spcPts val="200"/>
              </a:spcAft>
            </a:pPr>
            <a:r>
              <a:rPr sz="1250" b="0" i="0">
                <a:solidFill>
                  <a:srgbClr val="1A1A1A"/>
                </a:solidFill>
                <a:latin typeface="Calibri"/>
              </a:rPr>
              <a:t>A corridor's far end, near the image centre, can be picked as the vertical vanishing point by mistake.</a:t>
            </a:r>
          </a:p>
          <a:p>
            <a:pPr algn="l">
              <a:spcAft>
                <a:spcPts val="200"/>
              </a:spcAft>
            </a:pPr>
            <a:r>
              <a:rPr sz="1250" b="0" i="0">
                <a:solidFill>
                  <a:srgbClr val="1A1A1A"/>
                </a:solidFill>
                <a:latin typeface="Calibri"/>
              </a:rPr>
              <a:t/>
            </a:r>
          </a:p>
          <a:p>
            <a:pPr algn="l">
              <a:spcAft>
                <a:spcPts val="200"/>
              </a:spcAft>
            </a:pPr>
            <a:r>
              <a:rPr sz="1250" b="0" i="0">
                <a:solidFill>
                  <a:srgbClr val="1A1A1A"/>
                </a:solidFill>
                <a:latin typeface="Calibri"/>
              </a:rPr>
              <a:t>Require the vertical point to be at least one image height away: 0 to 5% of images change, every result holds.</a:t>
            </a:r>
          </a:p>
        </p:txBody>
      </p:sp>
      <p:sp>
        <p:nvSpPr>
          <p:cNvPr id="8" name="Rounded Rectangle 7"/>
          <p:cNvSpPr/>
          <p:nvPr/>
        </p:nvSpPr>
        <p:spPr>
          <a:xfrm>
            <a:off x="6245352" y="1783080"/>
            <a:ext cx="5303520" cy="2240280"/>
          </a:xfrm>
          <a:prstGeom prst="roundRect">
            <a:avLst>
              <a:gd name="adj" fmla="val 6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965960"/>
            <a:ext cx="4754880" cy="365760"/>
          </a:xfrm>
          <a:prstGeom prst="rect">
            <a:avLst/>
          </a:prstGeom>
          <a:noFill/>
        </p:spPr>
        <p:txBody>
          <a:bodyPr wrap="square" lIns="0" rIns="0" tIns="0" bIns="0" anchor="t">
            <a:spAutoFit/>
          </a:bodyPr>
          <a:lstStyle/>
          <a:p>
            <a:pPr algn="l">
              <a:spcAft>
                <a:spcPts val="600"/>
              </a:spcAft>
            </a:pPr>
            <a:r>
              <a:rPr sz="1200" b="1" i="0">
                <a:solidFill>
                  <a:srgbClr val="E8A33D"/>
                </a:solidFill>
                <a:latin typeface="Calibri"/>
              </a:rPr>
              <a:t>CHECK 2: LEVEL CAMERAS</a:t>
            </a:r>
          </a:p>
        </p:txBody>
      </p:sp>
      <p:sp>
        <p:nvSpPr>
          <p:cNvPr id="10" name="TextBox 9"/>
          <p:cNvSpPr txBox="1"/>
          <p:nvPr/>
        </p:nvSpPr>
        <p:spPr>
          <a:xfrm>
            <a:off x="6519672" y="2377440"/>
            <a:ext cx="4754880" cy="1554480"/>
          </a:xfrm>
          <a:prstGeom prst="rect">
            <a:avLst/>
          </a:prstGeom>
          <a:noFill/>
        </p:spPr>
        <p:txBody>
          <a:bodyPr wrap="square" lIns="0" rIns="0" tIns="0" bIns="0" anchor="t">
            <a:spAutoFit/>
          </a:bodyPr>
          <a:lstStyle/>
          <a:p>
            <a:pPr algn="l">
              <a:spcAft>
                <a:spcPts val="200"/>
              </a:spcAft>
            </a:pPr>
            <a:r>
              <a:rPr sz="1250" b="0" i="0">
                <a:solidFill>
                  <a:srgbClr val="FFFFFF"/>
                </a:solidFill>
                <a:latin typeface="Calibri"/>
              </a:rPr>
              <a:t>A level camera makes focal length noisy, and AI images are level far more often (76 to 80% vs 31 to 51% of real photos).</a:t>
            </a:r>
          </a:p>
          <a:p>
            <a:pPr algn="l">
              <a:spcAft>
                <a:spcPts val="200"/>
              </a:spcAft>
            </a:pPr>
            <a:r>
              <a:rPr sz="1250" b="0" i="0">
                <a:solidFill>
                  <a:srgbClr val="FFFFFF"/>
                </a:solidFill>
                <a:latin typeface="Calibri"/>
              </a:rPr>
              <a:t/>
            </a:r>
          </a:p>
          <a:p>
            <a:pPr algn="l">
              <a:spcAft>
                <a:spcPts val="200"/>
              </a:spcAft>
            </a:pPr>
            <a:r>
              <a:rPr sz="1250" b="0" i="0">
                <a:solidFill>
                  <a:srgbClr val="FFFFFF"/>
                </a:solidFill>
                <a:latin typeface="Calibri"/>
              </a:rPr>
              <a:t>Keep only clearly tilted cameras: AI is still 2 to 3 times worse.</a:t>
            </a:r>
          </a:p>
        </p:txBody>
      </p:sp>
      <p:graphicFrame>
        <p:nvGraphicFramePr>
          <p:cNvPr id="11" name="Table 10"/>
          <p:cNvGraphicFramePr>
            <a:graphicFrameLocks noGrp="1"/>
          </p:cNvGraphicFramePr>
          <p:nvPr/>
        </p:nvGraphicFramePr>
        <p:xfrm>
          <a:off x="640080" y="4251960"/>
          <a:ext cx="10908792" cy="1463040"/>
        </p:xfrm>
        <a:graphic>
          <a:graphicData uri="http://schemas.openxmlformats.org/drawingml/2006/table">
            <a:tbl>
              <a:tblPr firstRow="1" bandRow="1">
                <a:tableStyleId>{5C22544A-7EE6-4342-B048-85BDC9FD1C3A}</a:tableStyleId>
              </a:tblPr>
              <a:tblGrid>
                <a:gridCol w="4023360"/>
                <a:gridCol w="1325880"/>
                <a:gridCol w="1325880"/>
                <a:gridCol w="1325880"/>
                <a:gridCol w="1325880"/>
                <a:gridCol w="1581912"/>
              </a:tblGrid>
              <a:tr h="365760">
                <a:tc>
                  <a:txBody>
                    <a:bodyPr/>
                    <a:lstStyle/>
                    <a:p>
                      <a:r>
                        <a:rPr sz="1100" b="1">
                          <a:solidFill>
                            <a:srgbClr val="FFFFFF"/>
                          </a:solidFill>
                          <a:latin typeface="Calibri"/>
                        </a:rPr>
                        <a:t>Condition</a:t>
                      </a:r>
                    </a:p>
                  </a:txBody>
                  <a:tcPr anchor="ctr">
                    <a:solidFill>
                      <a:srgbClr val="12263A"/>
                    </a:solidFill>
                  </a:tcPr>
                </a:tc>
                <a:tc>
                  <a:txBody>
                    <a:bodyPr/>
                    <a:lstStyle/>
                    <a:p>
                      <a:r>
                        <a:rPr sz="1100" b="1">
                          <a:solidFill>
                            <a:srgbClr val="FFFFFF"/>
                          </a:solidFill>
                          <a:latin typeface="Calibri"/>
                        </a:rPr>
                        <a:t>York Urban</a:t>
                      </a:r>
                    </a:p>
                  </a:txBody>
                  <a:tcPr anchor="ctr">
                    <a:solidFill>
                      <a:srgbClr val="12263A"/>
                    </a:solidFill>
                  </a:tcPr>
                </a:tc>
                <a:tc>
                  <a:txBody>
                    <a:bodyPr/>
                    <a:lstStyle/>
                    <a:p>
                      <a:r>
                        <a:rPr sz="1100" b="1">
                          <a:solidFill>
                            <a:srgbClr val="FFFFFF"/>
                          </a:solidFill>
                          <a:latin typeface="Calibri"/>
                        </a:rPr>
                        <a:t>Commons</a:t>
                      </a:r>
                    </a:p>
                  </a:txBody>
                  <a:tcPr anchor="ctr">
                    <a:solidFill>
                      <a:srgbClr val="12263A"/>
                    </a:solidFill>
                  </a:tcPr>
                </a:tc>
                <a:tc>
                  <a:txBody>
                    <a:bodyPr/>
                    <a:lstStyle/>
                    <a:p>
                      <a:r>
                        <a:rPr sz="1100" b="1">
                          <a:solidFill>
                            <a:srgbClr val="FFFFFF"/>
                          </a:solidFill>
                          <a:latin typeface="Calibri"/>
                        </a:rPr>
                        <a:t>SD 1.5</a:t>
                      </a:r>
                    </a:p>
                  </a:txBody>
                  <a:tcPr anchor="ctr">
                    <a:solidFill>
                      <a:srgbClr val="12263A"/>
                    </a:solidFill>
                  </a:tcPr>
                </a:tc>
                <a:tc>
                  <a:txBody>
                    <a:bodyPr/>
                    <a:lstStyle/>
                    <a:p>
                      <a:r>
                        <a:rPr sz="1100" b="1">
                          <a:solidFill>
                            <a:srgbClr val="FFFFFF"/>
                          </a:solidFill>
                          <a:latin typeface="Calibri"/>
                        </a:rPr>
                        <a:t>SDXL</a:t>
                      </a:r>
                    </a:p>
                  </a:txBody>
                  <a:tcPr anchor="ctr">
                    <a:solidFill>
                      <a:srgbClr val="12263A"/>
                    </a:solidFill>
                  </a:tcPr>
                </a:tc>
                <a:tc>
                  <a:txBody>
                    <a:bodyPr/>
                    <a:lstStyle/>
                    <a:p>
                      <a:r>
                        <a:rPr sz="1100" b="1">
                          <a:solidFill>
                            <a:srgbClr val="FFFFFF"/>
                          </a:solidFill>
                          <a:latin typeface="Calibri"/>
                        </a:rPr>
                        <a:t>Largest p vs real</a:t>
                      </a:r>
                    </a:p>
                  </a:txBody>
                  <a:tcPr anchor="ctr">
                    <a:solidFill>
                      <a:srgbClr val="12263A"/>
                    </a:solidFill>
                  </a:tcPr>
                </a:tc>
              </a:tr>
              <a:tr h="365760">
                <a:tc>
                  <a:txBody>
                    <a:bodyPr/>
                    <a:lstStyle/>
                    <a:p>
                      <a:r>
                        <a:rPr sz="1100">
                          <a:solidFill>
                            <a:srgbClr val="1A1A1A"/>
                          </a:solidFill>
                          <a:latin typeface="Calibri"/>
                        </a:rPr>
                        <a:t>As published</a:t>
                      </a:r>
                    </a:p>
                  </a:txBody>
                  <a:tcPr anchor="ctr">
                    <a:solidFill>
                      <a:srgbClr val="FFFFFF"/>
                    </a:solidFill>
                  </a:tcPr>
                </a:tc>
                <a:tc>
                  <a:txBody>
                    <a:bodyPr/>
                    <a:lstStyle/>
                    <a:p>
                      <a:r>
                        <a:rPr sz="1100">
                          <a:solidFill>
                            <a:srgbClr val="1A1A1A"/>
                          </a:solidFill>
                          <a:latin typeface="Calibri"/>
                        </a:rPr>
                        <a:t>0.142</a:t>
                      </a:r>
                    </a:p>
                  </a:txBody>
                  <a:tcPr anchor="ctr">
                    <a:solidFill>
                      <a:srgbClr val="FFFFFF"/>
                    </a:solidFill>
                  </a:tcPr>
                </a:tc>
                <a:tc>
                  <a:txBody>
                    <a:bodyPr/>
                    <a:lstStyle/>
                    <a:p>
                      <a:r>
                        <a:rPr sz="1100">
                          <a:solidFill>
                            <a:srgbClr val="1A1A1A"/>
                          </a:solidFill>
                          <a:latin typeface="Calibri"/>
                        </a:rPr>
                        <a:t>0.152</a:t>
                      </a:r>
                    </a:p>
                  </a:txBody>
                  <a:tcPr anchor="ctr">
                    <a:solidFill>
                      <a:srgbClr val="FFFFFF"/>
                    </a:solidFill>
                  </a:tcPr>
                </a:tc>
                <a:tc>
                  <a:txBody>
                    <a:bodyPr/>
                    <a:lstStyle/>
                    <a:p>
                      <a:r>
                        <a:rPr sz="1100">
                          <a:solidFill>
                            <a:srgbClr val="1A1A1A"/>
                          </a:solidFill>
                          <a:latin typeface="Calibri"/>
                        </a:rPr>
                        <a:t>0.465</a:t>
                      </a:r>
                    </a:p>
                  </a:txBody>
                  <a:tcPr anchor="ctr">
                    <a:solidFill>
                      <a:srgbClr val="FFFFFF"/>
                    </a:solidFill>
                  </a:tcPr>
                </a:tc>
                <a:tc>
                  <a:txBody>
                    <a:bodyPr/>
                    <a:lstStyle/>
                    <a:p>
                      <a:r>
                        <a:rPr sz="1100">
                          <a:solidFill>
                            <a:srgbClr val="1A1A1A"/>
                          </a:solidFill>
                          <a:latin typeface="Calibri"/>
                        </a:rPr>
                        <a:t>0.355</a:t>
                      </a:r>
                    </a:p>
                  </a:txBody>
                  <a:tcPr anchor="ctr">
                    <a:solidFill>
                      <a:srgbClr val="FFFFFF"/>
                    </a:solidFill>
                  </a:tcPr>
                </a:tc>
                <a:tc>
                  <a:txBody>
                    <a:bodyPr/>
                    <a:lstStyle/>
                    <a:p>
                      <a:r>
                        <a:rPr sz="1100">
                          <a:solidFill>
                            <a:srgbClr val="1A1A1A"/>
                          </a:solidFill>
                          <a:latin typeface="Calibri"/>
                        </a:rPr>
                        <a:t>0.0001</a:t>
                      </a:r>
                    </a:p>
                  </a:txBody>
                  <a:tcPr anchor="ctr">
                    <a:solidFill>
                      <a:srgbClr val="FFFFFF"/>
                    </a:solidFill>
                  </a:tcPr>
                </a:tc>
              </a:tr>
              <a:tr h="365760">
                <a:tc>
                  <a:txBody>
                    <a:bodyPr/>
                    <a:lstStyle/>
                    <a:p>
                      <a:r>
                        <a:rPr sz="1100">
                          <a:solidFill>
                            <a:srgbClr val="1A1A1A"/>
                          </a:solidFill>
                          <a:latin typeface="Calibri"/>
                        </a:rPr>
                        <a:t>Vertical point ≥ 1 image height from centre</a:t>
                      </a:r>
                    </a:p>
                  </a:txBody>
                  <a:tcPr anchor="ctr">
                    <a:solidFill>
                      <a:srgbClr val="F4F6F8"/>
                    </a:solidFill>
                  </a:tcPr>
                </a:tc>
                <a:tc>
                  <a:txBody>
                    <a:bodyPr/>
                    <a:lstStyle/>
                    <a:p>
                      <a:r>
                        <a:rPr sz="1100">
                          <a:solidFill>
                            <a:srgbClr val="1A1A1A"/>
                          </a:solidFill>
                          <a:latin typeface="Calibri"/>
                        </a:rPr>
                        <a:t>0.142</a:t>
                      </a:r>
                    </a:p>
                  </a:txBody>
                  <a:tcPr anchor="ctr">
                    <a:solidFill>
                      <a:srgbClr val="F4F6F8"/>
                    </a:solidFill>
                  </a:tcPr>
                </a:tc>
                <a:tc>
                  <a:txBody>
                    <a:bodyPr/>
                    <a:lstStyle/>
                    <a:p>
                      <a:r>
                        <a:rPr sz="1100">
                          <a:solidFill>
                            <a:srgbClr val="1A1A1A"/>
                          </a:solidFill>
                          <a:latin typeface="Calibri"/>
                        </a:rPr>
                        <a:t>0.149</a:t>
                      </a:r>
                    </a:p>
                  </a:txBody>
                  <a:tcPr anchor="ctr">
                    <a:solidFill>
                      <a:srgbClr val="F4F6F8"/>
                    </a:solidFill>
                  </a:tcPr>
                </a:tc>
                <a:tc>
                  <a:txBody>
                    <a:bodyPr/>
                    <a:lstStyle/>
                    <a:p>
                      <a:r>
                        <a:rPr sz="1100">
                          <a:solidFill>
                            <a:srgbClr val="1A1A1A"/>
                          </a:solidFill>
                          <a:latin typeface="Calibri"/>
                        </a:rPr>
                        <a:t>0.465</a:t>
                      </a:r>
                    </a:p>
                  </a:txBody>
                  <a:tcPr anchor="ctr">
                    <a:solidFill>
                      <a:srgbClr val="F4F6F8"/>
                    </a:solidFill>
                  </a:tcPr>
                </a:tc>
                <a:tc>
                  <a:txBody>
                    <a:bodyPr/>
                    <a:lstStyle/>
                    <a:p>
                      <a:r>
                        <a:rPr sz="1100">
                          <a:solidFill>
                            <a:srgbClr val="1A1A1A"/>
                          </a:solidFill>
                          <a:latin typeface="Calibri"/>
                        </a:rPr>
                        <a:t>0.355</a:t>
                      </a:r>
                    </a:p>
                  </a:txBody>
                  <a:tcPr anchor="ctr">
                    <a:solidFill>
                      <a:srgbClr val="F4F6F8"/>
                    </a:solidFill>
                  </a:tcPr>
                </a:tc>
                <a:tc>
                  <a:txBody>
                    <a:bodyPr/>
                    <a:lstStyle/>
                    <a:p>
                      <a:r>
                        <a:rPr sz="1100">
                          <a:solidFill>
                            <a:srgbClr val="1A1A1A"/>
                          </a:solidFill>
                          <a:latin typeface="Calibri"/>
                        </a:rPr>
                        <a:t>0.0001</a:t>
                      </a:r>
                    </a:p>
                  </a:txBody>
                  <a:tcPr anchor="ctr">
                    <a:solidFill>
                      <a:srgbClr val="F4F6F8"/>
                    </a:solidFill>
                  </a:tcPr>
                </a:tc>
              </a:tr>
              <a:tr h="365760">
                <a:tc>
                  <a:txBody>
                    <a:bodyPr/>
                    <a:lstStyle/>
                    <a:p>
                      <a:r>
                        <a:rPr sz="1100">
                          <a:solidFill>
                            <a:srgbClr val="1A1A1A"/>
                          </a:solidFill>
                          <a:latin typeface="Calibri"/>
                        </a:rPr>
                        <a:t>Clearly tilted cameras only</a:t>
                      </a:r>
                    </a:p>
                  </a:txBody>
                  <a:tcPr anchor="ctr">
                    <a:solidFill>
                      <a:srgbClr val="FFFFFF"/>
                    </a:solidFill>
                  </a:tcPr>
                </a:tc>
                <a:tc>
                  <a:txBody>
                    <a:bodyPr/>
                    <a:lstStyle/>
                    <a:p>
                      <a:r>
                        <a:rPr sz="1100">
                          <a:solidFill>
                            <a:srgbClr val="1A1A1A"/>
                          </a:solidFill>
                          <a:latin typeface="Calibri"/>
                        </a:rPr>
                        <a:t>0.135</a:t>
                      </a:r>
                    </a:p>
                  </a:txBody>
                  <a:tcPr anchor="ctr">
                    <a:solidFill>
                      <a:srgbClr val="FFFFFF"/>
                    </a:solidFill>
                  </a:tcPr>
                </a:tc>
                <a:tc>
                  <a:txBody>
                    <a:bodyPr/>
                    <a:lstStyle/>
                    <a:p>
                      <a:r>
                        <a:rPr sz="1100">
                          <a:solidFill>
                            <a:srgbClr val="1A1A1A"/>
                          </a:solidFill>
                          <a:latin typeface="Calibri"/>
                        </a:rPr>
                        <a:t>0.135</a:t>
                      </a:r>
                    </a:p>
                  </a:txBody>
                  <a:tcPr anchor="ctr">
                    <a:solidFill>
                      <a:srgbClr val="FFFFFF"/>
                    </a:solidFill>
                  </a:tcPr>
                </a:tc>
                <a:tc>
                  <a:txBody>
                    <a:bodyPr/>
                    <a:lstStyle/>
                    <a:p>
                      <a:r>
                        <a:rPr sz="1100">
                          <a:solidFill>
                            <a:srgbClr val="1A1A1A"/>
                          </a:solidFill>
                          <a:latin typeface="Calibri"/>
                        </a:rPr>
                        <a:t>0.423</a:t>
                      </a:r>
                    </a:p>
                  </a:txBody>
                  <a:tcPr anchor="ctr">
                    <a:solidFill>
                      <a:srgbClr val="FFFFFF"/>
                    </a:solidFill>
                  </a:tcPr>
                </a:tc>
                <a:tc>
                  <a:txBody>
                    <a:bodyPr/>
                    <a:lstStyle/>
                    <a:p>
                      <a:r>
                        <a:rPr sz="1100">
                          <a:solidFill>
                            <a:srgbClr val="1A1A1A"/>
                          </a:solidFill>
                          <a:latin typeface="Calibri"/>
                        </a:rPr>
                        <a:t>0.285</a:t>
                      </a:r>
                    </a:p>
                  </a:txBody>
                  <a:tcPr anchor="ctr">
                    <a:solidFill>
                      <a:srgbClr val="FFFFFF"/>
                    </a:solidFill>
                  </a:tcPr>
                </a:tc>
                <a:tc>
                  <a:txBody>
                    <a:bodyPr/>
                    <a:lstStyle/>
                    <a:p>
                      <a:r>
                        <a:rPr sz="1100">
                          <a:solidFill>
                            <a:srgbClr val="1A1A1A"/>
                          </a:solidFill>
                          <a:latin typeface="Calibri"/>
                        </a:rPr>
                        <a:t>0.008</a:t>
                      </a:r>
                    </a:p>
                  </a:txBody>
                  <a:tcPr anchor="ctr">
                    <a:solidFill>
                      <a:srgbClr val="FFFFFF"/>
                    </a:solidFill>
                  </a:tcPr>
                </a:tc>
              </a:tr>
            </a:tbl>
          </a:graphicData>
        </a:graphic>
      </p:graphicFrame>
      <p:sp>
        <p:nvSpPr>
          <p:cNvPr id="12" name="TextBox 11"/>
          <p:cNvSpPr txBox="1"/>
          <p:nvPr/>
        </p:nvSpPr>
        <p:spPr>
          <a:xfrm>
            <a:off x="640080" y="5943600"/>
            <a:ext cx="10908792" cy="457200"/>
          </a:xfrm>
          <a:prstGeom prst="rect">
            <a:avLst/>
          </a:prstGeom>
          <a:noFill/>
        </p:spPr>
        <p:txBody>
          <a:bodyPr wrap="square" lIns="0" rIns="0" tIns="0" bIns="0" anchor="t">
            <a:spAutoFit/>
          </a:bodyPr>
          <a:lstStyle/>
          <a:p>
            <a:pPr algn="l">
              <a:spcAft>
                <a:spcPts val="600"/>
              </a:spcAft>
            </a:pPr>
            <a:r>
              <a:rPr sz="1400" b="1" i="1">
                <a:solidFill>
                  <a:srgbClr val="1C7293"/>
                </a:solidFill>
                <a:latin typeface="Calibri"/>
              </a:rPr>
              <a:t>Verdict: the main result survives both checks.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Results 6: Detection from Residuals Alone</a:t>
            </a:r>
          </a:p>
        </p:txBody>
      </p:sp>
      <p:sp>
        <p:nvSpPr>
          <p:cNvPr id="4" name="TextBox 3"/>
          <p:cNvSpPr txBox="1"/>
          <p:nvPr/>
        </p:nvSpPr>
        <p:spPr>
          <a:xfrm>
            <a:off x="640080" y="1207008"/>
            <a:ext cx="10911535" cy="411480"/>
          </a:xfrm>
          <a:prstGeom prst="rect">
            <a:avLst/>
          </a:prstGeom>
          <a:noFill/>
        </p:spPr>
        <p:txBody>
          <a:bodyPr wrap="square" lIns="0" rIns="0" tIns="0" bIns="0" anchor="t">
            <a:spAutoFit/>
          </a:bodyPr>
          <a:lstStyle/>
          <a:p>
            <a:pPr algn="l">
              <a:spcAft>
                <a:spcPts val="600"/>
              </a:spcAft>
            </a:pPr>
            <a:r>
              <a:rPr sz="1400" b="0" i="1">
                <a:solidFill>
                  <a:srgbClr val="5A6672"/>
                </a:solidFill>
                <a:latin typeface="Calibri"/>
              </a:rPr>
              <a:t>Syllabus Unit 3 classifiers on the residuals, never on pixels</a:t>
            </a:r>
          </a:p>
        </p:txBody>
      </p:sp>
      <p:pic>
        <p:nvPicPr>
          <p:cNvPr id="5" name="Picture 4" descr="classifier_roc.png"/>
          <p:cNvPicPr>
            <a:picLocks noChangeAspect="1"/>
          </p:cNvPicPr>
          <p:nvPr/>
        </p:nvPicPr>
        <p:blipFill>
          <a:blip r:embed="rId2"/>
          <a:stretch>
            <a:fillRect/>
          </a:stretch>
        </p:blipFill>
        <p:spPr>
          <a:xfrm>
            <a:off x="640080" y="1874519"/>
            <a:ext cx="5852160" cy="2660073"/>
          </a:xfrm>
          <a:prstGeom prst="rect">
            <a:avLst/>
          </a:prstGeom>
        </p:spPr>
      </p:pic>
      <p:graphicFrame>
        <p:nvGraphicFramePr>
          <p:cNvPr id="6" name="Table 5"/>
          <p:cNvGraphicFramePr>
            <a:graphicFrameLocks noGrp="1"/>
          </p:cNvGraphicFramePr>
          <p:nvPr/>
        </p:nvGraphicFramePr>
        <p:xfrm>
          <a:off x="6858000" y="1828800"/>
          <a:ext cx="4690871" cy="2286000"/>
        </p:xfrm>
        <a:graphic>
          <a:graphicData uri="http://schemas.openxmlformats.org/drawingml/2006/table">
            <a:tbl>
              <a:tblPr firstRow="1" bandRow="1">
                <a:tableStyleId>{5C22544A-7EE6-4342-B048-85BDC9FD1C3A}</a:tableStyleId>
              </a:tblPr>
              <a:tblGrid>
                <a:gridCol w="2651760"/>
                <a:gridCol w="1005840"/>
                <a:gridCol w="1033271"/>
              </a:tblGrid>
              <a:tr h="457200">
                <a:tc>
                  <a:txBody>
                    <a:bodyPr/>
                    <a:lstStyle/>
                    <a:p>
                      <a:r>
                        <a:rPr sz="1200" b="1">
                          <a:solidFill>
                            <a:srgbClr val="FFFFFF"/>
                          </a:solidFill>
                          <a:latin typeface="Calibri"/>
                        </a:rPr>
                        <a:t>Task (best AUC)</a:t>
                      </a:r>
                    </a:p>
                  </a:txBody>
                  <a:tcPr anchor="ctr">
                    <a:solidFill>
                      <a:srgbClr val="12263A"/>
                    </a:solidFill>
                  </a:tcPr>
                </a:tc>
                <a:tc>
                  <a:txBody>
                    <a:bodyPr/>
                    <a:lstStyle/>
                    <a:p>
                      <a:r>
                        <a:rPr sz="1200" b="1">
                          <a:solidFill>
                            <a:srgbClr val="FFFFFF"/>
                          </a:solidFill>
                          <a:latin typeface="Calibri"/>
                        </a:rPr>
                        <a:t>All</a:t>
                      </a:r>
                    </a:p>
                  </a:txBody>
                  <a:tcPr anchor="ctr">
                    <a:solidFill>
                      <a:srgbClr val="12263A"/>
                    </a:solidFill>
                  </a:tcPr>
                </a:tc>
                <a:tc>
                  <a:txBody>
                    <a:bodyPr/>
                    <a:lstStyle/>
                    <a:p>
                      <a:r>
                        <a:rPr sz="1200" b="1">
                          <a:solidFill>
                            <a:srgbClr val="FFFFFF"/>
                          </a:solidFill>
                          <a:latin typeface="Calibri"/>
                        </a:rPr>
                        <a:t>Admitted</a:t>
                      </a:r>
                    </a:p>
                  </a:txBody>
                  <a:tcPr anchor="ctr">
                    <a:solidFill>
                      <a:srgbClr val="12263A"/>
                    </a:solidFill>
                  </a:tcPr>
                </a:tc>
              </a:tr>
              <a:tr h="457200">
                <a:tc>
                  <a:txBody>
                    <a:bodyPr/>
                    <a:lstStyle/>
                    <a:p>
                      <a:r>
                        <a:rPr sz="1200">
                          <a:solidFill>
                            <a:srgbClr val="1A1A1A"/>
                          </a:solidFill>
                          <a:latin typeface="Calibri"/>
                        </a:rPr>
                        <a:t>York Urban vs SDXL</a:t>
                      </a:r>
                    </a:p>
                  </a:txBody>
                  <a:tcPr anchor="ctr">
                    <a:solidFill>
                      <a:srgbClr val="FFFFFF"/>
                    </a:solidFill>
                  </a:tcPr>
                </a:tc>
                <a:tc>
                  <a:txBody>
                    <a:bodyPr/>
                    <a:lstStyle/>
                    <a:p>
                      <a:r>
                        <a:rPr sz="1200">
                          <a:solidFill>
                            <a:srgbClr val="1A1A1A"/>
                          </a:solidFill>
                          <a:latin typeface="Calibri"/>
                        </a:rPr>
                        <a:t>0.875</a:t>
                      </a:r>
                    </a:p>
                  </a:txBody>
                  <a:tcPr anchor="ctr">
                    <a:solidFill>
                      <a:srgbClr val="FFFFFF"/>
                    </a:solidFill>
                  </a:tcPr>
                </a:tc>
                <a:tc>
                  <a:txBody>
                    <a:bodyPr/>
                    <a:lstStyle/>
                    <a:p>
                      <a:r>
                        <a:rPr sz="1200">
                          <a:solidFill>
                            <a:srgbClr val="1A1A1A"/>
                          </a:solidFill>
                          <a:latin typeface="Calibri"/>
                        </a:rPr>
                        <a:t>0.903</a:t>
                      </a:r>
                    </a:p>
                  </a:txBody>
                  <a:tcPr anchor="ctr">
                    <a:solidFill>
                      <a:srgbClr val="FFFFFF"/>
                    </a:solidFill>
                  </a:tcPr>
                </a:tc>
              </a:tr>
              <a:tr h="457200">
                <a:tc>
                  <a:txBody>
                    <a:bodyPr/>
                    <a:lstStyle/>
                    <a:p>
                      <a:r>
                        <a:rPr sz="1200">
                          <a:solidFill>
                            <a:srgbClr val="1A1A1A"/>
                          </a:solidFill>
                          <a:latin typeface="Calibri"/>
                        </a:rPr>
                        <a:t>York Urban vs SD 1.5</a:t>
                      </a:r>
                    </a:p>
                  </a:txBody>
                  <a:tcPr anchor="ctr">
                    <a:solidFill>
                      <a:srgbClr val="F4F6F8"/>
                    </a:solidFill>
                  </a:tcPr>
                </a:tc>
                <a:tc>
                  <a:txBody>
                    <a:bodyPr/>
                    <a:lstStyle/>
                    <a:p>
                      <a:r>
                        <a:rPr sz="1200">
                          <a:solidFill>
                            <a:srgbClr val="1A1A1A"/>
                          </a:solidFill>
                          <a:latin typeface="Calibri"/>
                        </a:rPr>
                        <a:t>0.919</a:t>
                      </a:r>
                    </a:p>
                  </a:txBody>
                  <a:tcPr anchor="ctr">
                    <a:solidFill>
                      <a:srgbClr val="F4F6F8"/>
                    </a:solidFill>
                  </a:tcPr>
                </a:tc>
                <a:tc>
                  <a:txBody>
                    <a:bodyPr/>
                    <a:lstStyle/>
                    <a:p>
                      <a:r>
                        <a:rPr sz="1200">
                          <a:solidFill>
                            <a:srgbClr val="1A1A1A"/>
                          </a:solidFill>
                          <a:latin typeface="Calibri"/>
                        </a:rPr>
                        <a:t>0.926</a:t>
                      </a:r>
                    </a:p>
                  </a:txBody>
                  <a:tcPr anchor="ctr">
                    <a:solidFill>
                      <a:srgbClr val="F4F6F8"/>
                    </a:solidFill>
                  </a:tcPr>
                </a:tc>
              </a:tr>
              <a:tr h="457200">
                <a:tc>
                  <a:txBody>
                    <a:bodyPr/>
                    <a:lstStyle/>
                    <a:p>
                      <a:r>
                        <a:rPr sz="1200">
                          <a:solidFill>
                            <a:srgbClr val="1A1A1A"/>
                          </a:solidFill>
                          <a:latin typeface="Calibri"/>
                        </a:rPr>
                        <a:t>Commons vs SDXL</a:t>
                      </a:r>
                    </a:p>
                  </a:txBody>
                  <a:tcPr anchor="ctr">
                    <a:solidFill>
                      <a:srgbClr val="FFFFFF"/>
                    </a:solidFill>
                  </a:tcPr>
                </a:tc>
                <a:tc>
                  <a:txBody>
                    <a:bodyPr/>
                    <a:lstStyle/>
                    <a:p>
                      <a:r>
                        <a:rPr sz="1200">
                          <a:solidFill>
                            <a:srgbClr val="1A1A1A"/>
                          </a:solidFill>
                          <a:latin typeface="Calibri"/>
                        </a:rPr>
                        <a:t>0.807</a:t>
                      </a:r>
                    </a:p>
                  </a:txBody>
                  <a:tcPr anchor="ctr">
                    <a:solidFill>
                      <a:srgbClr val="FFFFFF"/>
                    </a:solidFill>
                  </a:tcPr>
                </a:tc>
                <a:tc>
                  <a:txBody>
                    <a:bodyPr/>
                    <a:lstStyle/>
                    <a:p>
                      <a:r>
                        <a:rPr sz="1200">
                          <a:solidFill>
                            <a:srgbClr val="1A1A1A"/>
                          </a:solidFill>
                          <a:latin typeface="Calibri"/>
                        </a:rPr>
                        <a:t>0.808</a:t>
                      </a:r>
                    </a:p>
                  </a:txBody>
                  <a:tcPr anchor="ctr">
                    <a:solidFill>
                      <a:srgbClr val="FFFFFF"/>
                    </a:solidFill>
                  </a:tcPr>
                </a:tc>
              </a:tr>
              <a:tr h="457200">
                <a:tc>
                  <a:txBody>
                    <a:bodyPr/>
                    <a:lstStyle/>
                    <a:p>
                      <a:r>
                        <a:rPr sz="1200">
                          <a:solidFill>
                            <a:srgbClr val="1A1A1A"/>
                          </a:solidFill>
                          <a:latin typeface="Calibri"/>
                        </a:rPr>
                        <a:t>Field of view matched</a:t>
                      </a:r>
                    </a:p>
                  </a:txBody>
                  <a:tcPr anchor="ctr">
                    <a:solidFill>
                      <a:srgbClr val="F4F6F8"/>
                    </a:solidFill>
                  </a:tcPr>
                </a:tc>
                <a:tc>
                  <a:txBody>
                    <a:bodyPr/>
                    <a:lstStyle/>
                    <a:p>
                      <a:r>
                        <a:rPr sz="1200">
                          <a:solidFill>
                            <a:srgbClr val="1A1A1A"/>
                          </a:solidFill>
                          <a:latin typeface="Calibri"/>
                        </a:rPr>
                        <a:t>0.814</a:t>
                      </a:r>
                    </a:p>
                  </a:txBody>
                  <a:tcPr anchor="ctr">
                    <a:solidFill>
                      <a:srgbClr val="F4F6F8"/>
                    </a:solidFill>
                  </a:tcPr>
                </a:tc>
                <a:tc>
                  <a:txBody>
                    <a:bodyPr/>
                    <a:lstStyle/>
                    <a:p>
                      <a:r>
                        <a:rPr sz="1200">
                          <a:solidFill>
                            <a:srgbClr val="1A1A1A"/>
                          </a:solidFill>
                          <a:latin typeface="Calibri"/>
                        </a:rPr>
                        <a:t>0.863</a:t>
                      </a:r>
                    </a:p>
                  </a:txBody>
                  <a:tcPr anchor="ctr">
                    <a:solidFill>
                      <a:srgbClr val="F4F6F8"/>
                    </a:solidFill>
                  </a:tcPr>
                </a:tc>
              </a:tr>
            </a:tbl>
          </a:graphicData>
        </a:graphic>
      </p:graphicFrame>
      <p:sp>
        <p:nvSpPr>
          <p:cNvPr id="7" name="Rounded Rectangle 6"/>
          <p:cNvSpPr/>
          <p:nvPr/>
        </p:nvSpPr>
        <p:spPr>
          <a:xfrm>
            <a:off x="6858000" y="4343400"/>
            <a:ext cx="4690872" cy="192024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0" y="4498848"/>
            <a:ext cx="4114800" cy="1645920"/>
          </a:xfrm>
          <a:prstGeom prst="rect">
            <a:avLst/>
          </a:prstGeom>
          <a:noFill/>
        </p:spPr>
        <p:txBody>
          <a:bodyPr wrap="square" lIns="0" rIns="0" tIns="0" bIns="0" anchor="t">
            <a:spAutoFit/>
          </a:bodyPr>
          <a:lstStyle/>
          <a:p>
            <a:pPr algn="l">
              <a:spcAft>
                <a:spcPts val="300"/>
              </a:spcAft>
            </a:pPr>
            <a:r>
              <a:rPr sz="1200" b="0" i="0">
                <a:solidFill>
                  <a:srgbClr val="1A1A1A"/>
                </a:solidFill>
                <a:latin typeface="Calibri"/>
              </a:rPr>
              <a:t>Sarkar et al. report 0.88 to 0.94 with LEARNED features. Readable residuals reach the same band.</a:t>
            </a:r>
          </a:p>
          <a:p>
            <a:pPr algn="l">
              <a:spcAft>
                <a:spcPts val="300"/>
              </a:spcAft>
            </a:pPr>
            <a:r>
              <a:rPr sz="1200" b="0" i="0">
                <a:solidFill>
                  <a:srgbClr val="1A1A1A"/>
                </a:solidFill>
                <a:latin typeface="Calibri"/>
              </a:rPr>
              <a:t/>
            </a:r>
          </a:p>
          <a:p>
            <a:pPr algn="l">
              <a:spcAft>
                <a:spcPts val="300"/>
              </a:spcAft>
            </a:pPr>
            <a:r>
              <a:rPr sz="1200" b="0" i="0">
                <a:solidFill>
                  <a:srgbClr val="1A1A1A"/>
                </a:solidFill>
                <a:latin typeface="Calibri"/>
              </a:rPr>
              <a:t>Top feature: the orthocentre offset, i.e. where the lens centre sits. Invalid focal features were removed; AUC moved by at most 0.04.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Results 7: The Newest Models</a:t>
            </a:r>
          </a:p>
        </p:txBody>
      </p:sp>
      <p:sp>
        <p:nvSpPr>
          <p:cNvPr id="4" name="TextBox 3"/>
          <p:cNvSpPr txBox="1"/>
          <p:nvPr/>
        </p:nvSpPr>
        <p:spPr>
          <a:xfrm>
            <a:off x="640080" y="1207008"/>
            <a:ext cx="10911535" cy="411480"/>
          </a:xfrm>
          <a:prstGeom prst="rect">
            <a:avLst/>
          </a:prstGeom>
          <a:noFill/>
        </p:spPr>
        <p:txBody>
          <a:bodyPr wrap="square" lIns="0" rIns="0" tIns="0" bIns="0" anchor="t">
            <a:spAutoFit/>
          </a:bodyPr>
          <a:lstStyle/>
          <a:p>
            <a:pPr algn="l">
              <a:spcAft>
                <a:spcPts val="600"/>
              </a:spcAft>
            </a:pPr>
            <a:r>
              <a:rPr sz="1400" b="0" i="1">
                <a:solidFill>
                  <a:srgbClr val="5A6672"/>
                </a:solidFill>
                <a:latin typeface="Calibri"/>
              </a:rPr>
              <a:t>Gemini and ChatGPT on the same prompts as SD 1.5 and SDXL</a:t>
            </a:r>
          </a:p>
        </p:txBody>
      </p:sp>
      <p:pic>
        <p:nvPicPr>
          <p:cNvPr id="5" name="Picture 4" descr="frontier_dots_slide.png"/>
          <p:cNvPicPr>
            <a:picLocks noChangeAspect="1"/>
          </p:cNvPicPr>
          <p:nvPr/>
        </p:nvPicPr>
        <p:blipFill>
          <a:blip r:embed="rId2"/>
          <a:stretch>
            <a:fillRect/>
          </a:stretch>
        </p:blipFill>
        <p:spPr>
          <a:xfrm>
            <a:off x="640080" y="1737360"/>
            <a:ext cx="5446871" cy="3703320"/>
          </a:xfrm>
          <a:prstGeom prst="rect">
            <a:avLst/>
          </a:prstGeom>
        </p:spPr>
      </p:pic>
      <p:sp>
        <p:nvSpPr>
          <p:cNvPr id="6" name="Rounded Rectangle 5"/>
          <p:cNvSpPr/>
          <p:nvPr/>
        </p:nvSpPr>
        <p:spPr>
          <a:xfrm>
            <a:off x="6263640" y="1783080"/>
            <a:ext cx="5285232" cy="36576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1965960"/>
            <a:ext cx="4754880" cy="365760"/>
          </a:xfrm>
          <a:prstGeom prst="rect">
            <a:avLst/>
          </a:prstGeom>
          <a:noFill/>
        </p:spPr>
        <p:txBody>
          <a:bodyPr wrap="square" lIns="0" rIns="0" tIns="0" bIns="0" anchor="t">
            <a:spAutoFit/>
          </a:bodyPr>
          <a:lstStyle/>
          <a:p>
            <a:pPr algn="l">
              <a:spcAft>
                <a:spcPts val="600"/>
              </a:spcAft>
            </a:pPr>
            <a:r>
              <a:rPr sz="1200" b="1" i="0">
                <a:solidFill>
                  <a:srgbClr val="12263A"/>
                </a:solidFill>
                <a:latin typeface="Calibri"/>
              </a:rPr>
              <a:t>WHAT IT SHOWS</a:t>
            </a:r>
          </a:p>
        </p:txBody>
      </p:sp>
      <p:sp>
        <p:nvSpPr>
          <p:cNvPr id="8" name="TextBox 7"/>
          <p:cNvSpPr txBox="1"/>
          <p:nvPr/>
        </p:nvSpPr>
        <p:spPr>
          <a:xfrm>
            <a:off x="6537960" y="2377440"/>
            <a:ext cx="4754880" cy="3017520"/>
          </a:xfrm>
          <a:prstGeom prst="rect">
            <a:avLst/>
          </a:prstGeom>
          <a:noFill/>
        </p:spPr>
        <p:txBody>
          <a:bodyPr wrap="square" lIns="0" rIns="0" tIns="0" bIns="0">
            <a:spAutoFit/>
          </a:bodyPr>
          <a:lstStyle/>
          <a:p>
            <a:pPr>
              <a:spcAft>
                <a:spcPts val="1000"/>
              </a:spcAft>
            </a:pPr>
            <a:r>
              <a:rPr sz="1400" b="1">
                <a:solidFill>
                  <a:srgbClr val="1A1A1A"/>
                </a:solidFill>
                <a:latin typeface="Calibri"/>
              </a:rPr>
              <a:t>•  Both still fail: p ≈ 0.015 against both real sets</a:t>
            </a:r>
          </a:p>
          <a:p>
            <a:pPr>
              <a:spcAft>
                <a:spcPts val="1000"/>
              </a:spcAft>
            </a:pPr>
            <a:r>
              <a:rPr sz="1400" b="0">
                <a:solidFill>
                  <a:srgbClr val="1A1A1A"/>
                </a:solidFill>
                <a:latin typeface="Calibri"/>
              </a:rPr>
              <a:t>•  Not yet shown to be better than SD 1.5 or SDXL (p = 0.14 to 0.26)</a:t>
            </a:r>
          </a:p>
          <a:p>
            <a:pPr>
              <a:spcAft>
                <a:spcPts val="1000"/>
              </a:spcAft>
            </a:pPr>
            <a:r>
              <a:rPr sz="1400" b="0">
                <a:solidFill>
                  <a:srgbClr val="1A1A1A"/>
                </a:solidFill>
                <a:latin typeface="Calibri"/>
              </a:rPr>
              <a:t>•  Small samples: 31 and 29 usable images</a:t>
            </a:r>
          </a:p>
          <a:p>
            <a:pPr>
              <a:spcAft>
                <a:spcPts val="1000"/>
              </a:spcAft>
            </a:pPr>
            <a:r>
              <a:rPr sz="1400" b="0">
                <a:solidFill>
                  <a:srgbClr val="1A1A1A"/>
                </a:solidFill>
                <a:latin typeface="Calibri"/>
              </a:rPr>
              <a:t>•  ChatGPT's impossible-pair rate (39%) looks real; its focal spread does not</a:t>
            </a:r>
          </a:p>
        </p:txBody>
      </p:sp>
      <p:sp>
        <p:nvSpPr>
          <p:cNvPr id="9" name="Rounded Rectangle 8"/>
          <p:cNvSpPr/>
          <p:nvPr/>
        </p:nvSpPr>
        <p:spPr>
          <a:xfrm>
            <a:off x="640080" y="5577840"/>
            <a:ext cx="10908792" cy="868680"/>
          </a:xfrm>
          <a:prstGeom prst="roundRect">
            <a:avLst>
              <a:gd name="adj" fmla="val 6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733288"/>
            <a:ext cx="10332720" cy="594360"/>
          </a:xfrm>
          <a:prstGeom prst="rect">
            <a:avLst/>
          </a:prstGeom>
          <a:noFill/>
        </p:spPr>
        <p:txBody>
          <a:bodyPr wrap="square" lIns="0" rIns="0" tIns="0" bIns="0" anchor="t">
            <a:spAutoFit/>
          </a:bodyPr>
          <a:lstStyle/>
          <a:p>
            <a:pPr algn="l">
              <a:spcAft>
                <a:spcPts val="600"/>
              </a:spcAft>
            </a:pPr>
            <a:r>
              <a:rPr sz="1500" b="1" i="0">
                <a:solidFill>
                  <a:srgbClr val="FFFFFF"/>
                </a:solidFill>
                <a:latin typeface="Calibri"/>
              </a:rPr>
              <a:t>The 2026 claim that the geometric giveaway has disappeared does not hold on this measure.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Demonstration: One Camera or Not?</a:t>
            </a:r>
          </a:p>
        </p:txBody>
      </p:sp>
      <p:sp>
        <p:nvSpPr>
          <p:cNvPr id="4" name="TextBox 3"/>
          <p:cNvSpPr txBox="1"/>
          <p:nvPr/>
        </p:nvSpPr>
        <p:spPr>
          <a:xfrm>
            <a:off x="640080" y="1207008"/>
            <a:ext cx="10911535" cy="411480"/>
          </a:xfrm>
          <a:prstGeom prst="rect">
            <a:avLst/>
          </a:prstGeom>
          <a:noFill/>
        </p:spPr>
        <p:txBody>
          <a:bodyPr wrap="square" lIns="0" rIns="0" tIns="0" bIns="0" anchor="t">
            <a:spAutoFit/>
          </a:bodyPr>
          <a:lstStyle/>
          <a:p>
            <a:pPr algn="l">
              <a:spcAft>
                <a:spcPts val="600"/>
              </a:spcAft>
            </a:pPr>
            <a:r>
              <a:rPr sz="1400" b="0" i="1">
                <a:solidFill>
                  <a:srgbClr val="5A6672"/>
                </a:solidFill>
                <a:latin typeface="Calibri"/>
              </a:rPr>
              <a:t>Live app: any image in, a measured and explained answer out</a:t>
            </a:r>
          </a:p>
        </p:txBody>
      </p:sp>
      <p:pic>
        <p:nvPicPr>
          <p:cNvPr id="5" name="Picture 4" descr="app_summary.png"/>
          <p:cNvPicPr>
            <a:picLocks noChangeAspect="1"/>
          </p:cNvPicPr>
          <p:nvPr/>
        </p:nvPicPr>
        <p:blipFill>
          <a:blip r:embed="rId2"/>
          <a:stretch>
            <a:fillRect/>
          </a:stretch>
        </p:blipFill>
        <p:spPr>
          <a:xfrm>
            <a:off x="640080" y="1737360"/>
            <a:ext cx="5760720" cy="1688487"/>
          </a:xfrm>
          <a:prstGeom prst="rect">
            <a:avLst/>
          </a:prstGeom>
        </p:spPr>
      </p:pic>
      <p:pic>
        <p:nvPicPr>
          <p:cNvPr id="6" name="Picture 5" descr="app_result_card.png"/>
          <p:cNvPicPr>
            <a:picLocks noChangeAspect="1"/>
          </p:cNvPicPr>
          <p:nvPr/>
        </p:nvPicPr>
        <p:blipFill>
          <a:blip r:embed="rId3"/>
          <a:stretch>
            <a:fillRect/>
          </a:stretch>
        </p:blipFill>
        <p:spPr>
          <a:xfrm>
            <a:off x="640080" y="3611880"/>
            <a:ext cx="5760720" cy="2458238"/>
          </a:xfrm>
          <a:prstGeom prst="rect">
            <a:avLst/>
          </a:prstGeom>
        </p:spPr>
      </p:pic>
      <p:sp>
        <p:nvSpPr>
          <p:cNvPr id="7" name="Rounded Rectangle 6"/>
          <p:cNvSpPr/>
          <p:nvPr/>
        </p:nvSpPr>
        <p:spPr>
          <a:xfrm>
            <a:off x="6629400" y="1737360"/>
            <a:ext cx="4919472" cy="470916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03720" y="1920240"/>
            <a:ext cx="4389120" cy="365760"/>
          </a:xfrm>
          <a:prstGeom prst="rect">
            <a:avLst/>
          </a:prstGeom>
          <a:noFill/>
        </p:spPr>
        <p:txBody>
          <a:bodyPr wrap="square" lIns="0" rIns="0" tIns="0" bIns="0" anchor="t">
            <a:spAutoFit/>
          </a:bodyPr>
          <a:lstStyle/>
          <a:p>
            <a:pPr algn="l">
              <a:spcAft>
                <a:spcPts val="600"/>
              </a:spcAft>
            </a:pPr>
            <a:r>
              <a:rPr sz="1200" b="1" i="0">
                <a:solidFill>
                  <a:srgbClr val="12263A"/>
                </a:solidFill>
                <a:latin typeface="Calibri"/>
              </a:rPr>
              <a:t>RUN</a:t>
            </a:r>
          </a:p>
        </p:txBody>
      </p:sp>
      <p:sp>
        <p:nvSpPr>
          <p:cNvPr id="9" name="TextBox 8"/>
          <p:cNvSpPr txBox="1"/>
          <p:nvPr/>
        </p:nvSpPr>
        <p:spPr>
          <a:xfrm>
            <a:off x="6903720" y="2286000"/>
            <a:ext cx="4389120" cy="548640"/>
          </a:xfrm>
          <a:prstGeom prst="rect">
            <a:avLst/>
          </a:prstGeom>
          <a:noFill/>
        </p:spPr>
        <p:txBody>
          <a:bodyPr wrap="square" lIns="0" rIns="0" tIns="0" bIns="0" anchor="t">
            <a:spAutoFit/>
          </a:bodyPr>
          <a:lstStyle/>
          <a:p>
            <a:pPr algn="l">
              <a:spcAft>
                <a:spcPts val="200"/>
              </a:spcAft>
            </a:pPr>
            <a:r>
              <a:rPr sz="1200" b="0" i="0">
                <a:solidFill>
                  <a:srgbClr val="1C7293"/>
                </a:solidFill>
                <a:latin typeface="Courier New"/>
              </a:rPr>
              <a:t>python -m streamlit run app/streamlit_app.py</a:t>
            </a:r>
          </a:p>
          <a:p>
            <a:pPr algn="l">
              <a:spcAft>
                <a:spcPts val="200"/>
              </a:spcAft>
            </a:pPr>
            <a:r>
              <a:rPr sz="1200" b="0" i="0">
                <a:solidFill>
                  <a:srgbClr val="1C7293"/>
                </a:solidFill>
                <a:latin typeface="Courier New"/>
              </a:rPr>
              <a:t>localhost:8501/?examples=all</a:t>
            </a:r>
          </a:p>
        </p:txBody>
      </p:sp>
      <p:sp>
        <p:nvSpPr>
          <p:cNvPr id="10" name="TextBox 9"/>
          <p:cNvSpPr txBox="1"/>
          <p:nvPr/>
        </p:nvSpPr>
        <p:spPr>
          <a:xfrm>
            <a:off x="6903720" y="2971800"/>
            <a:ext cx="4389120" cy="365760"/>
          </a:xfrm>
          <a:prstGeom prst="rect">
            <a:avLst/>
          </a:prstGeom>
          <a:noFill/>
        </p:spPr>
        <p:txBody>
          <a:bodyPr wrap="square" lIns="0" rIns="0" tIns="0" bIns="0" anchor="t">
            <a:spAutoFit/>
          </a:bodyPr>
          <a:lstStyle/>
          <a:p>
            <a:pPr algn="l">
              <a:spcAft>
                <a:spcPts val="600"/>
              </a:spcAft>
            </a:pPr>
            <a:r>
              <a:rPr sz="1200" b="1" i="0">
                <a:solidFill>
                  <a:srgbClr val="12263A"/>
                </a:solidFill>
                <a:latin typeface="Calibri"/>
              </a:rPr>
              <a:t>DEMO ORDER (3 MINUTES)</a:t>
            </a:r>
          </a:p>
        </p:txBody>
      </p:sp>
      <p:sp>
        <p:nvSpPr>
          <p:cNvPr id="11" name="TextBox 10"/>
          <p:cNvSpPr txBox="1"/>
          <p:nvPr/>
        </p:nvSpPr>
        <p:spPr>
          <a:xfrm>
            <a:off x="6903720" y="3337560"/>
            <a:ext cx="4389120" cy="2011680"/>
          </a:xfrm>
          <a:prstGeom prst="rect">
            <a:avLst/>
          </a:prstGeom>
          <a:noFill/>
        </p:spPr>
        <p:txBody>
          <a:bodyPr wrap="square" lIns="0" rIns="0" tIns="0" bIns="0">
            <a:spAutoFit/>
          </a:bodyPr>
          <a:lstStyle/>
          <a:p>
            <a:pPr>
              <a:spcAft>
                <a:spcPts val="400"/>
              </a:spcAft>
            </a:pPr>
            <a:r>
              <a:rPr sz="1250" b="0">
                <a:solidFill>
                  <a:srgbClr val="1A1A1A"/>
                </a:solidFill>
                <a:latin typeface="Calibri"/>
              </a:rPr>
              <a:t>•  Real corridor: 649 and 713 px vs a true 675 px</a:t>
            </a:r>
          </a:p>
          <a:p>
            <a:pPr>
              <a:spcAft>
                <a:spcPts val="400"/>
              </a:spcAft>
            </a:pPr>
            <a:r>
              <a:rPr sz="1250" b="0">
                <a:solidFill>
                  <a:srgbClr val="1A1A1A"/>
                </a:solidFill>
                <a:latin typeface="Calibri"/>
              </a:rPr>
              <a:t>•  Gemini classroom: directions disagree by 94%</a:t>
            </a:r>
          </a:p>
          <a:p>
            <a:pPr>
              <a:spcAft>
                <a:spcPts val="400"/>
              </a:spcAft>
            </a:pPr>
            <a:r>
              <a:rPr sz="1250" b="0">
                <a:solidFill>
                  <a:srgbClr val="1A1A1A"/>
                </a:solidFill>
                <a:latin typeface="Calibri"/>
              </a:rPr>
              <a:t>•  ChatGPT lecture hall: “unclear”, the hard case</a:t>
            </a:r>
          </a:p>
          <a:p>
            <a:pPr>
              <a:spcAft>
                <a:spcPts val="400"/>
              </a:spcAft>
            </a:pPr>
            <a:r>
              <a:rPr sz="1250" b="0">
                <a:solidFill>
                  <a:srgbClr val="1A1A1A"/>
                </a:solidFill>
                <a:latin typeface="Calibri"/>
              </a:rPr>
              <a:t>•  A Gemini image that fools it: a check, not proof</a:t>
            </a:r>
          </a:p>
          <a:p>
            <a:pPr>
              <a:spcAft>
                <a:spcPts val="400"/>
              </a:spcAft>
            </a:pPr>
            <a:r>
              <a:rPr sz="1250" b="0">
                <a:solidFill>
                  <a:srgbClr val="1A1A1A"/>
                </a:solidFill>
                <a:latin typeface="Calibri"/>
              </a:rPr>
              <a:t>•  An image it cannot measure, and why</a:t>
            </a:r>
          </a:p>
          <a:p>
            <a:pPr>
              <a:spcAft>
                <a:spcPts val="400"/>
              </a:spcAft>
            </a:pPr>
            <a:r>
              <a:rPr sz="1250" b="0">
                <a:solidFill>
                  <a:srgbClr val="1A1A1A"/>
                </a:solidFill>
                <a:latin typeface="Calibri"/>
              </a:rPr>
              <a:t>•  An image from the audience</a:t>
            </a:r>
          </a:p>
        </p:txBody>
      </p:sp>
      <p:sp>
        <p:nvSpPr>
          <p:cNvPr id="12" name="TextBox 11"/>
          <p:cNvSpPr txBox="1"/>
          <p:nvPr/>
        </p:nvSpPr>
        <p:spPr>
          <a:xfrm>
            <a:off x="6903720" y="5486400"/>
            <a:ext cx="4389120" cy="822960"/>
          </a:xfrm>
          <a:prstGeom prst="rect">
            <a:avLst/>
          </a:prstGeom>
          <a:noFill/>
        </p:spPr>
        <p:txBody>
          <a:bodyPr wrap="square" lIns="0" rIns="0" tIns="0" bIns="0" anchor="t">
            <a:spAutoFit/>
          </a:bodyPr>
          <a:lstStyle/>
          <a:p>
            <a:pPr algn="l">
              <a:spcAft>
                <a:spcPts val="600"/>
              </a:spcAft>
            </a:pPr>
            <a:r>
              <a:rPr sz="1200" b="0" i="1">
                <a:solidFill>
                  <a:srgbClr val="5A6672"/>
                </a:solidFill>
                <a:latin typeface="Calibri"/>
              </a:rPr>
              <a:t>Score: AUC 0.80, well calibrated. Flags 78% of AI images, clears 71% of real photos. Built-in examples were held out of training.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FFFFFF"/>
                </a:solidFill>
                <a:latin typeface="Cambria"/>
              </a:rPr>
              <a:t>Conclusion</a:t>
            </a:r>
          </a:p>
        </p:txBody>
      </p:sp>
      <p:sp>
        <p:nvSpPr>
          <p:cNvPr id="4" name="Oval 3"/>
          <p:cNvSpPr/>
          <p:nvPr/>
        </p:nvSpPr>
        <p:spPr>
          <a:xfrm>
            <a:off x="685800" y="1828800"/>
            <a:ext cx="256032" cy="25603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737360"/>
            <a:ext cx="10332720" cy="384048"/>
          </a:xfrm>
          <a:prstGeom prst="rect">
            <a:avLst/>
          </a:prstGeom>
          <a:noFill/>
        </p:spPr>
        <p:txBody>
          <a:bodyPr wrap="square" lIns="0" rIns="0" tIns="0" bIns="0" anchor="t">
            <a:spAutoFit/>
          </a:bodyPr>
          <a:lstStyle/>
          <a:p>
            <a:pPr algn="l">
              <a:spcAft>
                <a:spcPts val="600"/>
              </a:spcAft>
            </a:pPr>
            <a:r>
              <a:rPr sz="1700" b="1" i="0">
                <a:solidFill>
                  <a:srgbClr val="FFFFFF"/>
                </a:solidFill>
                <a:latin typeface="Cambria"/>
              </a:rPr>
              <a:t>Generators reproduce orientation, not the camera</a:t>
            </a:r>
          </a:p>
        </p:txBody>
      </p:sp>
      <p:sp>
        <p:nvSpPr>
          <p:cNvPr id="6" name="TextBox 5"/>
          <p:cNvSpPr txBox="1"/>
          <p:nvPr/>
        </p:nvSpPr>
        <p:spPr>
          <a:xfrm>
            <a:off x="1188720" y="2148840"/>
            <a:ext cx="10332720" cy="411480"/>
          </a:xfrm>
          <a:prstGeom prst="rect">
            <a:avLst/>
          </a:prstGeom>
          <a:noFill/>
        </p:spPr>
        <p:txBody>
          <a:bodyPr wrap="square" lIns="0" rIns="0" tIns="0" bIns="0" anchor="t">
            <a:spAutoFit/>
          </a:bodyPr>
          <a:lstStyle/>
          <a:p>
            <a:pPr algn="l">
              <a:spcAft>
                <a:spcPts val="600"/>
              </a:spcAft>
            </a:pPr>
            <a:r>
              <a:rPr sz="1300" b="0" i="0">
                <a:solidFill>
                  <a:srgbClr val="B9CDDA"/>
                </a:solidFill>
                <a:latin typeface="Calibri"/>
              </a:rPr>
              <a:t>Right angles are close to real photos after control; focal agreement is 2.5 to 3 times worse.</a:t>
            </a:r>
          </a:p>
        </p:txBody>
      </p:sp>
      <p:sp>
        <p:nvSpPr>
          <p:cNvPr id="7" name="Oval 6"/>
          <p:cNvSpPr/>
          <p:nvPr/>
        </p:nvSpPr>
        <p:spPr>
          <a:xfrm>
            <a:off x="685800" y="2724912"/>
            <a:ext cx="256032" cy="25603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633472"/>
            <a:ext cx="10332720" cy="384048"/>
          </a:xfrm>
          <a:prstGeom prst="rect">
            <a:avLst/>
          </a:prstGeom>
          <a:noFill/>
        </p:spPr>
        <p:txBody>
          <a:bodyPr wrap="square" lIns="0" rIns="0" tIns="0" bIns="0" anchor="t">
            <a:spAutoFit/>
          </a:bodyPr>
          <a:lstStyle/>
          <a:p>
            <a:pPr algn="l">
              <a:spcAft>
                <a:spcPts val="600"/>
              </a:spcAft>
            </a:pPr>
            <a:r>
              <a:rPr sz="1700" b="1" i="0">
                <a:solidFill>
                  <a:srgbClr val="FFFFFF"/>
                </a:solidFill>
                <a:latin typeface="Cambria"/>
              </a:rPr>
              <a:t>The result does not depend on the real reference</a:t>
            </a:r>
          </a:p>
        </p:txBody>
      </p:sp>
      <p:sp>
        <p:nvSpPr>
          <p:cNvPr id="9" name="TextBox 8"/>
          <p:cNvSpPr txBox="1"/>
          <p:nvPr/>
        </p:nvSpPr>
        <p:spPr>
          <a:xfrm>
            <a:off x="1188720" y="3044952"/>
            <a:ext cx="10332720" cy="411480"/>
          </a:xfrm>
          <a:prstGeom prst="rect">
            <a:avLst/>
          </a:prstGeom>
          <a:noFill/>
        </p:spPr>
        <p:txBody>
          <a:bodyPr wrap="square" lIns="0" rIns="0" tIns="0" bIns="0" anchor="t">
            <a:spAutoFit/>
          </a:bodyPr>
          <a:lstStyle/>
          <a:p>
            <a:pPr algn="l">
              <a:spcAft>
                <a:spcPts val="600"/>
              </a:spcAft>
            </a:pPr>
            <a:r>
              <a:rPr sz="1300" b="0" i="0">
                <a:solidFill>
                  <a:srgbClr val="B9CDDA"/>
                </a:solidFill>
                <a:latin typeface="Calibri"/>
              </a:rPr>
              <a:t>A hand-picked benchmark and ordinary internet photos give the same answer.</a:t>
            </a:r>
          </a:p>
        </p:txBody>
      </p:sp>
      <p:sp>
        <p:nvSpPr>
          <p:cNvPr id="10" name="Oval 9"/>
          <p:cNvSpPr/>
          <p:nvPr/>
        </p:nvSpPr>
        <p:spPr>
          <a:xfrm>
            <a:off x="685800" y="3621024"/>
            <a:ext cx="256032" cy="25603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3529584"/>
            <a:ext cx="10332720" cy="384048"/>
          </a:xfrm>
          <a:prstGeom prst="rect">
            <a:avLst/>
          </a:prstGeom>
          <a:noFill/>
        </p:spPr>
        <p:txBody>
          <a:bodyPr wrap="square" lIns="0" rIns="0" tIns="0" bIns="0" anchor="t">
            <a:spAutoFit/>
          </a:bodyPr>
          <a:lstStyle/>
          <a:p>
            <a:pPr algn="l">
              <a:spcAft>
                <a:spcPts val="600"/>
              </a:spcAft>
            </a:pPr>
            <a:r>
              <a:rPr sz="1700" b="1" i="0">
                <a:solidFill>
                  <a:srgbClr val="FFFFFF"/>
                </a:solidFill>
                <a:latin typeface="Cambria"/>
              </a:rPr>
              <a:t>Scale is not closing the gap</a:t>
            </a:r>
          </a:p>
        </p:txBody>
      </p:sp>
      <p:sp>
        <p:nvSpPr>
          <p:cNvPr id="12" name="TextBox 11"/>
          <p:cNvSpPr txBox="1"/>
          <p:nvPr/>
        </p:nvSpPr>
        <p:spPr>
          <a:xfrm>
            <a:off x="1188720" y="3941063"/>
            <a:ext cx="10332720" cy="411480"/>
          </a:xfrm>
          <a:prstGeom prst="rect">
            <a:avLst/>
          </a:prstGeom>
          <a:noFill/>
        </p:spPr>
        <p:txBody>
          <a:bodyPr wrap="square" lIns="0" rIns="0" tIns="0" bIns="0" anchor="t">
            <a:spAutoFit/>
          </a:bodyPr>
          <a:lstStyle/>
          <a:p>
            <a:pPr algn="l">
              <a:spcAft>
                <a:spcPts val="600"/>
              </a:spcAft>
            </a:pPr>
            <a:r>
              <a:rPr sz="1300" b="0" i="0">
                <a:solidFill>
                  <a:srgbClr val="B9CDDA"/>
                </a:solidFill>
                <a:latin typeface="Calibri"/>
              </a:rPr>
              <a:t>SD 1.5 → SDXL improves orientation and leaves camera coherence unchanged.</a:t>
            </a:r>
          </a:p>
        </p:txBody>
      </p:sp>
      <p:sp>
        <p:nvSpPr>
          <p:cNvPr id="13" name="Oval 12"/>
          <p:cNvSpPr/>
          <p:nvPr/>
        </p:nvSpPr>
        <p:spPr>
          <a:xfrm>
            <a:off x="685800" y="4517136"/>
            <a:ext cx="256032" cy="25603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425696"/>
            <a:ext cx="10332720" cy="384048"/>
          </a:xfrm>
          <a:prstGeom prst="rect">
            <a:avLst/>
          </a:prstGeom>
          <a:noFill/>
        </p:spPr>
        <p:txBody>
          <a:bodyPr wrap="square" lIns="0" rIns="0" tIns="0" bIns="0" anchor="t">
            <a:spAutoFit/>
          </a:bodyPr>
          <a:lstStyle/>
          <a:p>
            <a:pPr algn="l">
              <a:spcAft>
                <a:spcPts val="600"/>
              </a:spcAft>
            </a:pPr>
            <a:r>
              <a:rPr sz="1700" b="1" i="0">
                <a:solidFill>
                  <a:srgbClr val="FFFFFF"/>
                </a:solidFill>
                <a:latin typeface="Cambria"/>
              </a:rPr>
              <a:t>The newest models still fail</a:t>
            </a:r>
          </a:p>
        </p:txBody>
      </p:sp>
      <p:sp>
        <p:nvSpPr>
          <p:cNvPr id="15" name="TextBox 14"/>
          <p:cNvSpPr txBox="1"/>
          <p:nvPr/>
        </p:nvSpPr>
        <p:spPr>
          <a:xfrm>
            <a:off x="1188720" y="4837176"/>
            <a:ext cx="10332720" cy="411480"/>
          </a:xfrm>
          <a:prstGeom prst="rect">
            <a:avLst/>
          </a:prstGeom>
          <a:noFill/>
        </p:spPr>
        <p:txBody>
          <a:bodyPr wrap="square" lIns="0" rIns="0" tIns="0" bIns="0" anchor="t">
            <a:spAutoFit/>
          </a:bodyPr>
          <a:lstStyle/>
          <a:p>
            <a:pPr algn="l">
              <a:spcAft>
                <a:spcPts val="600"/>
              </a:spcAft>
            </a:pPr>
            <a:r>
              <a:rPr sz="1300" b="0" i="0">
                <a:solidFill>
                  <a:srgbClr val="B9CDDA"/>
                </a:solidFill>
                <a:latin typeface="Calibri"/>
              </a:rPr>
              <a:t>Gemini and ChatGPT remain worse than both real sets; whether they improved is not yet known.</a:t>
            </a:r>
          </a:p>
        </p:txBody>
      </p:sp>
      <p:sp>
        <p:nvSpPr>
          <p:cNvPr id="16" name="Oval 15"/>
          <p:cNvSpPr/>
          <p:nvPr/>
        </p:nvSpPr>
        <p:spPr>
          <a:xfrm>
            <a:off x="685800" y="5413248"/>
            <a:ext cx="256032" cy="25603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5321808"/>
            <a:ext cx="10332720" cy="384048"/>
          </a:xfrm>
          <a:prstGeom prst="rect">
            <a:avLst/>
          </a:prstGeom>
          <a:noFill/>
        </p:spPr>
        <p:txBody>
          <a:bodyPr wrap="square" lIns="0" rIns="0" tIns="0" bIns="0" anchor="t">
            <a:spAutoFit/>
          </a:bodyPr>
          <a:lstStyle/>
          <a:p>
            <a:pPr algn="l">
              <a:spcAft>
                <a:spcPts val="600"/>
              </a:spcAft>
            </a:pPr>
            <a:r>
              <a:rPr sz="1700" b="1" i="0">
                <a:solidFill>
                  <a:srgbClr val="FFFFFF"/>
                </a:solidFill>
                <a:latin typeface="Cambria"/>
              </a:rPr>
              <a:t>Applicability must be tested, not assumed</a:t>
            </a:r>
          </a:p>
        </p:txBody>
      </p:sp>
      <p:sp>
        <p:nvSpPr>
          <p:cNvPr id="18" name="TextBox 17"/>
          <p:cNvSpPr txBox="1"/>
          <p:nvPr/>
        </p:nvSpPr>
        <p:spPr>
          <a:xfrm>
            <a:off x="1188720" y="5733288"/>
            <a:ext cx="10332720" cy="411480"/>
          </a:xfrm>
          <a:prstGeom prst="rect">
            <a:avLst/>
          </a:prstGeom>
          <a:noFill/>
        </p:spPr>
        <p:txBody>
          <a:bodyPr wrap="square" lIns="0" rIns="0" tIns="0" bIns="0" anchor="t">
            <a:spAutoFit/>
          </a:bodyPr>
          <a:lstStyle/>
          <a:p>
            <a:pPr algn="l">
              <a:spcAft>
                <a:spcPts val="600"/>
              </a:spcAft>
            </a:pPr>
            <a:r>
              <a:rPr sz="1300" b="0" i="0">
                <a:solidFill>
                  <a:srgbClr val="B9CDDA"/>
                </a:solidFill>
                <a:latin typeface="Calibri"/>
              </a:rPr>
              <a:t>The right-angle test does not apply to angled streets; ignoring that flips the verdict.</a:t>
            </a:r>
          </a:p>
        </p:txBody>
      </p:sp>
      <p:sp>
        <p:nvSpPr>
          <p:cNvPr id="19" name="TextBox 18"/>
          <p:cNvSpPr txBox="1"/>
          <p:nvPr/>
        </p:nvSpPr>
        <p:spPr>
          <a:xfrm>
            <a:off x="685800" y="6355080"/>
            <a:ext cx="10908792" cy="365760"/>
          </a:xfrm>
          <a:prstGeom prst="rect">
            <a:avLst/>
          </a:prstGeom>
          <a:noFill/>
        </p:spPr>
        <p:txBody>
          <a:bodyPr wrap="square" lIns="0" rIns="0" tIns="0" bIns="0" anchor="t">
            <a:spAutoFit/>
          </a:bodyPr>
          <a:lstStyle/>
          <a:p>
            <a:pPr algn="l">
              <a:spcAft>
                <a:spcPts val="600"/>
              </a:spcAft>
            </a:pPr>
            <a:r>
              <a:rPr sz="1400" b="1" i="1">
                <a:solidFill>
                  <a:srgbClr val="E8A33D"/>
                </a:solidFill>
                <a:latin typeface="Calibri"/>
              </a:rPr>
              <a:t>Thesis: an AI image looks photographic locally, but there is no single camera behind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Future Scope</a:t>
            </a:r>
          </a:p>
        </p:txBody>
      </p:sp>
      <p:sp>
        <p:nvSpPr>
          <p:cNvPr id="4" name="Rounded Rectangle 3"/>
          <p:cNvSpPr/>
          <p:nvPr/>
        </p:nvSpPr>
        <p:spPr>
          <a:xfrm>
            <a:off x="640080" y="1920240"/>
            <a:ext cx="3520440" cy="1874519"/>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76272"/>
            <a:ext cx="329184" cy="3291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89888" y="2194560"/>
            <a:ext cx="2560320" cy="365760"/>
          </a:xfrm>
          <a:prstGeom prst="rect">
            <a:avLst/>
          </a:prstGeom>
          <a:noFill/>
        </p:spPr>
        <p:txBody>
          <a:bodyPr wrap="square" lIns="0" rIns="0" tIns="0" bIns="0" anchor="t">
            <a:spAutoFit/>
          </a:bodyPr>
          <a:lstStyle/>
          <a:p>
            <a:pPr algn="l">
              <a:spcAft>
                <a:spcPts val="600"/>
              </a:spcAft>
            </a:pPr>
            <a:r>
              <a:rPr sz="1450" b="1" i="0">
                <a:solidFill>
                  <a:srgbClr val="12263A"/>
                </a:solidFill>
                <a:latin typeface="Cambria"/>
              </a:rPr>
              <a:t>Powered frontier test</a:t>
            </a:r>
          </a:p>
        </p:txBody>
      </p:sp>
      <p:sp>
        <p:nvSpPr>
          <p:cNvPr id="7" name="TextBox 6"/>
          <p:cNvSpPr txBox="1"/>
          <p:nvPr/>
        </p:nvSpPr>
        <p:spPr>
          <a:xfrm>
            <a:off x="914400" y="2697480"/>
            <a:ext cx="2971800" cy="960120"/>
          </a:xfrm>
          <a:prstGeom prst="rect">
            <a:avLst/>
          </a:prstGeom>
          <a:noFill/>
        </p:spPr>
        <p:txBody>
          <a:bodyPr wrap="square" lIns="0" rIns="0" tIns="0" bIns="0" anchor="t">
            <a:spAutoFit/>
          </a:bodyPr>
          <a:lstStyle/>
          <a:p>
            <a:pPr algn="l">
              <a:spcAft>
                <a:spcPts val="600"/>
              </a:spcAft>
            </a:pPr>
            <a:r>
              <a:rPr sz="1200" b="0" i="0">
                <a:solidFill>
                  <a:srgbClr val="5A6672"/>
                </a:solidFill>
                <a:latin typeface="Calibri"/>
              </a:rPr>
              <a:t>250 line-rich prompts per model at full resolution, plus Midjourney. Prompts and instructions are ready.</a:t>
            </a:r>
          </a:p>
        </p:txBody>
      </p:sp>
      <p:sp>
        <p:nvSpPr>
          <p:cNvPr id="8" name="Rounded Rectangle 7"/>
          <p:cNvSpPr/>
          <p:nvPr/>
        </p:nvSpPr>
        <p:spPr>
          <a:xfrm>
            <a:off x="4407408" y="1920240"/>
            <a:ext cx="3520440" cy="1874519"/>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81728" y="2176272"/>
            <a:ext cx="329184" cy="329184"/>
          </a:xfrm>
          <a:prstGeom prst="ellipse">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57216" y="2194560"/>
            <a:ext cx="2560320" cy="365760"/>
          </a:xfrm>
          <a:prstGeom prst="rect">
            <a:avLst/>
          </a:prstGeom>
          <a:noFill/>
        </p:spPr>
        <p:txBody>
          <a:bodyPr wrap="square" lIns="0" rIns="0" tIns="0" bIns="0" anchor="t">
            <a:spAutoFit/>
          </a:bodyPr>
          <a:lstStyle/>
          <a:p>
            <a:pPr algn="l">
              <a:spcAft>
                <a:spcPts val="600"/>
              </a:spcAft>
            </a:pPr>
            <a:r>
              <a:rPr sz="1450" b="1" i="0">
                <a:solidFill>
                  <a:srgbClr val="12263A"/>
                </a:solidFill>
                <a:latin typeface="Cambria"/>
              </a:rPr>
              <a:t>Shadow association</a:t>
            </a:r>
          </a:p>
        </p:txBody>
      </p:sp>
      <p:sp>
        <p:nvSpPr>
          <p:cNvPr id="11" name="TextBox 10"/>
          <p:cNvSpPr txBox="1"/>
          <p:nvPr/>
        </p:nvSpPr>
        <p:spPr>
          <a:xfrm>
            <a:off x="4681728" y="2697480"/>
            <a:ext cx="2971800" cy="960120"/>
          </a:xfrm>
          <a:prstGeom prst="rect">
            <a:avLst/>
          </a:prstGeom>
          <a:noFill/>
        </p:spPr>
        <p:txBody>
          <a:bodyPr wrap="square" lIns="0" rIns="0" tIns="0" bIns="0" anchor="t">
            <a:spAutoFit/>
          </a:bodyPr>
          <a:lstStyle/>
          <a:p>
            <a:pPr algn="l">
              <a:spcAft>
                <a:spcPts val="600"/>
              </a:spcAft>
            </a:pPr>
            <a:r>
              <a:rPr sz="1200" b="0" i="0">
                <a:solidFill>
                  <a:srgbClr val="5A6672"/>
                </a:solidFill>
                <a:latin typeface="Calibri"/>
              </a:rPr>
              <a:t>SSIS or SAM 2 to pair shadows with objects; the wedge LP above it is built and validated.</a:t>
            </a:r>
          </a:p>
        </p:txBody>
      </p:sp>
      <p:sp>
        <p:nvSpPr>
          <p:cNvPr id="12" name="Rounded Rectangle 11"/>
          <p:cNvSpPr/>
          <p:nvPr/>
        </p:nvSpPr>
        <p:spPr>
          <a:xfrm>
            <a:off x="8174736" y="1920240"/>
            <a:ext cx="3520440" cy="1874519"/>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49056" y="2176272"/>
            <a:ext cx="329184" cy="3291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24544" y="2194560"/>
            <a:ext cx="2560320" cy="365760"/>
          </a:xfrm>
          <a:prstGeom prst="rect">
            <a:avLst/>
          </a:prstGeom>
          <a:noFill/>
        </p:spPr>
        <p:txBody>
          <a:bodyPr wrap="square" lIns="0" rIns="0" tIns="0" bIns="0" anchor="t">
            <a:spAutoFit/>
          </a:bodyPr>
          <a:lstStyle/>
          <a:p>
            <a:pPr algn="l">
              <a:spcAft>
                <a:spcPts val="600"/>
              </a:spcAft>
            </a:pPr>
            <a:r>
              <a:rPr sz="1450" b="1" i="0">
                <a:solidFill>
                  <a:srgbClr val="12263A"/>
                </a:solidFill>
                <a:latin typeface="Cambria"/>
              </a:rPr>
              <a:t>Remaining levels</a:t>
            </a:r>
          </a:p>
        </p:txBody>
      </p:sp>
      <p:sp>
        <p:nvSpPr>
          <p:cNvPr id="15" name="TextBox 14"/>
          <p:cNvSpPr txBox="1"/>
          <p:nvPr/>
        </p:nvSpPr>
        <p:spPr>
          <a:xfrm>
            <a:off x="8449056" y="2697480"/>
            <a:ext cx="2971800" cy="960120"/>
          </a:xfrm>
          <a:prstGeom prst="rect">
            <a:avLst/>
          </a:prstGeom>
          <a:noFill/>
        </p:spPr>
        <p:txBody>
          <a:bodyPr wrap="square" lIns="0" rIns="0" tIns="0" bIns="0" anchor="t">
            <a:spAutoFit/>
          </a:bodyPr>
          <a:lstStyle/>
          <a:p>
            <a:pPr algn="l">
              <a:spcAft>
                <a:spcPts val="600"/>
              </a:spcAft>
            </a:pPr>
            <a:r>
              <a:rPr sz="1200" b="0" i="0">
                <a:solidFill>
                  <a:srgbClr val="5A6672"/>
                </a:solidFill>
                <a:latin typeface="Calibri"/>
              </a:rPr>
              <a:t>Horizon, cross-ratio, conics, reflections and agreement with depth networks.</a:t>
            </a:r>
          </a:p>
        </p:txBody>
      </p:sp>
      <p:sp>
        <p:nvSpPr>
          <p:cNvPr id="16" name="Rounded Rectangle 15"/>
          <p:cNvSpPr/>
          <p:nvPr/>
        </p:nvSpPr>
        <p:spPr>
          <a:xfrm>
            <a:off x="640080" y="4114800"/>
            <a:ext cx="3520440" cy="1874519"/>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370832"/>
            <a:ext cx="329184" cy="329184"/>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89888" y="4389120"/>
            <a:ext cx="2560320" cy="365760"/>
          </a:xfrm>
          <a:prstGeom prst="rect">
            <a:avLst/>
          </a:prstGeom>
          <a:noFill/>
        </p:spPr>
        <p:txBody>
          <a:bodyPr wrap="square" lIns="0" rIns="0" tIns="0" bIns="0" anchor="t">
            <a:spAutoFit/>
          </a:bodyPr>
          <a:lstStyle/>
          <a:p>
            <a:pPr algn="l">
              <a:spcAft>
                <a:spcPts val="600"/>
              </a:spcAft>
            </a:pPr>
            <a:r>
              <a:rPr sz="1450" b="1" i="0">
                <a:solidFill>
                  <a:srgbClr val="12263A"/>
                </a:solidFill>
                <a:latin typeface="Cambria"/>
              </a:rPr>
              <a:t>Mechanism</a:t>
            </a:r>
          </a:p>
        </p:txBody>
      </p:sp>
      <p:sp>
        <p:nvSpPr>
          <p:cNvPr id="19" name="TextBox 18"/>
          <p:cNvSpPr txBox="1"/>
          <p:nvPr/>
        </p:nvSpPr>
        <p:spPr>
          <a:xfrm>
            <a:off x="914400" y="4892040"/>
            <a:ext cx="2971800" cy="960120"/>
          </a:xfrm>
          <a:prstGeom prst="rect">
            <a:avLst/>
          </a:prstGeom>
          <a:noFill/>
        </p:spPr>
        <p:txBody>
          <a:bodyPr wrap="square" lIns="0" rIns="0" tIns="0" bIns="0" anchor="t">
            <a:spAutoFit/>
          </a:bodyPr>
          <a:lstStyle/>
          <a:p>
            <a:pPr algn="l">
              <a:spcAft>
                <a:spcPts val="600"/>
              </a:spcAft>
            </a:pPr>
            <a:r>
              <a:rPr sz="1200" b="0" i="0">
                <a:solidFill>
                  <a:srgbClr val="5A6672"/>
                </a:solidFill>
                <a:latin typeface="Calibri"/>
              </a:rPr>
              <a:t>Why does scale not fix the camera? Aspect ratio is ruled out; resolution and receptive field remain.</a:t>
            </a:r>
          </a:p>
        </p:txBody>
      </p:sp>
      <p:sp>
        <p:nvSpPr>
          <p:cNvPr id="20" name="Rounded Rectangle 19"/>
          <p:cNvSpPr/>
          <p:nvPr/>
        </p:nvSpPr>
        <p:spPr>
          <a:xfrm>
            <a:off x="4407408" y="4114800"/>
            <a:ext cx="3520440" cy="1874519"/>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81728" y="4370832"/>
            <a:ext cx="329184" cy="329184"/>
          </a:xfrm>
          <a:prstGeom prst="ellipse">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57216" y="4389120"/>
            <a:ext cx="2560320" cy="365760"/>
          </a:xfrm>
          <a:prstGeom prst="rect">
            <a:avLst/>
          </a:prstGeom>
          <a:noFill/>
        </p:spPr>
        <p:txBody>
          <a:bodyPr wrap="square" lIns="0" rIns="0" tIns="0" bIns="0" anchor="t">
            <a:spAutoFit/>
          </a:bodyPr>
          <a:lstStyle/>
          <a:p>
            <a:pPr algn="l">
              <a:spcAft>
                <a:spcPts val="600"/>
              </a:spcAft>
            </a:pPr>
            <a:r>
              <a:rPr sz="1450" b="1" i="0">
                <a:solidFill>
                  <a:srgbClr val="12263A"/>
                </a:solidFill>
                <a:latin typeface="Cambria"/>
              </a:rPr>
              <a:t>Atlanta-style regional fit</a:t>
            </a:r>
          </a:p>
        </p:txBody>
      </p:sp>
      <p:sp>
        <p:nvSpPr>
          <p:cNvPr id="23" name="TextBox 22"/>
          <p:cNvSpPr txBox="1"/>
          <p:nvPr/>
        </p:nvSpPr>
        <p:spPr>
          <a:xfrm>
            <a:off x="4681728" y="4892040"/>
            <a:ext cx="2971800" cy="960120"/>
          </a:xfrm>
          <a:prstGeom prst="rect">
            <a:avLst/>
          </a:prstGeom>
          <a:noFill/>
        </p:spPr>
        <p:txBody>
          <a:bodyPr wrap="square" lIns="0" rIns="0" tIns="0" bIns="0" anchor="t">
            <a:spAutoFit/>
          </a:bodyPr>
          <a:lstStyle/>
          <a:p>
            <a:pPr algn="l">
              <a:spcAft>
                <a:spcPts val="600"/>
              </a:spcAft>
            </a:pPr>
            <a:r>
              <a:rPr sz="1200" b="0" i="0">
                <a:solidFill>
                  <a:srgbClr val="5A6672"/>
                </a:solidFill>
                <a:latin typeface="Calibri"/>
              </a:rPr>
              <a:t>Redo the regional analysis without assuming every vanishing point pair is at right angles.</a:t>
            </a:r>
          </a:p>
        </p:txBody>
      </p:sp>
      <p:sp>
        <p:nvSpPr>
          <p:cNvPr id="24" name="Rounded Rectangle 23"/>
          <p:cNvSpPr/>
          <p:nvPr/>
        </p:nvSpPr>
        <p:spPr>
          <a:xfrm>
            <a:off x="8174736" y="4114800"/>
            <a:ext cx="3520440" cy="1874519"/>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49056" y="4370832"/>
            <a:ext cx="329184" cy="32918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24544" y="4389120"/>
            <a:ext cx="2560320" cy="365760"/>
          </a:xfrm>
          <a:prstGeom prst="rect">
            <a:avLst/>
          </a:prstGeom>
          <a:noFill/>
        </p:spPr>
        <p:txBody>
          <a:bodyPr wrap="square" lIns="0" rIns="0" tIns="0" bIns="0" anchor="t">
            <a:spAutoFit/>
          </a:bodyPr>
          <a:lstStyle/>
          <a:p>
            <a:pPr algn="l">
              <a:spcAft>
                <a:spcPts val="600"/>
              </a:spcAft>
            </a:pPr>
            <a:r>
              <a:rPr sz="1450" b="1" i="0">
                <a:solidFill>
                  <a:srgbClr val="12263A"/>
                </a:solidFill>
                <a:latin typeface="Cambria"/>
              </a:rPr>
              <a:t>Perception study</a:t>
            </a:r>
          </a:p>
        </p:txBody>
      </p:sp>
      <p:sp>
        <p:nvSpPr>
          <p:cNvPr id="27" name="TextBox 26"/>
          <p:cNvSpPr txBox="1"/>
          <p:nvPr/>
        </p:nvSpPr>
        <p:spPr>
          <a:xfrm>
            <a:off x="8449056" y="4892040"/>
            <a:ext cx="2971800" cy="960120"/>
          </a:xfrm>
          <a:prstGeom prst="rect">
            <a:avLst/>
          </a:prstGeom>
          <a:noFill/>
        </p:spPr>
        <p:txBody>
          <a:bodyPr wrap="square" lIns="0" rIns="0" tIns="0" bIns="0" anchor="t">
            <a:spAutoFit/>
          </a:bodyPr>
          <a:lstStyle/>
          <a:p>
            <a:pPr algn="l">
              <a:spcAft>
                <a:spcPts val="600"/>
              </a:spcAft>
            </a:pPr>
            <a:r>
              <a:rPr sz="1200" b="0" i="0">
                <a:solidFill>
                  <a:srgbClr val="5A6672"/>
                </a:solidFill>
                <a:latin typeface="Calibri"/>
              </a:rPr>
              <a:t>Which violations are severe in the maths but unnoticed by people.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822960"/>
          </a:xfrm>
          <a:prstGeom prst="rect">
            <a:avLst/>
          </a:prstGeom>
          <a:noFill/>
        </p:spPr>
        <p:txBody>
          <a:bodyPr wrap="square" lIns="0" rIns="0" tIns="0" bIns="0" anchor="t">
            <a:spAutoFit/>
          </a:bodyPr>
          <a:lstStyle/>
          <a:p>
            <a:pPr algn="l">
              <a:spcAft>
                <a:spcPts val="600"/>
              </a:spcAft>
            </a:pPr>
            <a:r>
              <a:rPr sz="3200" b="1" i="0">
                <a:solidFill>
                  <a:srgbClr val="12263A"/>
                </a:solidFill>
                <a:latin typeface="Cambria"/>
              </a:rPr>
              <a:t>References</a:t>
            </a:r>
          </a:p>
        </p:txBody>
      </p:sp>
      <p:sp>
        <p:nvSpPr>
          <p:cNvPr id="4" name="TextBox 3"/>
          <p:cNvSpPr txBox="1"/>
          <p:nvPr/>
        </p:nvSpPr>
        <p:spPr>
          <a:xfrm>
            <a:off x="640080" y="1600200"/>
            <a:ext cx="10908792" cy="4572000"/>
          </a:xfrm>
          <a:prstGeom prst="rect">
            <a:avLst/>
          </a:prstGeom>
          <a:noFill/>
        </p:spPr>
        <p:txBody>
          <a:bodyPr wrap="square" lIns="0" rIns="0">
            <a:spAutoFit/>
          </a:bodyPr>
          <a:lstStyle/>
          <a:p>
            <a:pPr>
              <a:spcAft>
                <a:spcPts val="700"/>
              </a:spcAft>
            </a:pPr>
            <a:r>
              <a:rPr sz="1350">
                <a:solidFill>
                  <a:srgbClr val="1A1A1A"/>
                </a:solidFill>
                <a:latin typeface="Calibri"/>
              </a:rPr>
              <a:t>[1] A. Sarkar et al., “Shadows Don’t Lie and Lines Can’t Bend! Generative Models don’t know Projective Geometry…for now,” CVPR, 2024.</a:t>
            </a:r>
          </a:p>
          <a:p>
            <a:pPr>
              <a:spcAft>
                <a:spcPts val="700"/>
              </a:spcAft>
            </a:pPr>
            <a:r>
              <a:rPr sz="1350">
                <a:solidFill>
                  <a:srgbClr val="1A1A1A"/>
                </a:solidFill>
                <a:latin typeface="Calibri"/>
              </a:rPr>
              <a:t>[2] R. Hartley and A. Zisserman, Multiple View Geometry in Computer Vision, 2nd ed., Cambridge University Press, 2004.</a:t>
            </a:r>
          </a:p>
          <a:p>
            <a:pPr>
              <a:spcAft>
                <a:spcPts val="700"/>
              </a:spcAft>
            </a:pPr>
            <a:r>
              <a:rPr sz="1350">
                <a:solidFill>
                  <a:srgbClr val="1A1A1A"/>
                </a:solidFill>
                <a:latin typeface="Calibri"/>
              </a:rPr>
              <a:t>[3] E. Kee, J. F. O’Brien and H. Farid, “Exposing photo manipulation with inconsistent shadows,” ACM TOG, vol. 32, no. 3, 2013.</a:t>
            </a:r>
          </a:p>
          <a:p>
            <a:pPr>
              <a:spcAft>
                <a:spcPts val="700"/>
              </a:spcAft>
            </a:pPr>
            <a:r>
              <a:rPr sz="1350">
                <a:solidFill>
                  <a:srgbClr val="1A1A1A"/>
                </a:solidFill>
                <a:latin typeface="Calibri"/>
              </a:rPr>
              <a:t>[4] A. Criminisi, I. Reid and A. Zisserman, “Single view metrology,” IJCV, vol. 40, no. 2, pp. 123-148, 2000.</a:t>
            </a:r>
          </a:p>
          <a:p>
            <a:pPr>
              <a:spcAft>
                <a:spcPts val="700"/>
              </a:spcAft>
            </a:pPr>
            <a:r>
              <a:rPr sz="1350">
                <a:solidFill>
                  <a:srgbClr val="1A1A1A"/>
                </a:solidFill>
                <a:latin typeface="Calibri"/>
              </a:rPr>
              <a:t>[5] J. M. Coughlan and A. L. Yuille, “Manhattan world,” ICCV, 1999.</a:t>
            </a:r>
          </a:p>
          <a:p>
            <a:pPr>
              <a:spcAft>
                <a:spcPts val="700"/>
              </a:spcAft>
            </a:pPr>
            <a:r>
              <a:rPr sz="1350">
                <a:solidFill>
                  <a:srgbClr val="1A1A1A"/>
                </a:solidFill>
                <a:latin typeface="Calibri"/>
              </a:rPr>
              <a:t>[6] G. Schindler and F. Dellaert, “Atlanta world,” CVPR, 2004.</a:t>
            </a:r>
          </a:p>
          <a:p>
            <a:pPr>
              <a:spcAft>
                <a:spcPts val="700"/>
              </a:spcAft>
            </a:pPr>
            <a:r>
              <a:rPr sz="1350">
                <a:solidFill>
                  <a:srgbClr val="1A1A1A"/>
                </a:solidFill>
                <a:latin typeface="Calibri"/>
              </a:rPr>
              <a:t>[7] P. Denis, J. H. Elder and F. J. Estrada, “Efficient edge-based methods for estimating Manhattan frames in urban imagery,” ECCV, 2008.</a:t>
            </a:r>
          </a:p>
          <a:p>
            <a:pPr>
              <a:spcAft>
                <a:spcPts val="700"/>
              </a:spcAft>
            </a:pPr>
            <a:r>
              <a:rPr sz="1350">
                <a:solidFill>
                  <a:srgbClr val="1A1A1A"/>
                </a:solidFill>
                <a:latin typeface="Calibri"/>
              </a:rPr>
              <a:t>[8] R. Grompone von Gioi et al., “LSD: a fast line segment detector with a false detection control,” IEEE TPAMI, vol. 32, no. 4, 2010.</a:t>
            </a:r>
          </a:p>
          <a:p>
            <a:pPr>
              <a:spcAft>
                <a:spcPts val="700"/>
              </a:spcAft>
            </a:pPr>
            <a:r>
              <a:rPr sz="1350">
                <a:solidFill>
                  <a:srgbClr val="1A1A1A"/>
                </a:solidFill>
                <a:latin typeface="Calibri"/>
              </a:rPr>
              <a:t>[9] B. Efron and R. J. Tibshirani, An Introduction to the Bootstrap, Chapman &amp; Hall, 1993.</a:t>
            </a:r>
          </a:p>
          <a:p>
            <a:pPr>
              <a:spcAft>
                <a:spcPts val="700"/>
              </a:spcAft>
            </a:pPr>
            <a:r>
              <a:rPr sz="1350">
                <a:solidFill>
                  <a:srgbClr val="1A1A1A"/>
                </a:solidFill>
                <a:latin typeface="Calibri"/>
              </a:rPr>
              <a:t>[10] L. Breiman, “Random forests,” Machine Learning, vol. 45, no. 1, 2001.</a:t>
            </a:r>
          </a:p>
          <a:p>
            <a:pPr>
              <a:spcAft>
                <a:spcPts val="700"/>
              </a:spcAft>
            </a:pPr>
            <a:r>
              <a:rPr sz="1350">
                <a:solidFill>
                  <a:srgbClr val="1A1A1A"/>
                </a:solidFill>
                <a:latin typeface="Calibri"/>
              </a:rPr>
              <a:t>[11] D. Podell et al., “SDXL: improving latent diffusion models for high-resolution image synthesis,” ICLR, 2024.</a:t>
            </a:r>
          </a:p>
          <a:p>
            <a:pPr>
              <a:spcAft>
                <a:spcPts val="700"/>
              </a:spcAft>
            </a:pPr>
            <a:r>
              <a:rPr sz="1350">
                <a:solidFill>
                  <a:srgbClr val="1A1A1A"/>
                </a:solidFill>
                <a:latin typeface="Calibri"/>
              </a:rPr>
              <a:t>[12] R. Rombach et al., “High-resolution image synthesis with latent diffusion models,” CVPR, 2022.</a:t>
            </a:r>
          </a:p>
        </p:txBody>
      </p:sp>
      <p:sp>
        <p:nvSpPr>
          <p:cNvPr id="5" name="TextBox 4"/>
          <p:cNvSpPr txBox="1"/>
          <p:nvPr/>
        </p:nvSpPr>
        <p:spPr>
          <a:xfrm>
            <a:off x="640080" y="6355080"/>
            <a:ext cx="10908792" cy="365760"/>
          </a:xfrm>
          <a:prstGeom prst="rect">
            <a:avLst/>
          </a:prstGeom>
          <a:noFill/>
        </p:spPr>
        <p:txBody>
          <a:bodyPr wrap="square" lIns="0" rIns="0" tIns="0" bIns="0" anchor="t">
            <a:spAutoFit/>
          </a:bodyPr>
          <a:lstStyle/>
          <a:p>
            <a:pPr algn="l">
              <a:spcAft>
                <a:spcPts val="600"/>
              </a:spcAft>
            </a:pPr>
            <a:r>
              <a:rPr sz="1100" b="0" i="1">
                <a:solidFill>
                  <a:srgbClr val="5A6672"/>
                </a:solidFill>
                <a:latin typeface="Calibri"/>
              </a:rPr>
              <a:t>Dataset credits: York Urban Database (Elder Laboratory, York University); Wikimedia Commons photographs under CC licences, per-image attribution in the project metadata.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