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25NZd51IjdRbfkn9i7hLzxdMk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2108C0-F26C-423F-91A2-4CEDFFE9ED8A}">
  <a:tblStyle styleId="{252108C0-F26C-423F-91A2-4CEDFFE9ED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ebb2718e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ebb2718e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bb2718e4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bb2718e4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ebb2718e4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ebb2718e4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bb2718e4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bb2718e4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bb2718e4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ebb2718e4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bb2718e4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ebb2718e4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bb2718e4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bb2718e4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bb2718e4d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ebb2718e4d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154374" y="263713"/>
            <a:ext cx="846357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CA-3: Vision-Based Application Task 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Presentation</a:t>
            </a:r>
            <a:endParaRPr sz="28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352794" y="1202125"/>
            <a:ext cx="514003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Bachelor of Technology</a:t>
            </a:r>
            <a:endParaRPr sz="12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</a:t>
            </a:r>
            <a:endParaRPr sz="12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Robotics and Automation</a:t>
            </a:r>
            <a:endParaRPr sz="20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558630" y="2431138"/>
            <a:ext cx="872836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Title of the Project</a:t>
            </a:r>
            <a:endParaRPr sz="38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021" y="191693"/>
            <a:ext cx="805815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491836" y="3523478"/>
            <a:ext cx="48352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Name of Students (PRN)</a:t>
            </a:r>
            <a:endParaRPr sz="24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154374" y="6031910"/>
            <a:ext cx="75368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Symbiosis Institute of Technology, Pune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2026-27</a:t>
            </a:r>
            <a:endParaRPr sz="24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" name="Google Shape;89;p1"/>
          <p:cNvSpPr txBox="1"/>
          <p:nvPr/>
        </p:nvSpPr>
        <p:spPr>
          <a:xfrm>
            <a:off x="6786707" y="3610805"/>
            <a:ext cx="48352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Name and Designation of Guide</a:t>
            </a:r>
            <a:endParaRPr sz="24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38200" y="223082"/>
            <a:ext cx="10515600" cy="96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b="1" dirty="0">
                <a:latin typeface="Cambria"/>
                <a:ea typeface="Cambria"/>
                <a:cs typeface="Cambria"/>
                <a:sym typeface="Cambria"/>
              </a:rPr>
              <a:t>Content of Presentation	</a:t>
            </a:r>
            <a:endParaRPr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838200" y="1344698"/>
            <a:ext cx="10515600" cy="4583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b="1" dirty="0">
                <a:latin typeface="Cambria"/>
                <a:ea typeface="Cambria"/>
                <a:cs typeface="Cambria"/>
                <a:sym typeface="Cambria"/>
              </a:rPr>
              <a:t>Introduction</a:t>
            </a:r>
            <a:r>
              <a:rPr lang="en-US" sz="2000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000" i="1" dirty="0">
                <a:latin typeface="Cambria"/>
                <a:ea typeface="Cambria"/>
                <a:cs typeface="Cambria"/>
                <a:sym typeface="Cambria"/>
              </a:rPr>
              <a:t>(1-2 Slide)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b="1" dirty="0">
                <a:latin typeface="Cambria"/>
                <a:ea typeface="Cambria"/>
                <a:cs typeface="Cambria"/>
                <a:sym typeface="Cambria"/>
              </a:rPr>
              <a:t>Review of Literature </a:t>
            </a:r>
            <a:r>
              <a:rPr lang="en-US" sz="2000" i="1" dirty="0">
                <a:latin typeface="Cambria"/>
                <a:ea typeface="Cambria"/>
                <a:cs typeface="Cambria"/>
                <a:sym typeface="Cambria"/>
              </a:rPr>
              <a:t>(1-2 slides in tabular format)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b="1" dirty="0">
                <a:latin typeface="Cambria"/>
                <a:ea typeface="Cambria"/>
                <a:cs typeface="Cambria"/>
                <a:sym typeface="Cambria"/>
              </a:rPr>
              <a:t>Research Gap </a:t>
            </a:r>
            <a:r>
              <a:rPr lang="en-US" sz="2000" i="1" dirty="0">
                <a:latin typeface="Cambria"/>
                <a:ea typeface="Cambria"/>
                <a:cs typeface="Cambria"/>
                <a:sym typeface="Cambria"/>
              </a:rPr>
              <a:t>(1 slide)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b="1" dirty="0">
                <a:latin typeface="Cambria"/>
                <a:ea typeface="Cambria"/>
                <a:cs typeface="Cambria"/>
                <a:sym typeface="Cambria"/>
              </a:rPr>
              <a:t>Statement of the problem </a:t>
            </a:r>
            <a:r>
              <a:rPr lang="en-US" sz="2000" i="1" dirty="0">
                <a:latin typeface="Cambria"/>
                <a:ea typeface="Cambria"/>
                <a:cs typeface="Cambria"/>
                <a:sym typeface="Cambria"/>
              </a:rPr>
              <a:t>(1 slide)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b="1" dirty="0">
                <a:latin typeface="Cambria"/>
                <a:ea typeface="Cambria"/>
                <a:cs typeface="Cambria"/>
                <a:sym typeface="Cambria"/>
              </a:rPr>
              <a:t>Objectives of the study </a:t>
            </a:r>
            <a:r>
              <a:rPr lang="en-US" sz="2000" i="1" dirty="0">
                <a:latin typeface="Cambria"/>
                <a:ea typeface="Cambria"/>
                <a:cs typeface="Cambria"/>
                <a:sym typeface="Cambria"/>
              </a:rPr>
              <a:t>(1 slide)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b="1" dirty="0">
                <a:latin typeface="Cambria"/>
                <a:ea typeface="Cambria"/>
                <a:cs typeface="Cambria"/>
                <a:sym typeface="Cambria"/>
              </a:rPr>
              <a:t>Methodology, tool, techniques </a:t>
            </a:r>
            <a:r>
              <a:rPr lang="en-US" sz="2000" i="1" dirty="0">
                <a:latin typeface="Cambria"/>
                <a:ea typeface="Cambria"/>
                <a:cs typeface="Cambria"/>
                <a:sym typeface="Cambria"/>
              </a:rPr>
              <a:t>(3 to 4 slides including the objective wise flow chart of the proposed work)</a:t>
            </a:r>
            <a:endParaRPr sz="2000" i="1" dirty="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Font typeface="Cambria"/>
              <a:buChar char="•"/>
            </a:pPr>
            <a:r>
              <a:rPr lang="en-US" sz="2000" b="1" dirty="0">
                <a:latin typeface="Cambria"/>
                <a:ea typeface="Cambria"/>
                <a:cs typeface="Cambria"/>
                <a:sym typeface="Cambria"/>
              </a:rPr>
              <a:t>Results and Discussion </a:t>
            </a:r>
            <a:r>
              <a:rPr lang="en-US" sz="2000" i="1" dirty="0">
                <a:latin typeface="Cambria"/>
                <a:ea typeface="Cambria"/>
                <a:cs typeface="Cambria"/>
                <a:sym typeface="Cambria"/>
              </a:rPr>
              <a:t>(3-4 slides) </a:t>
            </a:r>
            <a:endParaRPr sz="2000" i="1" dirty="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b="1" dirty="0">
                <a:latin typeface="Cambria"/>
                <a:ea typeface="Cambria"/>
                <a:cs typeface="Cambria"/>
                <a:sym typeface="Cambria"/>
              </a:rPr>
              <a:t>Schedule of the proposed work </a:t>
            </a:r>
            <a:r>
              <a:rPr lang="en-US" sz="2000" i="1" dirty="0">
                <a:latin typeface="Cambria"/>
                <a:ea typeface="Cambria"/>
                <a:cs typeface="Cambria"/>
                <a:sym typeface="Cambria"/>
              </a:rPr>
              <a:t>(1 slide)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b="1" dirty="0">
                <a:latin typeface="Cambria"/>
                <a:ea typeface="Cambria"/>
                <a:cs typeface="Cambria"/>
                <a:sym typeface="Cambria"/>
              </a:rPr>
              <a:t>References </a:t>
            </a:r>
            <a:endParaRPr sz="20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bb2718e4d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4" name="Google Shape;104;g2ebb2718e4d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mbria"/>
              <a:buChar char="•"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Background / Rationale of the study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•"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Significance of the study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•"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Current Trends 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g2ebb2718e4d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bb2718e4d_0_5"/>
          <p:cNvSpPr txBox="1">
            <a:spLocks noGrp="1"/>
          </p:cNvSpPr>
          <p:nvPr>
            <p:ph type="title"/>
          </p:nvPr>
        </p:nvSpPr>
        <p:spPr>
          <a:xfrm>
            <a:off x="768999" y="134306"/>
            <a:ext cx="10515600" cy="771217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mbria"/>
                <a:ea typeface="Cambria"/>
                <a:cs typeface="Cambria"/>
                <a:sym typeface="Cambria"/>
              </a:rPr>
              <a:t>Review of Literature </a:t>
            </a:r>
            <a:endParaRPr sz="4700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11" name="Google Shape;111;g2ebb2718e4d_0_5"/>
          <p:cNvGraphicFramePr/>
          <p:nvPr>
            <p:extLst>
              <p:ext uri="{D42A27DB-BD31-4B8C-83A1-F6EECF244321}">
                <p14:modId xmlns:p14="http://schemas.microsoft.com/office/powerpoint/2010/main" val="3142573221"/>
              </p:ext>
            </p:extLst>
          </p:nvPr>
        </p:nvGraphicFramePr>
        <p:xfrm>
          <a:off x="768999" y="1398324"/>
          <a:ext cx="11029423" cy="1798200"/>
        </p:xfrm>
        <a:graphic>
          <a:graphicData uri="http://schemas.openxmlformats.org/drawingml/2006/table">
            <a:tbl>
              <a:tblPr>
                <a:noFill/>
                <a:tableStyleId>{252108C0-F26C-423F-91A2-4CEDFFE9ED8A}</a:tableStyleId>
              </a:tblPr>
              <a:tblGrid>
                <a:gridCol w="907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6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6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8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8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4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Sr. No</a:t>
                      </a:r>
                      <a:endParaRPr b="1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Author Name</a:t>
                      </a:r>
                      <a:endParaRPr b="1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Paper Title</a:t>
                      </a: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Journal Name</a:t>
                      </a: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Methodology</a:t>
                      </a: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Remarks (Research Gaps)</a:t>
                      </a: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40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40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40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2" name="Google Shape;112;g2ebb2718e4d_0_5"/>
          <p:cNvSpPr txBox="1"/>
          <p:nvPr/>
        </p:nvSpPr>
        <p:spPr>
          <a:xfrm>
            <a:off x="820725" y="3689325"/>
            <a:ext cx="7921800" cy="6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i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6-10 significant articles aligning with research topic</a:t>
            </a:r>
            <a:endParaRPr sz="1900" i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g2ebb2718e4d_0_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bb2718e4d_0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Research Gap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g2ebb2718e4d_0_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g2ebb2718e4d_0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bb2718e4d_0_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Statement of the Problem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g2ebb2718e4d_0_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ebb2718e4d_0_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bb2718e4d_0_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3" name="Google Shape;133;g2ebb2718e4d_0_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mbria"/>
              <a:buChar char="•"/>
            </a:pPr>
            <a:r>
              <a:rPr lang="en-US" sz="2400" dirty="0">
                <a:latin typeface="Cambria"/>
                <a:ea typeface="Cambria"/>
                <a:cs typeface="Cambria"/>
                <a:sym typeface="Cambria"/>
              </a:rPr>
              <a:t>The objectives must clear, concise, and achievable during the project duration. 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•"/>
            </a:pPr>
            <a:r>
              <a:rPr lang="en-US" sz="2400" dirty="0">
                <a:latin typeface="Cambria"/>
                <a:ea typeface="Cambria"/>
                <a:cs typeface="Cambria"/>
                <a:sym typeface="Cambria"/>
              </a:rPr>
              <a:t>Minimum 2 and maximum 3 objectives are required. 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•"/>
            </a:pPr>
            <a:r>
              <a:rPr lang="en-US" sz="2400" dirty="0">
                <a:latin typeface="Cambria"/>
                <a:ea typeface="Cambria"/>
                <a:cs typeface="Cambria"/>
                <a:sym typeface="Cambria"/>
              </a:rPr>
              <a:t>Objective must start with </a:t>
            </a:r>
            <a:r>
              <a:rPr lang="en-US" sz="2400" i="1" dirty="0">
                <a:latin typeface="Cambria"/>
                <a:ea typeface="Cambria"/>
                <a:cs typeface="Cambria"/>
                <a:sym typeface="Cambria"/>
              </a:rPr>
              <a:t>“to”</a:t>
            </a:r>
            <a:endParaRPr sz="2400" i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g2ebb2718e4d_0_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bb2718e4d_0_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0" name="Google Shape;140;g2ebb2718e4d_0_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mbria"/>
              <a:buChar char="•"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Methodology must be aligned with stated objectives. Also, objective wise flowchart must be incorporated. 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mbria"/>
              <a:buChar char="•"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It must describe the components, specifications, tools, and techniques with their application relevant to the project. 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g2ebb2718e4d_0_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bb2718e4d_0_37"/>
          <p:cNvSpPr txBox="1">
            <a:spLocks noGrp="1"/>
          </p:cNvSpPr>
          <p:nvPr>
            <p:ph type="title"/>
          </p:nvPr>
        </p:nvSpPr>
        <p:spPr>
          <a:xfrm>
            <a:off x="838200" y="198870"/>
            <a:ext cx="10515600" cy="96491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mbria"/>
                <a:ea typeface="Cambria"/>
                <a:cs typeface="Cambria"/>
                <a:sym typeface="Cambria"/>
              </a:rPr>
              <a:t>Results and Discussion</a:t>
            </a:r>
            <a:endParaRPr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8" name="Google Shape;148;g2ebb2718e4d_0_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63782"/>
            <a:ext cx="11039763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Highlight the most important findings (numerical results, performance metrics, experimental outcomes).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 concise text with supporting visuals.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Graphs, charts, tables, or images summarizing experimental results.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 Accuracy comparison, error rates, case study outputs, etc.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Interpret the results, not just present them.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Mention why the results are significant.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Compare with expected outcomes or existing benchmarks.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Relate results back to the problem statement or objectives.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Highlight whether the objectives were achieved.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Keep text minimal, emphasize visuals (graphs, plots, tables).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consistent formatting (font, colors, figure captions).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Ensure axis labels and legends in graphs are clear.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One major finding per slide (if multiple results, use multiple slides).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bb2718e4d_0_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1" name="Google Shape;161;g2ebb2718e4d_0_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2ebb2718e4d_0_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379</Words>
  <Application>Microsoft Office PowerPoint</Application>
  <PresentationFormat>Widescreen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Content of Presentation </vt:lpstr>
      <vt:lpstr>Introduction</vt:lpstr>
      <vt:lpstr>Review of Literature </vt:lpstr>
      <vt:lpstr>Research Gap</vt:lpstr>
      <vt:lpstr>Statement of the Problem</vt:lpstr>
      <vt:lpstr>Objectives</vt:lpstr>
      <vt:lpstr>Methodology</vt:lpstr>
      <vt:lpstr>Results and Discussion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sameer syed</cp:lastModifiedBy>
  <cp:revision>10</cp:revision>
  <dcterms:created xsi:type="dcterms:W3CDTF">2024-07-12T05:12:35Z</dcterms:created>
  <dcterms:modified xsi:type="dcterms:W3CDTF">2026-09-20T13:51:57Z</dcterms:modified>
</cp:coreProperties>
</file>